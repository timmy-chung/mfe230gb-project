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3733" autoAdjust="0"/>
  </p:normalViewPr>
  <p:slideViewPr>
    <p:cSldViewPr snapToGrid="0" snapToObjects="1">
      <p:cViewPr varScale="1">
        <p:scale>
          <a:sx n="86" d="100"/>
          <a:sy n="86" d="100"/>
        </p:scale>
        <p:origin x="6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6735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Strategy two is about Kimchi premium. Because of capital control, crypto price traded in Korea can be materially than the price traded in the rest of the world. We want to test whether the premium predicts how the coin move, and how much of that edge survives funding and trading costs.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Here is the historic bitcoin premium chart. In general, bitcoin is traded with a premium in Korea as there are a lot of risk loving retail investors. On the most extreme date, one bitcoin cost 92.6 million won on </a:t>
            </a:r>
            <a:r>
              <a:rPr lang="en-US" sz="1200" kern="1200" dirty="0" err="1">
                <a:solidFill>
                  <a:schemeClr val="tx1"/>
                </a:solidFill>
                <a:effectLst/>
                <a:latin typeface="+mn-lt"/>
                <a:ea typeface="+mn-ea"/>
                <a:cs typeface="+mn-cs"/>
              </a:rPr>
              <a:t>Upbit</a:t>
            </a:r>
            <a:r>
              <a:rPr lang="en-US" sz="1200" kern="1200" dirty="0">
                <a:solidFill>
                  <a:schemeClr val="tx1"/>
                </a:solidFill>
                <a:effectLst/>
                <a:latin typeface="+mn-lt"/>
                <a:ea typeface="+mn-ea"/>
                <a:cs typeface="+mn-cs"/>
              </a:rPr>
              <a:t> and 61,937 dollars on Binance. After adjusting for exchange rate, this is a 11.7 percent premium.</a:t>
            </a:r>
          </a:p>
          <a:p>
            <a:r>
              <a:rPr lang="en-US" sz="1200" kern="1200" dirty="0">
                <a:solidFill>
                  <a:schemeClr val="tx1"/>
                </a:solidFill>
                <a:effectLst/>
                <a:latin typeface="+mn-lt"/>
                <a:ea typeface="+mn-ea"/>
                <a:cs typeface="+mn-cs"/>
              </a:rPr>
              <a:t>Korea premium averages 1.7 percent, sits above 2 percent on more than a third of days, and a jump takes about eight days to halve. We compare it with Japan and this premium does not appear in Japanese market. Japan averages just 0.1 percent, never once reached 2 percent, and its gaps close within a day.</a:t>
            </a:r>
          </a:p>
          <a:p>
            <a:r>
              <a:rPr lang="en-US" sz="1200" kern="1200" dirty="0">
                <a:solidFill>
                  <a:schemeClr val="tx1"/>
                </a:solidFill>
                <a:effectLst/>
                <a:latin typeface="+mn-lt"/>
                <a:ea typeface="+mn-ea"/>
                <a:cs typeface="+mn-cs"/>
              </a:rPr>
              <a:t>Arbitrage between Japan bitcoin price and the rest of the world was very popular. This is actually the earliest strategy used by </a:t>
            </a:r>
            <a:r>
              <a:rPr lang="en-US" sz="1200" kern="1200" dirty="0" err="1">
                <a:solidFill>
                  <a:schemeClr val="tx1"/>
                </a:solidFill>
                <a:effectLst/>
                <a:latin typeface="+mn-lt"/>
                <a:ea typeface="+mn-ea"/>
                <a:cs typeface="+mn-cs"/>
              </a:rPr>
              <a:t>Alamadea</a:t>
            </a:r>
            <a:r>
              <a:rPr lang="en-US" sz="1200" kern="1200" dirty="0">
                <a:solidFill>
                  <a:schemeClr val="tx1"/>
                </a:solidFill>
                <a:effectLst/>
                <a:latin typeface="+mn-lt"/>
                <a:ea typeface="+mn-ea"/>
                <a:cs typeface="+mn-cs"/>
              </a:rPr>
              <a:t> research. But as the market developed, market makers come in and the competition drove the premium away.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why doesn't arbitrage close an 11 percent gap in Korea? Coins move freely: anyone can send bitcoin to an Korean exchange in minutes. But the issue is that only residents with a real-name bank account can trade on Korean exchanges, and won can't freely leave Korea, so the arbitrage profit gets stuck in won and you can do nothing about it. </a:t>
            </a:r>
          </a:p>
          <a:p>
            <a:r>
              <a:rPr lang="en-US" sz="1200" kern="1200" dirty="0">
                <a:solidFill>
                  <a:schemeClr val="tx1"/>
                </a:solidFill>
                <a:effectLst/>
                <a:latin typeface="+mn-lt"/>
                <a:ea typeface="+mn-ea"/>
                <a:cs typeface="+mn-cs"/>
              </a:rPr>
              <a:t>That makes the premium kind of like a shadow exchange rate, like onshore versus offshore yuan.</a:t>
            </a:r>
          </a:p>
          <a:p>
            <a:r>
              <a:rPr lang="en-US" sz="1200" i="1" kern="1200" dirty="0">
                <a:solidFill>
                  <a:schemeClr val="tx1"/>
                </a:solidFill>
                <a:effectLst/>
                <a:latin typeface="+mn-lt"/>
                <a:ea typeface="+mn-ea"/>
                <a:cs typeface="+mn-cs"/>
              </a:rPr>
              <a:t>We split the premium into two part</a:t>
            </a:r>
            <a:r>
              <a:rPr lang="en-US" sz="1200" kern="1200" dirty="0">
                <a:solidFill>
                  <a:schemeClr val="tx1"/>
                </a:solidFill>
                <a:effectLst/>
                <a:latin typeface="+mn-lt"/>
                <a:ea typeface="+mn-ea"/>
                <a:cs typeface="+mn-cs"/>
              </a:rPr>
              <a:t>. Kappa is the aggregate premium, measured on bitcoin. Pi is a coin's premium minus the median coin premium, so the exchange rate cancels and what's left is Korean demand for that one coin. Our hypothesis is that demand comes in bursts, spills into world prices, then reverses. In short, the premium is because the lack of liquidity, not because of traders having early information.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rule of our strategy is quite simple. Every Monday, we measure each coin's pi, averaged over the past week. The universe is coins on </a:t>
            </a:r>
            <a:r>
              <a:rPr lang="en-US" sz="1200" kern="1200" dirty="0" err="1">
                <a:solidFill>
                  <a:schemeClr val="tx1"/>
                </a:solidFill>
                <a:effectLst/>
                <a:latin typeface="+mn-lt"/>
                <a:ea typeface="+mn-ea"/>
                <a:cs typeface="+mn-cs"/>
              </a:rPr>
              <a:t>Upbit</a:t>
            </a:r>
            <a:r>
              <a:rPr lang="en-US" sz="1200" kern="1200" dirty="0">
                <a:solidFill>
                  <a:schemeClr val="tx1"/>
                </a:solidFill>
                <a:effectLst/>
                <a:latin typeface="+mn-lt"/>
                <a:ea typeface="+mn-ea"/>
                <a:cs typeface="+mn-cs"/>
              </a:rPr>
              <a:t> that also have a Binance perpetual and enough volume. We drop any premium above 10 percent as that usually means deposits are suspended or a delisting is coming soon. Next, we short the fifth of coins Seoul overpays for most, buy the fifth it sells, hold Binance perpetuals for a week including funding, and charge 10 basis points per unit traded. 10 bps are actually a conservative estimate as you can get lower fee on Binance by buying their token.</a:t>
            </a:r>
          </a:p>
          <a:p>
            <a:r>
              <a:rPr lang="en-US" sz="1200" i="1" kern="1200" dirty="0">
                <a:solidFill>
                  <a:schemeClr val="tx1"/>
                </a:solidFill>
                <a:effectLst/>
                <a:latin typeface="+mn-lt"/>
                <a:ea typeface="+mn-ea"/>
                <a:cs typeface="+mn-cs"/>
              </a:rPr>
              <a:t>For example, </a:t>
            </a:r>
            <a:r>
              <a:rPr lang="en-US" sz="1200" kern="1200" dirty="0">
                <a:solidFill>
                  <a:schemeClr val="tx1"/>
                </a:solidFill>
                <a:effectLst/>
                <a:latin typeface="+mn-lt"/>
                <a:ea typeface="+mn-ea"/>
                <a:cs typeface="+mn-cs"/>
              </a:rPr>
              <a:t> here's the latest week. ZIL traded 7 percent below the typical coin in Seoul, so we were long, and it gained 9 percent. EGLD sat just under the 10 percent cutoff, so we were short, and it rose 25 percent against us. Both legs rallied about 14 percent, so the book made 0.4 percent before costs.</a:t>
            </a:r>
          </a:p>
          <a:p>
            <a:r>
              <a:rPr lang="en-US" sz="1200" kern="1200" dirty="0">
                <a:solidFill>
                  <a:schemeClr val="tx1"/>
                </a:solidFill>
                <a:effectLst/>
                <a:latin typeface="+mn-lt"/>
                <a:ea typeface="+mn-ea"/>
                <a:cs typeface="+mn-cs"/>
              </a:rPr>
              <a:t>Keep an eye on the funding column: several shorts carry deeply negative funding. We will come back to that.</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Next I will pass it to </a:t>
            </a:r>
            <a:r>
              <a:rPr lang="en-US" sz="1200" kern="1200" dirty="0" err="1">
                <a:solidFill>
                  <a:schemeClr val="tx1"/>
                </a:solidFill>
                <a:effectLst/>
                <a:latin typeface="+mn-lt"/>
                <a:ea typeface="+mn-ea"/>
                <a:cs typeface="+mn-cs"/>
              </a:rPr>
              <a:t>Sreenivaas</a:t>
            </a:r>
            <a:r>
              <a:rPr lang="en-US" sz="1200" kern="1200" dirty="0">
                <a:solidFill>
                  <a:schemeClr val="tx1"/>
                </a:solidFill>
                <a:effectLst/>
                <a:latin typeface="+mn-lt"/>
                <a:ea typeface="+mn-ea"/>
                <a:cs typeface="+mn-cs"/>
              </a:rPr>
              <a:t> to talk about the backtesting results.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minute. Before trading it: does the signal carry information? Three tests, all on the last five years. First, Fama–MacBeth: each week, regress every coin's next-week Binance return on its local premium. One point of premium means 1.9 percent lower return the next week, t of minus 2.7, and it survives controls for past returns, volume and funding. The effect keeps building for three weeks, to 4.2 percent. Second, the channel. The top fifth of coins carries a 30 basis point premium, and 18 of those basis points close within a week. Mostly through the Korean price, which falls about 1 percent relative to other coins, but the world price falls too, 0.8 percent: price pressure that spilled into world prices and reverses, as hypothesised. Third, the left chart: the top fifth trails the universe by 33 percent a year. But the bottom fifth, the coins Koreans dump, does not bounce; it trails slightly too. The money is in the short leg.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minute and a half. Does it make money? Over the last five years, yes, but watch where the money goes. On prices alone the book earns 40 percent a year: the blue line, six times your money. Funding takes 11 percent a year, because our shorts sit in coins with negative funding; I will explain why on the next slide. Trading costs take another 15 percent, because the book turns over almost three times a week. Net, it earns 14.8 percent a year with 29 percent volatility: a Sharpe ratio of 0.51, or 1.0 before costs, and a dollar becomes 1.70. Two cautions. The t-statistic is 1.3, so five years are not enough to call it significant. And it is very sensitive to costs: at 20 basis points per unit traded the Sharpe ratio is zero. One disclosure: we chose this five-year window after seeing the pre-registered 2020 to 2026 test; that run is in the backup.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minute. When does it lose? The chart splits each year's P&amp;L: blue is price, purple is funding, grey is costs, and the orange bar is the net. Price pays every year. Two things hurt. First, squeezes. In the week of 30 May 2022 we were short WAVES at a ninth of the short leg; it rose 82 percent in a week and the book lost 10 percent. Second, funding. A Korean arbitrageur who ships coins to Seoul hedges by shorting the Binance perpetual, so the coins with the highest Korean premium carry negative funding. Our short leg pays 12 percent a year for sitting next to that hedge, and in 2026 funding cost the book 23 percent, which is why 2026 is down 19 percent so far. On market risk: no bitcoin beta, and it made money in the LUNA and FTX crashes. The worst drawdown was 40 percent, from September 2025 to May 2026.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minute. One robustness test, the one that speaks to the mechanism: a placebo. We run the identical rule on bitbank's yen market in Japan, where capital moves freely. Japan has enough coins only from March 2023, so we compare the same 184 weeks. Korea earns a Sharpe ratio of 0.37 in those weeks; Japan loses 27 percent a year, a Sharpe of minus 0.63. If the signal were just crypto noise or a generic retail effect, Japan should work too. It doesn't: the edge exists only where capital is trapped. So the verdict. Segmentation, yes. Reversal, yes in the regressions and as a trade, though not yet statistically significant. Froth, not in this window. Channel, yes: the gap closes in Seoul, and world prices follow. And the price of the trade: the arbitrageurs' hedge sets the funding, and with trading costs that eats nearly two-thirds of the price gain. Same lesson as Strategy 1: crowding sets the price of a trade. Thank you.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the full term sheet. The universe is every coin on Upbit's won market that also has a Binance USDT-margined perpetual and enough volume on both venues. Stablecoins, wrapped tokens and ticker collisions are excluded; for example, Upbit's TON was a different token from Binance's TON. The signal is the coin's log premium net of the median coin's, so the exchange rate cancels, averaged over seven daily closes. Coins with a premium above 10 percent are dropped. The book is short the top fifth and long the bottom fifth in Binance perpetuals, rebalanced Monday at midnight UTC, with funding included and 10 basis points per unit traded; the net Sharpe ratio reaches zero at about 20 basis points. The reported sample is the 260 weeks from October 2021 to September 2026.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 hypothesis three: does Korean froth predict bitcoin? In the last five years a one-point higher premium is followed by 0.84 percent lower bitcoin returns over the next four weeks, but the t-statistic is only minus 1.2 and the R-squared is 1 percent. The chart shows the shape: bitcoin's next four weeks are best when Korea trades at a discount or a small premium and slightly negative in the top quintile, but the differences are noisy. The brake we wrote down in advance, sitting out weeks when the premium is in the top decile of its past year, fired in 22 weeks and lowered bitcoin's Sharpe ratio from 0.33 to 0.22, because bitcoin happened to rally in those weeks. So H3 is not supported in this window.</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on risk. On the left, the book's average weekly return by Korea's aggregate premium at formation: plus 1.4 percent a week when Korea trades at a discount, about zero in normal times, and plus 0.8 percent in the 15 weeks when the premium is above 5 percent. On the right, the stress episodes. The book is roughly neutral in market crashes like LUNA, FTX and the October 2025 liquidations, because both legs fall together; on the Korean martial-law night it made 3 percent. It lost 8 percent in the August 2024 yen carry unwind, when both legs went against it. Factor exposures: no significant bitcoin beta, a mild negative loading on altcoins over bitcoin, so it lags a little in alt seasons, and a positive loading on momentum.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A0E1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1073336"/>
            <a:ext cx="10566425" cy="391134"/>
          </a:xfrm>
          <a:prstGeom prst="rect">
            <a:avLst/>
          </a:prstGeom>
          <a:noFill/>
          <a:ln/>
        </p:spPr>
        <p:txBody>
          <a:bodyPr wrap="square" lIns="0" tIns="0" rIns="0" bIns="0" rtlCol="0" anchor="t"/>
          <a:lstStyle>
            <a:lvl1pPr marL="0" indent="0" algn="l">
              <a:lnSpc>
                <a:spcPct val="115000"/>
              </a:lnSpc>
              <a:buNone/>
              <a:defRPr lang="en-US" sz="2800" dirty="0">
                <a:solidFill>
                  <a:srgbClr val="EEF2F8"/>
                </a:solidFill>
                <a:latin typeface="Unbounded" pitchFamily="34" charset="0"/>
                <a:ea typeface="Unbounded" pitchFamily="34" charset="-122"/>
                <a:cs typeface="Unbounded"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74" y="1769271"/>
            <a:ext cx="10566426" cy="4275929"/>
          </a:xfrm>
          <a:prstGeom prst="rect">
            <a:avLst/>
          </a:prstGeom>
          <a:noFill/>
          <a:ln/>
        </p:spPr>
        <p:txBody>
          <a:bodyPr wrap="square" lIns="0" tIns="0" rIns="0" bIns="0" rtlCol="0" anchor="t"/>
          <a:lstStyle>
            <a:lvl1pPr marL="0" indent="0" algn="l">
              <a:lnSpc>
                <a:spcPct val="140000"/>
              </a:lnSpc>
              <a:buNone/>
              <a:defRPr lang="en-US" sz="1600" dirty="0">
                <a:solidFill>
                  <a:srgbClr val="EEF2F8"/>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1073336"/>
            <a:ext cx="10566425" cy="391134"/>
          </a:xfrm>
          <a:prstGeom prst="rect">
            <a:avLst/>
          </a:prstGeom>
          <a:noFill/>
          <a:ln/>
        </p:spPr>
        <p:txBody>
          <a:bodyPr wrap="square" lIns="0" tIns="0" rIns="0" bIns="0" rtlCol="0" anchor="t"/>
          <a:lstStyle>
            <a:lvl1pPr marL="0" indent="0" algn="l">
              <a:lnSpc>
                <a:spcPct val="115000"/>
              </a:lnSpc>
              <a:buNone/>
              <a:defRPr lang="en-US" sz="2800" dirty="0">
                <a:solidFill>
                  <a:srgbClr val="F08A2C"/>
                </a:solidFill>
                <a:latin typeface="Unbounded" pitchFamily="34" charset="0"/>
                <a:ea typeface="Unbounded" pitchFamily="34" charset="-122"/>
                <a:cs typeface="Unbounded"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74" y="1769271"/>
            <a:ext cx="10566426" cy="4275929"/>
          </a:xfrm>
          <a:prstGeom prst="rect">
            <a:avLst/>
          </a:prstGeom>
          <a:noFill/>
          <a:ln/>
        </p:spPr>
        <p:txBody>
          <a:bodyPr wrap="square" lIns="0" tIns="0" rIns="0" bIns="0" rtlCol="0" anchor="t"/>
          <a:lstStyle>
            <a:lvl1pPr marL="0" indent="0" algn="l">
              <a:lnSpc>
                <a:spcPct val="140000"/>
              </a:lnSpc>
              <a:buNone/>
              <a:defRPr lang="en-US" sz="1600" dirty="0">
                <a:solidFill>
                  <a:srgbClr val="F08A2C"/>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1073336"/>
            <a:ext cx="10566425" cy="391134"/>
          </a:xfrm>
          <a:prstGeom prst="rect">
            <a:avLst/>
          </a:prstGeom>
          <a:noFill/>
          <a:ln/>
        </p:spPr>
        <p:txBody>
          <a:bodyPr wrap="square" lIns="0" tIns="0" rIns="0" bIns="0" rtlCol="0" anchor="t"/>
          <a:lstStyle>
            <a:lvl1pPr marL="0" indent="0" algn="l">
              <a:lnSpc>
                <a:spcPct val="115000"/>
              </a:lnSpc>
              <a:buNone/>
              <a:defRPr lang="en-US" sz="2800" dirty="0">
                <a:solidFill>
                  <a:srgbClr val="EEF2F8"/>
                </a:solidFill>
                <a:latin typeface="Unbounded" pitchFamily="34" charset="0"/>
                <a:ea typeface="Unbounded" pitchFamily="34" charset="-122"/>
                <a:cs typeface="Unbounded"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74" y="1769271"/>
            <a:ext cx="10566426" cy="4275929"/>
          </a:xfrm>
          <a:prstGeom prst="rect">
            <a:avLst/>
          </a:prstGeom>
          <a:noFill/>
          <a:ln/>
        </p:spPr>
        <p:txBody>
          <a:bodyPr wrap="square" lIns="0" tIns="0" rIns="0" bIns="0" rtlCol="0" anchor="t"/>
          <a:lstStyle>
            <a:lvl1pPr marL="0" indent="0" algn="l">
              <a:lnSpc>
                <a:spcPct val="140000"/>
              </a:lnSpc>
              <a:buNone/>
              <a:defRPr lang="en-US" sz="1600" dirty="0">
                <a:solidFill>
                  <a:srgbClr val="EEF2F8"/>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backgroun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1073336"/>
            <a:ext cx="10566425" cy="391134"/>
          </a:xfrm>
          <a:prstGeom prst="rect">
            <a:avLst/>
          </a:prstGeom>
          <a:noFill/>
          <a:ln/>
        </p:spPr>
        <p:txBody>
          <a:bodyPr wrap="square" lIns="0" tIns="0" rIns="0" bIns="0" rtlCol="0" anchor="t"/>
          <a:lstStyle>
            <a:lvl1pPr marL="0" indent="0" algn="l">
              <a:lnSpc>
                <a:spcPct val="115000"/>
              </a:lnSpc>
              <a:buNone/>
              <a:defRPr lang="en-US" sz="2800" dirty="0">
                <a:solidFill>
                  <a:srgbClr val="EEF2F8"/>
                </a:solidFill>
                <a:latin typeface="Unbounded" pitchFamily="34" charset="0"/>
                <a:ea typeface="Unbounded" pitchFamily="34" charset="-122"/>
                <a:cs typeface="Unbounded"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74" y="1769271"/>
            <a:ext cx="10566426" cy="4275929"/>
          </a:xfrm>
          <a:prstGeom prst="rect">
            <a:avLst/>
          </a:prstGeom>
          <a:noFill/>
          <a:ln/>
        </p:spPr>
        <p:txBody>
          <a:bodyPr wrap="square" lIns="0" tIns="0" rIns="0" bIns="0" rtlCol="0" anchor="t"/>
          <a:lstStyle>
            <a:lvl1pPr marL="0" indent="0" algn="l">
              <a:lnSpc>
                <a:spcPct val="140000"/>
              </a:lnSpc>
              <a:buNone/>
              <a:defRPr lang="en-US" sz="1600" dirty="0">
                <a:solidFill>
                  <a:srgbClr val="EEF2F8"/>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background 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1073336"/>
            <a:ext cx="10566425" cy="391134"/>
          </a:xfrm>
          <a:prstGeom prst="rect">
            <a:avLst/>
          </a:prstGeom>
          <a:noFill/>
          <a:ln/>
        </p:spPr>
        <p:txBody>
          <a:bodyPr wrap="square" lIns="0" tIns="0" rIns="0" bIns="0" rtlCol="0" anchor="t"/>
          <a:lstStyle>
            <a:lvl1pPr marL="0" indent="0" algn="l">
              <a:lnSpc>
                <a:spcPct val="115000"/>
              </a:lnSpc>
              <a:buNone/>
              <a:defRPr lang="en-US" sz="2800" dirty="0">
                <a:solidFill>
                  <a:srgbClr val="EEF2F8"/>
                </a:solidFill>
                <a:latin typeface="Unbounded" pitchFamily="34" charset="0"/>
                <a:ea typeface="Unbounded" pitchFamily="34" charset="-122"/>
                <a:cs typeface="Unbounded"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74" y="1769271"/>
            <a:ext cx="10566426" cy="4275929"/>
          </a:xfrm>
          <a:prstGeom prst="rect">
            <a:avLst/>
          </a:prstGeom>
          <a:noFill/>
          <a:ln/>
        </p:spPr>
        <p:txBody>
          <a:bodyPr wrap="square" lIns="0" tIns="0" rIns="0" bIns="0" rtlCol="0" anchor="t"/>
          <a:lstStyle>
            <a:lvl1pPr marL="0" indent="0" algn="l">
              <a:lnSpc>
                <a:spcPct val="140000"/>
              </a:lnSpc>
              <a:buNone/>
              <a:defRPr lang="en-US" sz="1600" dirty="0">
                <a:solidFill>
                  <a:srgbClr val="EEF2F8"/>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0E17"/>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74" y="1073336"/>
            <a:ext cx="10566425" cy="391134"/>
          </a:xfrm>
          <a:prstGeom prst="rect">
            <a:avLst/>
          </a:prstGeom>
          <a:noFill/>
          <a:ln/>
        </p:spPr>
        <p:txBody>
          <a:bodyPr wrap="square" lIns="0" tIns="0" rIns="0" bIns="0" rtlCol="0" anchor="t"/>
          <a:lstStyle>
            <a:lvl1pPr marL="0" indent="0" algn="l">
              <a:lnSpc>
                <a:spcPct val="115000"/>
              </a:lnSpc>
              <a:buNone/>
              <a:defRPr lang="en-US" sz="2800" dirty="0">
                <a:solidFill>
                  <a:srgbClr val="EEF2F8"/>
                </a:solidFill>
                <a:latin typeface="Unbounded" pitchFamily="34" charset="0"/>
                <a:ea typeface="Unbounded" pitchFamily="34" charset="-122"/>
                <a:cs typeface="Unbounded" pitchFamily="34" charset="-120"/>
              </a:defRPr>
            </a:lvl1pPr>
          </a:lstStyle>
          <a:p>
            <a:pPr marL="0" indent="0" algn="l">
              <a:lnSpc>
                <a:spcPct val="115000"/>
              </a:lnSpc>
              <a:buNone/>
            </a:pPr>
            <a:endParaRPr lang="en-US" sz="2800" dirty="0"/>
          </a:p>
        </p:txBody>
      </p:sp>
      <p:sp>
        <p:nvSpPr>
          <p:cNvPr id="3" name="Text Placeholder 2"/>
          <p:cNvSpPr>
            <a:spLocks noGrp="1"/>
          </p:cNvSpPr>
          <p:nvPr>
            <p:ph type="body" idx="101"/>
          </p:nvPr>
        </p:nvSpPr>
        <p:spPr>
          <a:xfrm>
            <a:off x="812774" y="1769271"/>
            <a:ext cx="10566426" cy="4275929"/>
          </a:xfrm>
          <a:prstGeom prst="rect">
            <a:avLst/>
          </a:prstGeom>
          <a:noFill/>
          <a:ln/>
        </p:spPr>
        <p:txBody>
          <a:bodyPr wrap="square" lIns="0" tIns="0" rIns="0" bIns="0" rtlCol="0" anchor="t"/>
          <a:lstStyle>
            <a:lvl1pPr marL="0" indent="0" algn="l">
              <a:lnSpc>
                <a:spcPct val="140000"/>
              </a:lnSpc>
              <a:buNone/>
              <a:defRPr lang="en-US" sz="1600" dirty="0">
                <a:solidFill>
                  <a:srgbClr val="EEF2F8"/>
                </a:solidFill>
                <a:latin typeface="JetBrains Mono" pitchFamily="34" charset="0"/>
                <a:ea typeface="JetBrains Mono" pitchFamily="34" charset="-122"/>
                <a:cs typeface="JetBrains Mono"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15949" y="714361"/>
            <a:ext cx="4938841" cy="292327"/>
          </a:xfrm>
          <a:prstGeom prst="roundRect">
            <a:avLst>
              <a:gd name="adj" fmla="val 50000"/>
            </a:avLst>
          </a:prstGeom>
          <a:solidFill>
            <a:srgbClr val="DF7410">
              <a:alpha val="10000"/>
            </a:srgbClr>
          </a:solidFill>
          <a:ln w="6350">
            <a:solidFill>
              <a:srgbClr val="DF7410">
                <a:alpha val="45000"/>
              </a:srgbClr>
            </a:solidFill>
            <a:prstDash val="solid"/>
          </a:ln>
        </p:spPr>
        <p:txBody>
          <a:bodyPr/>
          <a:lstStyle/>
          <a:p>
            <a:endParaRPr lang="en-US"/>
          </a:p>
        </p:txBody>
      </p:sp>
      <p:sp>
        <p:nvSpPr>
          <p:cNvPr id="3" name="Shape 1"/>
          <p:cNvSpPr/>
          <p:nvPr/>
        </p:nvSpPr>
        <p:spPr>
          <a:xfrm>
            <a:off x="931679" y="822411"/>
            <a:ext cx="76155" cy="76155"/>
          </a:xfrm>
          <a:prstGeom prst="roundRect">
            <a:avLst>
              <a:gd name="adj" fmla="val 50000"/>
            </a:avLst>
          </a:prstGeom>
          <a:solidFill>
            <a:srgbClr val="DF7410"/>
          </a:solidFill>
          <a:ln/>
          <a:effectLst>
            <a:outerShdw blurRad="76200" dir="60000" algn="bl" rotWithShape="0">
              <a:srgbClr val="DF7410">
                <a:alpha val="90000"/>
              </a:srgbClr>
            </a:outerShdw>
          </a:effectLst>
        </p:spPr>
        <p:txBody>
          <a:bodyPr/>
          <a:lstStyle/>
          <a:p>
            <a:endParaRPr lang="en-US"/>
          </a:p>
        </p:txBody>
      </p:sp>
      <p:sp>
        <p:nvSpPr>
          <p:cNvPr id="4" name="Text 2"/>
          <p:cNvSpPr/>
          <p:nvPr/>
        </p:nvSpPr>
        <p:spPr>
          <a:xfrm>
            <a:off x="1083989" y="753865"/>
            <a:ext cx="4667626"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08A2C"/>
                </a:solidFill>
                <a:latin typeface="JetBrains Mono" pitchFamily="49" charset="0"/>
                <a:ea typeface="JetBrains Mono" pitchFamily="49" charset="-122"/>
                <a:cs typeface="JetBrains Mono" pitchFamily="49" charset="-120"/>
              </a:rPr>
              <a:t>MFE 230GB · CURRENCY MARKETS · STRATEGY 2</a:t>
            </a:r>
            <a:endParaRPr lang="en-US" sz="1200" dirty="0"/>
          </a:p>
        </p:txBody>
      </p:sp>
      <p:sp>
        <p:nvSpPr>
          <p:cNvPr id="6" name="Text 4"/>
          <p:cNvSpPr>
            <a:spLocks noGrp="1"/>
          </p:cNvSpPr>
          <p:nvPr>
            <p:ph type="title"/>
          </p:nvPr>
        </p:nvSpPr>
        <p:spPr>
          <a:xfrm>
            <a:off x="812774" y="2124212"/>
            <a:ext cx="6540454" cy="1549360"/>
          </a:xfrm>
          <a:prstGeom prst="rect">
            <a:avLst/>
          </a:prstGeom>
          <a:noFill/>
          <a:ln/>
        </p:spPr>
        <p:txBody>
          <a:bodyPr wrap="square" lIns="0" tIns="0" rIns="0" bIns="0" rtlCol="0" anchor="t">
            <a:normAutofit/>
          </a:bodyPr>
          <a:lstStyle/>
          <a:p>
            <a:pPr marL="0" indent="0" algn="l">
              <a:lnSpc>
                <a:spcPts val="6000"/>
              </a:lnSpc>
              <a:buNone/>
            </a:pPr>
            <a:r>
              <a:rPr lang="en-US" sz="6000" b="1" i="0" kern="0" spc="-150" dirty="0">
                <a:gradFill rotWithShape="1">
                  <a:gsLst>
                    <a:gs pos="0">
                      <a:srgbClr val="FFB46E"/>
                    </a:gs>
                    <a:gs pos="48000">
                      <a:srgbClr val="DF7410"/>
                    </a:gs>
                    <a:gs pos="100000">
                      <a:srgbClr val="8B5CF6"/>
                    </a:gs>
                  </a:gsLst>
                  <a:lin ang="600000" scaled="0"/>
                </a:gradFill>
                <a:latin typeface="Unbounded" pitchFamily="34" charset="0"/>
                <a:ea typeface="Unbounded" pitchFamily="34" charset="-122"/>
                <a:cs typeface="Unbounded" pitchFamily="34" charset="-120"/>
              </a:rPr>
              <a:t>KIMCHI</a:t>
            </a:r>
            <a:endParaRPr lang="en-US" sz="6000" dirty="0"/>
          </a:p>
          <a:p>
            <a:pPr marL="0" indent="0" algn="l">
              <a:lnSpc>
                <a:spcPts val="6000"/>
              </a:lnSpc>
              <a:buNone/>
            </a:pPr>
            <a:r>
              <a:rPr lang="en-US" sz="6000" b="1" i="0" kern="0" spc="-150" dirty="0">
                <a:gradFill rotWithShape="1">
                  <a:gsLst>
                    <a:gs pos="0">
                      <a:srgbClr val="FFB46E"/>
                    </a:gs>
                    <a:gs pos="48000">
                      <a:srgbClr val="DF7410"/>
                    </a:gs>
                    <a:gs pos="100000">
                      <a:srgbClr val="8B5CF6"/>
                    </a:gs>
                  </a:gsLst>
                  <a:lin ang="600000" scaled="0"/>
                </a:gradFill>
                <a:latin typeface="Unbounded" pitchFamily="34" charset="0"/>
                <a:ea typeface="Unbounded" pitchFamily="34" charset="-122"/>
                <a:cs typeface="Unbounded" pitchFamily="34" charset="-120"/>
              </a:rPr>
              <a:t>PREMIUM</a:t>
            </a:r>
            <a:endParaRPr lang="en-US" sz="6000" dirty="0"/>
          </a:p>
        </p:txBody>
      </p:sp>
      <p:sp>
        <p:nvSpPr>
          <p:cNvPr id="7" name="Text 5"/>
          <p:cNvSpPr/>
          <p:nvPr/>
        </p:nvSpPr>
        <p:spPr>
          <a:xfrm>
            <a:off x="812774" y="3851347"/>
            <a:ext cx="6148034" cy="619710"/>
          </a:xfrm>
          <a:prstGeom prst="rect">
            <a:avLst/>
          </a:prstGeom>
          <a:noFill/>
          <a:ln/>
        </p:spPr>
        <p:txBody>
          <a:bodyPr wrap="square" lIns="0" tIns="0" rIns="0" bIns="0" rtlCol="0" anchor="t">
            <a:normAutofit/>
          </a:bodyPr>
          <a:lstStyle/>
          <a:p>
            <a:pPr marL="0" indent="0" algn="l">
              <a:lnSpc>
                <a:spcPts val="2340"/>
              </a:lnSpc>
              <a:buNone/>
            </a:pPr>
            <a:r>
              <a:rPr lang="en-US" sz="1800" dirty="0">
                <a:solidFill>
                  <a:srgbClr val="D5DDE9"/>
                </a:solidFill>
                <a:latin typeface="Manrope" pitchFamily="34" charset="0"/>
                <a:ea typeface="Manrope" pitchFamily="34" charset="-122"/>
                <a:cs typeface="Manrope" pitchFamily="34" charset="-120"/>
              </a:rPr>
              <a:t>Trading the crypto shadow exchange rate that Korea's capital controls create</a:t>
            </a:r>
            <a:endParaRPr lang="en-US" sz="1800" dirty="0"/>
          </a:p>
        </p:txBody>
      </p:sp>
      <p:sp>
        <p:nvSpPr>
          <p:cNvPr id="17" name="Shape 14"/>
          <p:cNvSpPr/>
          <p:nvPr/>
        </p:nvSpPr>
        <p:spPr>
          <a:xfrm>
            <a:off x="0" y="6248368"/>
            <a:ext cx="12191973" cy="609599"/>
          </a:xfrm>
          <a:prstGeom prst="rect">
            <a:avLst/>
          </a:prstGeom>
          <a:solidFill>
            <a:srgbClr val="060910"/>
          </a:solidFill>
          <a:ln/>
        </p:spPr>
        <p:txBody>
          <a:bodyPr/>
          <a:lstStyle/>
          <a:p>
            <a:endParaRPr lang="en-US"/>
          </a:p>
        </p:txBody>
      </p:sp>
      <p:sp>
        <p:nvSpPr>
          <p:cNvPr id="18" name="Shape 15"/>
          <p:cNvSpPr/>
          <p:nvPr/>
        </p:nvSpPr>
        <p:spPr>
          <a:xfrm>
            <a:off x="4645" y="6251543"/>
            <a:ext cx="12191973" cy="0"/>
          </a:xfrm>
          <a:prstGeom prst="line">
            <a:avLst/>
          </a:prstGeom>
          <a:noFill/>
          <a:ln w="6350">
            <a:solidFill>
              <a:srgbClr val="1F2A3D"/>
            </a:solidFill>
            <a:prstDash val="solid"/>
          </a:ln>
        </p:spPr>
        <p:txBody>
          <a:bodyPr/>
          <a:lstStyle/>
          <a:p>
            <a:endParaRPr lang="en-US"/>
          </a:p>
        </p:txBody>
      </p:sp>
      <p:sp>
        <p:nvSpPr>
          <p:cNvPr id="25" name="Text 22"/>
          <p:cNvSpPr/>
          <p:nvPr/>
        </p:nvSpPr>
        <p:spPr>
          <a:xfrm>
            <a:off x="10739168" y="6448790"/>
            <a:ext cx="7680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01 / 08</a:t>
            </a:r>
            <a:endParaRPr lang="en-US" sz="1200" dirty="0"/>
          </a:p>
        </p:txBody>
      </p:sp>
      <p:sp>
        <p:nvSpPr>
          <p:cNvPr id="27" name="Text 5">
            <a:extLst>
              <a:ext uri="{FF2B5EF4-FFF2-40B4-BE49-F238E27FC236}">
                <a16:creationId xmlns:a16="http://schemas.microsoft.com/office/drawing/2014/main" id="{2D8C0B3A-62D1-A7FA-64DB-850BABE56753}"/>
              </a:ext>
            </a:extLst>
          </p:cNvPr>
          <p:cNvSpPr/>
          <p:nvPr/>
        </p:nvSpPr>
        <p:spPr>
          <a:xfrm>
            <a:off x="815949" y="5332090"/>
            <a:ext cx="6148034" cy="619710"/>
          </a:xfrm>
          <a:prstGeom prst="rect">
            <a:avLst/>
          </a:prstGeom>
          <a:noFill/>
          <a:ln/>
        </p:spPr>
        <p:txBody>
          <a:bodyPr wrap="square" lIns="0" tIns="0" rIns="0" bIns="0" rtlCol="0" anchor="t">
            <a:normAutofit/>
          </a:bodyPr>
          <a:lstStyle/>
          <a:p>
            <a:pPr marL="0" indent="0" algn="l">
              <a:lnSpc>
                <a:spcPts val="2340"/>
              </a:lnSpc>
              <a:buNone/>
            </a:pPr>
            <a:r>
              <a:rPr lang="en-US" sz="1400" dirty="0">
                <a:solidFill>
                  <a:srgbClr val="D5DDE9"/>
                </a:solidFill>
                <a:latin typeface="Manrope" pitchFamily="34" charset="0"/>
                <a:ea typeface="Manrope" pitchFamily="34" charset="-122"/>
                <a:cs typeface="Manrope" pitchFamily="34" charset="-120"/>
              </a:rPr>
              <a:t>Group 8</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815949" y="663567"/>
            <a:ext cx="2287344" cy="292327"/>
          </a:xfrm>
          <a:prstGeom prst="roundRect">
            <a:avLst>
              <a:gd name="adj" fmla="val 50000"/>
            </a:avLst>
          </a:prstGeom>
          <a:solidFill>
            <a:srgbClr val="DF7410">
              <a:alpha val="10000"/>
            </a:srgbClr>
          </a:solidFill>
          <a:ln w="6350">
            <a:solidFill>
              <a:srgbClr val="DF7410">
                <a:alpha val="45000"/>
              </a:srgbClr>
            </a:solidFill>
            <a:prstDash val="solid"/>
          </a:ln>
        </p:spPr>
        <p:txBody>
          <a:bodyPr/>
          <a:lstStyle/>
          <a:p>
            <a:endParaRPr lang="en-US"/>
          </a:p>
        </p:txBody>
      </p:sp>
      <p:sp>
        <p:nvSpPr>
          <p:cNvPr id="3" name="Shape 1"/>
          <p:cNvSpPr/>
          <p:nvPr/>
        </p:nvSpPr>
        <p:spPr>
          <a:xfrm>
            <a:off x="931679" y="771617"/>
            <a:ext cx="76155" cy="76155"/>
          </a:xfrm>
          <a:prstGeom prst="roundRect">
            <a:avLst>
              <a:gd name="adj" fmla="val 50000"/>
            </a:avLst>
          </a:prstGeom>
          <a:solidFill>
            <a:srgbClr val="DF7410"/>
          </a:solidFill>
          <a:ln/>
          <a:effectLst>
            <a:outerShdw blurRad="76200" dir="60000" algn="bl" rotWithShape="0">
              <a:srgbClr val="DF7410">
                <a:alpha val="90000"/>
              </a:srgbClr>
            </a:outerShdw>
          </a:effectLst>
        </p:spPr>
        <p:txBody>
          <a:bodyPr/>
          <a:lstStyle/>
          <a:p>
            <a:endParaRPr lang="en-US"/>
          </a:p>
        </p:txBody>
      </p:sp>
      <p:sp>
        <p:nvSpPr>
          <p:cNvPr id="4" name="Text 2"/>
          <p:cNvSpPr/>
          <p:nvPr/>
        </p:nvSpPr>
        <p:spPr>
          <a:xfrm>
            <a:off x="1083989" y="703071"/>
            <a:ext cx="2016129"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08A2C"/>
                </a:solidFill>
                <a:latin typeface="JetBrains Mono" pitchFamily="49" charset="0"/>
                <a:ea typeface="JetBrains Mono" pitchFamily="49" charset="-122"/>
                <a:cs typeface="JetBrains Mono" pitchFamily="49" charset="-120"/>
              </a:rPr>
              <a:t>H1 · SEGMENTATION</a:t>
            </a:r>
            <a:endParaRPr lang="en-US" sz="1200" dirty="0"/>
          </a:p>
        </p:txBody>
      </p:sp>
      <p:sp>
        <p:nvSpPr>
          <p:cNvPr id="5" name="Text 3"/>
          <p:cNvSpPr>
            <a:spLocks noGrp="1"/>
          </p:cNvSpPr>
          <p:nvPr>
            <p:ph type="title"/>
          </p:nvPr>
        </p:nvSpPr>
        <p:spPr>
          <a:xfrm>
            <a:off x="812774" y="1073337"/>
            <a:ext cx="10883418" cy="416534"/>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EEF2F8"/>
                </a:solidFill>
                <a:latin typeface="Unbounded" pitchFamily="34" charset="0"/>
                <a:ea typeface="Unbounded" pitchFamily="34" charset="-122"/>
                <a:cs typeface="Unbounded" pitchFamily="34" charset="-120"/>
              </a:rPr>
              <a:t>One coin, two prices</a:t>
            </a:r>
            <a:endParaRPr lang="en-US" sz="2800" dirty="0"/>
          </a:p>
        </p:txBody>
      </p:sp>
      <p:sp>
        <p:nvSpPr>
          <p:cNvPr id="6" name="Shape 4"/>
          <p:cNvSpPr/>
          <p:nvPr/>
        </p:nvSpPr>
        <p:spPr>
          <a:xfrm>
            <a:off x="815949" y="1670822"/>
            <a:ext cx="6902410" cy="3308583"/>
          </a:xfrm>
          <a:prstGeom prst="roundRect">
            <a:avLst>
              <a:gd name="adj" fmla="val 3743"/>
            </a:avLst>
          </a:prstGeom>
          <a:solidFill>
            <a:srgbClr val="101725"/>
          </a:solidFill>
          <a:ln w="6350">
            <a:solidFill>
              <a:srgbClr val="1F2A3D"/>
            </a:solidFill>
            <a:prstDash val="solid"/>
          </a:ln>
        </p:spPr>
        <p:txBody>
          <a:bodyPr/>
          <a:lstStyle/>
          <a:p>
            <a:endParaRPr lang="en-US"/>
          </a:p>
        </p:txBody>
      </p:sp>
      <p:sp>
        <p:nvSpPr>
          <p:cNvPr id="7" name="Text 5"/>
          <p:cNvSpPr/>
          <p:nvPr/>
        </p:nvSpPr>
        <p:spPr>
          <a:xfrm>
            <a:off x="969793" y="1824666"/>
            <a:ext cx="3998614"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BTC PREMIUM OVER BINANCE · DAILY</a:t>
            </a:r>
            <a:endParaRPr lang="en-US" sz="1200" dirty="0"/>
          </a:p>
        </p:txBody>
      </p:sp>
      <p:sp>
        <p:nvSpPr>
          <p:cNvPr id="8" name="Text 6"/>
          <p:cNvSpPr/>
          <p:nvPr/>
        </p:nvSpPr>
        <p:spPr>
          <a:xfrm>
            <a:off x="5479866" y="1824666"/>
            <a:ext cx="2084649"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OCT 2021 – SEP 2026</a:t>
            </a:r>
            <a:endParaRPr lang="en-US" sz="1200" dirty="0"/>
          </a:p>
        </p:txBody>
      </p:sp>
      <p:pic>
        <p:nvPicPr>
          <p:cNvPr id="9" name="Image 0" descr="Bitcoin's daily premium over the world price, October 2021 to September 2026. Korea (orange) swings between about −3% and +12%, peaking at +11.7% on 19 March 2024; Japan (blue) stays within about ±2% of zero"/>
          <p:cNvPicPr>
            <a:picLocks noChangeAspect="1"/>
          </p:cNvPicPr>
          <p:nvPr/>
        </p:nvPicPr>
        <p:blipFill>
          <a:blip r:embed="rId3"/>
          <a:srcRect l="-16" r="-16"/>
          <a:stretch/>
        </p:blipFill>
        <p:spPr>
          <a:xfrm>
            <a:off x="969793" y="2114140"/>
            <a:ext cx="6603998" cy="2711421"/>
          </a:xfrm>
          <a:prstGeom prst="rect">
            <a:avLst/>
          </a:prstGeom>
        </p:spPr>
      </p:pic>
      <p:sp>
        <p:nvSpPr>
          <p:cNvPr id="10" name="Text 7"/>
          <p:cNvSpPr/>
          <p:nvPr/>
        </p:nvSpPr>
        <p:spPr>
          <a:xfrm>
            <a:off x="812774" y="5084167"/>
            <a:ext cx="7116023"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4C0D3"/>
                </a:solidFill>
                <a:latin typeface="Manrope" pitchFamily="34" charset="0"/>
                <a:ea typeface="Manrope" pitchFamily="34" charset="-122"/>
                <a:cs typeface="Manrope" pitchFamily="34" charset="-120"/>
              </a:rPr>
              <a:t>Korea's premium averages </a:t>
            </a:r>
            <a:r>
              <a:rPr lang="en-US" sz="1300" dirty="0">
                <a:solidFill>
                  <a:srgbClr val="F08A2C"/>
                </a:solidFill>
                <a:latin typeface="Manrope" pitchFamily="34" charset="0"/>
                <a:ea typeface="Manrope" pitchFamily="34" charset="-122"/>
                <a:cs typeface="Manrope" pitchFamily="34" charset="-120"/>
              </a:rPr>
              <a:t>1.7%</a:t>
            </a:r>
            <a:r>
              <a:rPr lang="en-US" sz="1300" dirty="0">
                <a:solidFill>
                  <a:srgbClr val="B4C0D3"/>
                </a:solidFill>
                <a:latin typeface="Manrope" pitchFamily="34" charset="0"/>
                <a:ea typeface="Manrope" pitchFamily="34" charset="-122"/>
                <a:cs typeface="Manrope" pitchFamily="34" charset="-120"/>
              </a:rPr>
              <a:t>, Japan's </a:t>
            </a:r>
            <a:r>
              <a:rPr lang="en-US" sz="1300" dirty="0">
                <a:solidFill>
                  <a:srgbClr val="38A9E0"/>
                </a:solidFill>
                <a:latin typeface="Manrope" pitchFamily="34" charset="0"/>
                <a:ea typeface="Manrope" pitchFamily="34" charset="-122"/>
                <a:cs typeface="Manrope" pitchFamily="34" charset="-120"/>
              </a:rPr>
              <a:t>0.1%</a:t>
            </a:r>
            <a:r>
              <a:rPr lang="en-US" sz="1300" dirty="0">
                <a:solidFill>
                  <a:srgbClr val="B4C0D3"/>
                </a:solidFill>
                <a:latin typeface="Manrope" pitchFamily="34" charset="0"/>
                <a:ea typeface="Manrope" pitchFamily="34" charset="-122"/>
                <a:cs typeface="Manrope" pitchFamily="34" charset="-120"/>
              </a:rPr>
              <a:t>. Same coins and the same retail crowd, but won can't leave Korea and yen can leave Japan.</a:t>
            </a:r>
            <a:endParaRPr lang="en-US" sz="1300" dirty="0"/>
          </a:p>
        </p:txBody>
      </p:sp>
      <p:sp>
        <p:nvSpPr>
          <p:cNvPr id="11" name="Shape 8"/>
          <p:cNvSpPr/>
          <p:nvPr/>
        </p:nvSpPr>
        <p:spPr>
          <a:xfrm>
            <a:off x="7927885" y="1670822"/>
            <a:ext cx="3448139" cy="2189162"/>
          </a:xfrm>
          <a:prstGeom prst="roundRect">
            <a:avLst>
              <a:gd name="adj" fmla="val 5656"/>
            </a:avLst>
          </a:prstGeom>
          <a:solidFill>
            <a:srgbClr val="101725"/>
          </a:solidFill>
          <a:ln w="6350">
            <a:solidFill>
              <a:srgbClr val="1F2A3D"/>
            </a:solidFill>
            <a:prstDash val="solid"/>
          </a:ln>
        </p:spPr>
        <p:txBody>
          <a:bodyPr/>
          <a:lstStyle/>
          <a:p>
            <a:endParaRPr lang="en-US"/>
          </a:p>
        </p:txBody>
      </p:sp>
      <p:sp>
        <p:nvSpPr>
          <p:cNvPr id="12" name="Text 9"/>
          <p:cNvSpPr/>
          <p:nvPr/>
        </p:nvSpPr>
        <p:spPr>
          <a:xfrm>
            <a:off x="8081729" y="1837346"/>
            <a:ext cx="1374608"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19 MAR 2024</a:t>
            </a:r>
            <a:endParaRPr lang="en-US" sz="1200" dirty="0"/>
          </a:p>
        </p:txBody>
      </p:sp>
      <p:sp>
        <p:nvSpPr>
          <p:cNvPr id="13" name="Text 10"/>
          <p:cNvSpPr/>
          <p:nvPr/>
        </p:nvSpPr>
        <p:spPr>
          <a:xfrm>
            <a:off x="10704097" y="1824666"/>
            <a:ext cx="518083" cy="238680"/>
          </a:xfrm>
          <a:prstGeom prst="roundRect">
            <a:avLst>
              <a:gd name="adj" fmla="val 21284"/>
            </a:avLst>
          </a:prstGeom>
          <a:solidFill>
            <a:srgbClr val="DF7410">
              <a:alpha val="12000"/>
            </a:srgbClr>
          </a:solidFill>
          <a:ln/>
        </p:spPr>
        <p:txBody>
          <a:bodyPr wrap="none" lIns="0" tIns="0" rIns="0" bIns="0" rtlCol="0" anchor="ctr">
            <a:normAutofit/>
          </a:bodyPr>
          <a:lstStyle/>
          <a:p>
            <a:pPr marL="0" indent="0" algn="ctr">
              <a:lnSpc>
                <a:spcPts val="1680"/>
              </a:lnSpc>
              <a:buNone/>
            </a:pPr>
            <a:r>
              <a:rPr lang="en-US" sz="1200" dirty="0">
                <a:solidFill>
                  <a:srgbClr val="F08A2C"/>
                </a:solidFill>
                <a:latin typeface="JetBrains Mono" pitchFamily="49" charset="0"/>
                <a:ea typeface="JetBrains Mono" pitchFamily="49" charset="-122"/>
                <a:cs typeface="JetBrains Mono" pitchFamily="49" charset="-120"/>
              </a:rPr>
              <a:t>PEAK</a:t>
            </a:r>
            <a:endParaRPr lang="en-US" sz="1200" dirty="0"/>
          </a:p>
        </p:txBody>
      </p:sp>
      <p:sp>
        <p:nvSpPr>
          <p:cNvPr id="14" name="Text 11"/>
          <p:cNvSpPr/>
          <p:nvPr/>
        </p:nvSpPr>
        <p:spPr>
          <a:xfrm>
            <a:off x="8081729" y="2139500"/>
            <a:ext cx="1638235"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4C0D3"/>
                </a:solidFill>
                <a:latin typeface="Manrope" pitchFamily="34" charset="0"/>
                <a:ea typeface="Manrope" pitchFamily="34" charset="-122"/>
                <a:cs typeface="Manrope" pitchFamily="34" charset="-120"/>
              </a:rPr>
              <a:t>BTC on Upbit</a:t>
            </a:r>
            <a:endParaRPr lang="en-US" sz="1300" dirty="0"/>
          </a:p>
        </p:txBody>
      </p:sp>
      <p:sp>
        <p:nvSpPr>
          <p:cNvPr id="15" name="Text 12"/>
          <p:cNvSpPr/>
          <p:nvPr/>
        </p:nvSpPr>
        <p:spPr>
          <a:xfrm>
            <a:off x="9669157" y="2139500"/>
            <a:ext cx="1553023" cy="256545"/>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EEF2F8"/>
                </a:solidFill>
                <a:latin typeface="JetBrains Mono" pitchFamily="49" charset="0"/>
                <a:ea typeface="JetBrains Mono" pitchFamily="49" charset="-122"/>
                <a:cs typeface="JetBrains Mono" pitchFamily="49" charset="-120"/>
              </a:rPr>
              <a:t>₩92,572,000</a:t>
            </a:r>
            <a:endParaRPr lang="en-US" sz="1300" dirty="0"/>
          </a:p>
        </p:txBody>
      </p:sp>
      <p:sp>
        <p:nvSpPr>
          <p:cNvPr id="16" name="Text 13"/>
          <p:cNvSpPr/>
          <p:nvPr/>
        </p:nvSpPr>
        <p:spPr>
          <a:xfrm>
            <a:off x="8081729" y="2421439"/>
            <a:ext cx="1638235"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4C0D3"/>
                </a:solidFill>
                <a:latin typeface="Manrope" pitchFamily="34" charset="0"/>
                <a:ea typeface="Manrope" pitchFamily="34" charset="-122"/>
                <a:cs typeface="Manrope" pitchFamily="34" charset="-120"/>
              </a:rPr>
              <a:t>BTC on Binance</a:t>
            </a:r>
            <a:endParaRPr lang="en-US" sz="1300" dirty="0"/>
          </a:p>
        </p:txBody>
      </p:sp>
      <p:sp>
        <p:nvSpPr>
          <p:cNvPr id="17" name="Text 14"/>
          <p:cNvSpPr/>
          <p:nvPr/>
        </p:nvSpPr>
        <p:spPr>
          <a:xfrm>
            <a:off x="9669157" y="2421439"/>
            <a:ext cx="1553023" cy="256545"/>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EEF2F8"/>
                </a:solidFill>
                <a:latin typeface="JetBrains Mono" pitchFamily="49" charset="0"/>
                <a:ea typeface="JetBrains Mono" pitchFamily="49" charset="-122"/>
                <a:cs typeface="JetBrains Mono" pitchFamily="49" charset="-120"/>
              </a:rPr>
              <a:t>$61,937.40</a:t>
            </a:r>
            <a:endParaRPr lang="en-US" sz="1300" dirty="0"/>
          </a:p>
        </p:txBody>
      </p:sp>
      <p:sp>
        <p:nvSpPr>
          <p:cNvPr id="18" name="Text 15"/>
          <p:cNvSpPr/>
          <p:nvPr/>
        </p:nvSpPr>
        <p:spPr>
          <a:xfrm>
            <a:off x="8081729" y="2703378"/>
            <a:ext cx="1638235"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4C0D3"/>
                </a:solidFill>
                <a:latin typeface="Manrope" pitchFamily="34" charset="0"/>
                <a:ea typeface="Manrope" pitchFamily="34" charset="-122"/>
                <a:cs typeface="Manrope" pitchFamily="34" charset="-120"/>
              </a:rPr>
              <a:t>Implied ₩ per $</a:t>
            </a:r>
            <a:endParaRPr lang="en-US" sz="1300" dirty="0"/>
          </a:p>
        </p:txBody>
      </p:sp>
      <p:sp>
        <p:nvSpPr>
          <p:cNvPr id="19" name="Text 16"/>
          <p:cNvSpPr/>
          <p:nvPr/>
        </p:nvSpPr>
        <p:spPr>
          <a:xfrm>
            <a:off x="9669157" y="2703378"/>
            <a:ext cx="1553023" cy="256545"/>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EEF2F8"/>
                </a:solidFill>
                <a:latin typeface="JetBrains Mono" pitchFamily="49" charset="0"/>
                <a:ea typeface="JetBrains Mono" pitchFamily="49" charset="-122"/>
                <a:cs typeface="JetBrains Mono" pitchFamily="49" charset="-120"/>
              </a:rPr>
              <a:t>1,495</a:t>
            </a:r>
            <a:endParaRPr lang="en-US" sz="1300" dirty="0"/>
          </a:p>
        </p:txBody>
      </p:sp>
      <p:sp>
        <p:nvSpPr>
          <p:cNvPr id="20" name="Text 17"/>
          <p:cNvSpPr/>
          <p:nvPr/>
        </p:nvSpPr>
        <p:spPr>
          <a:xfrm>
            <a:off x="8081729" y="2985316"/>
            <a:ext cx="1638235"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4C0D3"/>
                </a:solidFill>
                <a:latin typeface="Manrope" pitchFamily="34" charset="0"/>
                <a:ea typeface="Manrope" pitchFamily="34" charset="-122"/>
                <a:cs typeface="Manrope" pitchFamily="34" charset="-120"/>
              </a:rPr>
              <a:t>Market ₩ per $</a:t>
            </a:r>
            <a:endParaRPr lang="en-US" sz="1300" dirty="0"/>
          </a:p>
        </p:txBody>
      </p:sp>
      <p:sp>
        <p:nvSpPr>
          <p:cNvPr id="21" name="Text 18"/>
          <p:cNvSpPr/>
          <p:nvPr/>
        </p:nvSpPr>
        <p:spPr>
          <a:xfrm>
            <a:off x="9669157" y="2985316"/>
            <a:ext cx="1553023" cy="256545"/>
          </a:xfrm>
          <a:prstGeom prst="rect">
            <a:avLst/>
          </a:prstGeom>
          <a:noFill/>
          <a:ln/>
        </p:spPr>
        <p:txBody>
          <a:bodyPr wrap="square" lIns="0" tIns="0" rIns="0" bIns="0" rtlCol="0" anchor="t">
            <a:normAutofit/>
          </a:bodyPr>
          <a:lstStyle/>
          <a:p>
            <a:pPr marL="0" indent="0" algn="r">
              <a:lnSpc>
                <a:spcPts val="1820"/>
              </a:lnSpc>
              <a:buNone/>
            </a:pPr>
            <a:r>
              <a:rPr lang="en-US" sz="1300" dirty="0">
                <a:solidFill>
                  <a:srgbClr val="EEF2F8"/>
                </a:solidFill>
                <a:latin typeface="JetBrains Mono" pitchFamily="49" charset="0"/>
                <a:ea typeface="JetBrains Mono" pitchFamily="49" charset="-122"/>
                <a:cs typeface="JetBrains Mono" pitchFamily="49" charset="-120"/>
              </a:rPr>
              <a:t>1,338</a:t>
            </a:r>
            <a:endParaRPr lang="en-US" sz="1300" dirty="0"/>
          </a:p>
        </p:txBody>
      </p:sp>
      <p:sp>
        <p:nvSpPr>
          <p:cNvPr id="22" name="Shape 19"/>
          <p:cNvSpPr/>
          <p:nvPr/>
        </p:nvSpPr>
        <p:spPr>
          <a:xfrm>
            <a:off x="8081729" y="3295790"/>
            <a:ext cx="3140451" cy="0"/>
          </a:xfrm>
          <a:prstGeom prst="line">
            <a:avLst/>
          </a:prstGeom>
          <a:noFill/>
          <a:ln w="6350">
            <a:solidFill>
              <a:srgbClr val="1F2A3D"/>
            </a:solidFill>
            <a:prstDash val="solid"/>
          </a:ln>
        </p:spPr>
        <p:txBody>
          <a:bodyPr/>
          <a:lstStyle/>
          <a:p>
            <a:endParaRPr lang="en-US"/>
          </a:p>
        </p:txBody>
      </p:sp>
      <p:sp>
        <p:nvSpPr>
          <p:cNvPr id="23" name="Text 20"/>
          <p:cNvSpPr/>
          <p:nvPr/>
        </p:nvSpPr>
        <p:spPr>
          <a:xfrm>
            <a:off x="8081729" y="3430505"/>
            <a:ext cx="1544423" cy="25654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EF2F8"/>
                </a:solidFill>
                <a:latin typeface="Manrope" pitchFamily="34" charset="0"/>
                <a:ea typeface="Manrope" pitchFamily="34" charset="-122"/>
                <a:cs typeface="Manrope" pitchFamily="34" charset="-120"/>
              </a:rPr>
              <a:t>Kimchi premium</a:t>
            </a:r>
            <a:endParaRPr lang="en-US" sz="1300" dirty="0"/>
          </a:p>
        </p:txBody>
      </p:sp>
      <p:sp>
        <p:nvSpPr>
          <p:cNvPr id="24" name="Text 21"/>
          <p:cNvSpPr/>
          <p:nvPr/>
        </p:nvSpPr>
        <p:spPr>
          <a:xfrm>
            <a:off x="10234678" y="3386088"/>
            <a:ext cx="987502" cy="345452"/>
          </a:xfrm>
          <a:prstGeom prst="rect">
            <a:avLst/>
          </a:prstGeom>
          <a:noFill/>
          <a:ln/>
        </p:spPr>
        <p:txBody>
          <a:bodyPr wrap="square" lIns="0" tIns="0" rIns="0" bIns="0" rtlCol="0" anchor="t">
            <a:normAutofit/>
          </a:bodyPr>
          <a:lstStyle/>
          <a:p>
            <a:pPr marL="0" indent="0" algn="r">
              <a:lnSpc>
                <a:spcPts val="2520"/>
              </a:lnSpc>
              <a:buNone/>
            </a:pPr>
            <a:r>
              <a:rPr lang="en-US" sz="1800" b="1" dirty="0">
                <a:solidFill>
                  <a:srgbClr val="F08A2C"/>
                </a:solidFill>
                <a:latin typeface="JetBrains Mono" pitchFamily="49" charset="0"/>
                <a:ea typeface="JetBrains Mono" pitchFamily="49" charset="-122"/>
                <a:cs typeface="JetBrains Mono" pitchFamily="49" charset="-120"/>
              </a:rPr>
              <a:t>+11.7%</a:t>
            </a:r>
            <a:endParaRPr lang="en-US" sz="1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933985" y="4024815"/>
          <a:ext cx="3445070" cy="1317016"/>
        </p:xfrm>
        <a:graphic>
          <a:graphicData uri="http://schemas.openxmlformats.org/drawingml/2006/table">
            <a:tbl>
              <a:tblPr/>
              <a:tblGrid>
                <a:gridCol w="1584732">
                  <a:extLst>
                    <a:ext uri="{9D8B030D-6E8A-4147-A177-3AD203B41FA5}">
                      <a16:colId xmlns:a16="http://schemas.microsoft.com/office/drawing/2014/main" val="20000"/>
                    </a:ext>
                  </a:extLst>
                </a:gridCol>
                <a:gridCol w="930169">
                  <a:extLst>
                    <a:ext uri="{9D8B030D-6E8A-4147-A177-3AD203B41FA5}">
                      <a16:colId xmlns:a16="http://schemas.microsoft.com/office/drawing/2014/main" val="20001"/>
                    </a:ext>
                  </a:extLst>
                </a:gridCol>
                <a:gridCol w="930169">
                  <a:extLst>
                    <a:ext uri="{9D8B030D-6E8A-4147-A177-3AD203B41FA5}">
                      <a16:colId xmlns:a16="http://schemas.microsoft.com/office/drawing/2014/main" val="20002"/>
                    </a:ext>
                  </a:extLst>
                </a:gridCol>
              </a:tblGrid>
              <a:tr h="329254">
                <a:tc>
                  <a:txBody>
                    <a:bodyPr/>
                    <a:lstStyle/>
                    <a:p>
                      <a:pPr marL="0" indent="0">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Last 5 years</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gn="r">
                        <a:lnSpc>
                          <a:spcPts val="1680"/>
                        </a:lnSpc>
                        <a:buNone/>
                      </a:pPr>
                      <a:r>
                        <a:rPr lang="en-US" sz="1200" b="1" dirty="0">
                          <a:solidFill>
                            <a:srgbClr val="F08A2C"/>
                          </a:solidFill>
                          <a:latin typeface="JetBrains Mono" pitchFamily="49" charset="0"/>
                          <a:ea typeface="JetBrains Mono" pitchFamily="49" charset="-122"/>
                          <a:cs typeface="JetBrains Mono" pitchFamily="49" charset="-120"/>
                        </a:rPr>
                        <a:t>Korea</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gn="r">
                        <a:lnSpc>
                          <a:spcPts val="1680"/>
                        </a:lnSpc>
                        <a:buNone/>
                      </a:pPr>
                      <a:r>
                        <a:rPr lang="en-US" sz="1200" b="1" dirty="0">
                          <a:solidFill>
                            <a:srgbClr val="38A9E0"/>
                          </a:solidFill>
                          <a:latin typeface="JetBrains Mono" pitchFamily="49" charset="0"/>
                          <a:ea typeface="JetBrains Mono" pitchFamily="49" charset="-122"/>
                          <a:cs typeface="JetBrains Mono" pitchFamily="49" charset="-120"/>
                        </a:rPr>
                        <a:t>Japan</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extLst>
                  <a:ext uri="{0D108BD9-81ED-4DB2-BD59-A6C34878D82A}">
                    <a16:rowId xmlns:a16="http://schemas.microsoft.com/office/drawing/2014/main" val="10000"/>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Average</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1.70%</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0.14%</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1"/>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Days above 2%</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37%</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0%</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2"/>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Half-life</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8.4 days</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0.6 days</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6" name="Shape 22"/>
          <p:cNvSpPr/>
          <p:nvPr/>
        </p:nvSpPr>
        <p:spPr>
          <a:xfrm>
            <a:off x="0" y="6248368"/>
            <a:ext cx="12191973" cy="609599"/>
          </a:xfrm>
          <a:prstGeom prst="rect">
            <a:avLst/>
          </a:prstGeom>
          <a:solidFill>
            <a:srgbClr val="060910"/>
          </a:solidFill>
          <a:ln/>
        </p:spPr>
        <p:txBody>
          <a:bodyPr/>
          <a:lstStyle/>
          <a:p>
            <a:endParaRPr lang="en-US"/>
          </a:p>
        </p:txBody>
      </p:sp>
      <p:sp>
        <p:nvSpPr>
          <p:cNvPr id="27" name="Shape 23"/>
          <p:cNvSpPr/>
          <p:nvPr/>
        </p:nvSpPr>
        <p:spPr>
          <a:xfrm>
            <a:off x="0" y="6251543"/>
            <a:ext cx="12191973" cy="0"/>
          </a:xfrm>
          <a:prstGeom prst="line">
            <a:avLst/>
          </a:prstGeom>
          <a:noFill/>
          <a:ln w="6350">
            <a:solidFill>
              <a:srgbClr val="1F2A3D"/>
            </a:solidFill>
            <a:prstDash val="solid"/>
          </a:ln>
        </p:spPr>
        <p:txBody>
          <a:bodyPr/>
          <a:lstStyle/>
          <a:p>
            <a:endParaRPr lang="en-US"/>
          </a:p>
        </p:txBody>
      </p:sp>
      <p:sp>
        <p:nvSpPr>
          <p:cNvPr id="34" name="Text 30"/>
          <p:cNvSpPr/>
          <p:nvPr/>
        </p:nvSpPr>
        <p:spPr>
          <a:xfrm>
            <a:off x="10739168" y="6448790"/>
            <a:ext cx="7680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02 / 08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15949" y="663567"/>
            <a:ext cx="1845415" cy="292327"/>
          </a:xfrm>
          <a:prstGeom prst="roundRect">
            <a:avLst>
              <a:gd name="adj" fmla="val 50000"/>
            </a:avLst>
          </a:prstGeom>
          <a:solidFill>
            <a:srgbClr val="DF7410">
              <a:alpha val="10000"/>
            </a:srgbClr>
          </a:solidFill>
          <a:ln w="6350">
            <a:solidFill>
              <a:srgbClr val="DF7410">
                <a:alpha val="45000"/>
              </a:srgbClr>
            </a:solidFill>
            <a:prstDash val="solid"/>
          </a:ln>
        </p:spPr>
        <p:txBody>
          <a:bodyPr/>
          <a:lstStyle/>
          <a:p>
            <a:endParaRPr lang="en-US"/>
          </a:p>
        </p:txBody>
      </p:sp>
      <p:sp>
        <p:nvSpPr>
          <p:cNvPr id="3" name="Shape 1"/>
          <p:cNvSpPr/>
          <p:nvPr/>
        </p:nvSpPr>
        <p:spPr>
          <a:xfrm>
            <a:off x="931679" y="771618"/>
            <a:ext cx="76155" cy="76155"/>
          </a:xfrm>
          <a:prstGeom prst="roundRect">
            <a:avLst>
              <a:gd name="adj" fmla="val 50000"/>
            </a:avLst>
          </a:prstGeom>
          <a:solidFill>
            <a:srgbClr val="DF7410"/>
          </a:solidFill>
          <a:ln/>
          <a:effectLst>
            <a:outerShdw blurRad="76200" dir="60000" algn="bl" rotWithShape="0">
              <a:srgbClr val="DF7410">
                <a:alpha val="90000"/>
              </a:srgbClr>
            </a:outerShdw>
          </a:effectLst>
        </p:spPr>
        <p:txBody>
          <a:bodyPr/>
          <a:lstStyle/>
          <a:p>
            <a:endParaRPr lang="en-US"/>
          </a:p>
        </p:txBody>
      </p:sp>
      <p:sp>
        <p:nvSpPr>
          <p:cNvPr id="4" name="Text 2"/>
          <p:cNvSpPr/>
          <p:nvPr/>
        </p:nvSpPr>
        <p:spPr>
          <a:xfrm>
            <a:off x="1083989" y="703070"/>
            <a:ext cx="1574201"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08A2C"/>
                </a:solidFill>
                <a:latin typeface="JetBrains Mono" pitchFamily="49" charset="0"/>
                <a:ea typeface="JetBrains Mono" pitchFamily="49" charset="-122"/>
                <a:cs typeface="JetBrains Mono" pitchFamily="49" charset="-120"/>
              </a:rPr>
              <a:t>THE MECHANISM</a:t>
            </a:r>
            <a:endParaRPr lang="en-US" sz="1200" dirty="0"/>
          </a:p>
        </p:txBody>
      </p:sp>
      <p:sp>
        <p:nvSpPr>
          <p:cNvPr id="5" name="Text 3"/>
          <p:cNvSpPr>
            <a:spLocks noGrp="1"/>
          </p:cNvSpPr>
          <p:nvPr>
            <p:ph type="title"/>
          </p:nvPr>
        </p:nvSpPr>
        <p:spPr>
          <a:xfrm>
            <a:off x="812774" y="1073338"/>
            <a:ext cx="10883418" cy="416534"/>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EEF2F8"/>
                </a:solidFill>
                <a:latin typeface="Unbounded" pitchFamily="34" charset="0"/>
                <a:ea typeface="Unbounded" pitchFamily="34" charset="-122"/>
                <a:cs typeface="Unbounded" pitchFamily="34" charset="-120"/>
              </a:rPr>
              <a:t>Coins flow in. Won can't flow out.</a:t>
            </a:r>
            <a:endParaRPr lang="en-US" sz="2800" dirty="0"/>
          </a:p>
        </p:txBody>
      </p:sp>
      <p:sp>
        <p:nvSpPr>
          <p:cNvPr id="6" name="Shape 4"/>
          <p:cNvSpPr/>
          <p:nvPr/>
        </p:nvSpPr>
        <p:spPr>
          <a:xfrm>
            <a:off x="819124" y="1789570"/>
            <a:ext cx="3035293" cy="1181716"/>
          </a:xfrm>
          <a:prstGeom prst="roundRect">
            <a:avLst>
              <a:gd name="adj" fmla="val 10210"/>
            </a:avLst>
          </a:prstGeom>
          <a:solidFill>
            <a:srgbClr val="101725"/>
          </a:solidFill>
          <a:ln w="12700">
            <a:solidFill>
              <a:srgbClr val="1D9BD6"/>
            </a:solidFill>
            <a:prstDash val="solid"/>
          </a:ln>
          <a:effectLst>
            <a:outerShdw blurRad="254000" dir="60000" algn="bl" rotWithShape="0">
              <a:srgbClr val="1D9BD6">
                <a:alpha val="22000"/>
              </a:srgbClr>
            </a:outerShdw>
          </a:effectLst>
        </p:spPr>
        <p:txBody>
          <a:bodyPr/>
          <a:lstStyle/>
          <a:p>
            <a:endParaRPr lang="en-US"/>
          </a:p>
        </p:txBody>
      </p:sp>
      <p:sp>
        <p:nvSpPr>
          <p:cNvPr id="7" name="Text 5"/>
          <p:cNvSpPr/>
          <p:nvPr/>
        </p:nvSpPr>
        <p:spPr>
          <a:xfrm>
            <a:off x="1012544" y="1957556"/>
            <a:ext cx="2727907"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38A9E0"/>
                </a:solidFill>
                <a:latin typeface="JetBrains Mono" pitchFamily="49" charset="0"/>
                <a:ea typeface="JetBrains Mono" pitchFamily="49" charset="-122"/>
                <a:cs typeface="JetBrains Mono" pitchFamily="49" charset="-120"/>
              </a:rPr>
              <a:t>WORLD MARKET</a:t>
            </a:r>
            <a:endParaRPr lang="en-US" sz="1200" dirty="0"/>
          </a:p>
        </p:txBody>
      </p:sp>
      <p:sp>
        <p:nvSpPr>
          <p:cNvPr id="8" name="Text 6"/>
          <p:cNvSpPr/>
          <p:nvPr/>
        </p:nvSpPr>
        <p:spPr>
          <a:xfrm>
            <a:off x="1012544" y="2234350"/>
            <a:ext cx="2727907" cy="29973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EF2F8"/>
                </a:solidFill>
                <a:latin typeface="Unbounded" pitchFamily="34" charset="0"/>
                <a:ea typeface="Unbounded" pitchFamily="34" charset="-122"/>
                <a:cs typeface="Unbounded" pitchFamily="34" charset="-120"/>
              </a:rPr>
              <a:t>Binance</a:t>
            </a:r>
            <a:endParaRPr lang="en-US" sz="1800" dirty="0"/>
          </a:p>
        </p:txBody>
      </p:sp>
      <p:sp>
        <p:nvSpPr>
          <p:cNvPr id="9" name="Text 7"/>
          <p:cNvSpPr/>
          <p:nvPr/>
        </p:nvSpPr>
        <p:spPr>
          <a:xfrm>
            <a:off x="1012544" y="2572155"/>
            <a:ext cx="2727907"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4C0D3"/>
                </a:solidFill>
                <a:latin typeface="Manrope" pitchFamily="34" charset="0"/>
                <a:ea typeface="Manrope" pitchFamily="34" charset="-122"/>
                <a:cs typeface="Manrope" pitchFamily="34" charset="-120"/>
              </a:rPr>
              <a:t>Priced in USDT, open to anyone</a:t>
            </a:r>
            <a:endParaRPr lang="en-US" sz="1300" dirty="0"/>
          </a:p>
        </p:txBody>
      </p:sp>
      <p:sp>
        <p:nvSpPr>
          <p:cNvPr id="10" name="Text 8"/>
          <p:cNvSpPr/>
          <p:nvPr/>
        </p:nvSpPr>
        <p:spPr>
          <a:xfrm>
            <a:off x="3976785" y="1914443"/>
            <a:ext cx="4238402" cy="256545"/>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EEF2F8"/>
                </a:solidFill>
                <a:latin typeface="Manrope" pitchFamily="34" charset="0"/>
                <a:ea typeface="Manrope" pitchFamily="34" charset="-122"/>
                <a:cs typeface="Manrope" pitchFamily="34" charset="-120"/>
              </a:rPr>
              <a:t>Coins move freely, in minutes</a:t>
            </a:r>
            <a:endParaRPr lang="en-US" sz="1300" dirty="0"/>
          </a:p>
        </p:txBody>
      </p:sp>
      <p:pic>
        <p:nvPicPr>
          <p:cNvPr id="11" name="Image 0" descr="connector"/>
          <p:cNvPicPr>
            <a:picLocks noChangeAspect="1"/>
          </p:cNvPicPr>
          <p:nvPr/>
        </p:nvPicPr>
        <p:blipFill>
          <a:blip r:embed="rId3"/>
          <a:srcRect l="-5" r="-5"/>
          <a:stretch/>
        </p:blipFill>
        <p:spPr>
          <a:xfrm>
            <a:off x="4038510" y="2234422"/>
            <a:ext cx="4114736" cy="101588"/>
          </a:xfrm>
          <a:prstGeom prst="rect">
            <a:avLst/>
          </a:prstGeom>
        </p:spPr>
      </p:pic>
      <p:pic>
        <p:nvPicPr>
          <p:cNvPr id="12" name="Image 1" descr="connector"/>
          <p:cNvPicPr>
            <a:picLocks noChangeAspect="1"/>
          </p:cNvPicPr>
          <p:nvPr/>
        </p:nvPicPr>
        <p:blipFill>
          <a:blip r:embed="rId4"/>
          <a:srcRect l="-5" r="-5"/>
          <a:stretch/>
        </p:blipFill>
        <p:spPr>
          <a:xfrm>
            <a:off x="4038510" y="2424844"/>
            <a:ext cx="4114736" cy="101588"/>
          </a:xfrm>
          <a:prstGeom prst="rect">
            <a:avLst/>
          </a:prstGeom>
        </p:spPr>
      </p:pic>
      <p:sp>
        <p:nvSpPr>
          <p:cNvPr id="13" name="Text 9"/>
          <p:cNvSpPr/>
          <p:nvPr/>
        </p:nvSpPr>
        <p:spPr>
          <a:xfrm>
            <a:off x="3976785" y="2615267"/>
            <a:ext cx="4238402" cy="256545"/>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F08A2C"/>
                </a:solidFill>
                <a:latin typeface="Manrope" pitchFamily="34" charset="0"/>
                <a:ea typeface="Manrope" pitchFamily="34" charset="-122"/>
                <a:cs typeface="Manrope" pitchFamily="34" charset="-120"/>
              </a:rPr>
              <a:t>Won can't leave freely</a:t>
            </a:r>
            <a:endParaRPr lang="en-US" sz="1300" dirty="0"/>
          </a:p>
        </p:txBody>
      </p:sp>
      <p:sp>
        <p:nvSpPr>
          <p:cNvPr id="14" name="Shape 10"/>
          <p:cNvSpPr/>
          <p:nvPr/>
        </p:nvSpPr>
        <p:spPr>
          <a:xfrm>
            <a:off x="8337555" y="1673997"/>
            <a:ext cx="3035293" cy="1412861"/>
          </a:xfrm>
          <a:prstGeom prst="roundRect">
            <a:avLst>
              <a:gd name="adj" fmla="val 8539"/>
            </a:avLst>
          </a:prstGeom>
          <a:solidFill>
            <a:srgbClr val="101725"/>
          </a:solidFill>
          <a:ln w="12700">
            <a:solidFill>
              <a:srgbClr val="DF7410"/>
            </a:solidFill>
            <a:prstDash val="solid"/>
          </a:ln>
          <a:effectLst>
            <a:outerShdw blurRad="254000" dir="60000" algn="bl" rotWithShape="0">
              <a:srgbClr val="DF7410">
                <a:alpha val="22000"/>
              </a:srgbClr>
            </a:outerShdw>
          </a:effectLst>
        </p:spPr>
        <p:txBody>
          <a:bodyPr/>
          <a:lstStyle/>
          <a:p>
            <a:endParaRPr lang="en-US"/>
          </a:p>
        </p:txBody>
      </p:sp>
      <p:sp>
        <p:nvSpPr>
          <p:cNvPr id="15" name="Text 11"/>
          <p:cNvSpPr/>
          <p:nvPr/>
        </p:nvSpPr>
        <p:spPr>
          <a:xfrm>
            <a:off x="8530975" y="1841984"/>
            <a:ext cx="2727907"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08A2C"/>
                </a:solidFill>
                <a:latin typeface="JetBrains Mono" pitchFamily="49" charset="0"/>
                <a:ea typeface="JetBrains Mono" pitchFamily="49" charset="-122"/>
                <a:cs typeface="JetBrains Mono" pitchFamily="49" charset="-120"/>
              </a:rPr>
              <a:t>KOREAN MARKET</a:t>
            </a:r>
            <a:endParaRPr lang="en-US" sz="1200" dirty="0"/>
          </a:p>
        </p:txBody>
      </p:sp>
      <p:sp>
        <p:nvSpPr>
          <p:cNvPr id="16" name="Text 12"/>
          <p:cNvSpPr/>
          <p:nvPr/>
        </p:nvSpPr>
        <p:spPr>
          <a:xfrm>
            <a:off x="8530975" y="2118778"/>
            <a:ext cx="2727907" cy="29973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EF2F8"/>
                </a:solidFill>
                <a:latin typeface="Unbounded" pitchFamily="34" charset="0"/>
                <a:ea typeface="Unbounded" pitchFamily="34" charset="-122"/>
                <a:cs typeface="Unbounded" pitchFamily="34" charset="-120"/>
              </a:rPr>
              <a:t>Upbit</a:t>
            </a:r>
            <a:endParaRPr lang="en-US" sz="1800" dirty="0"/>
          </a:p>
        </p:txBody>
      </p:sp>
      <p:sp>
        <p:nvSpPr>
          <p:cNvPr id="17" name="Text 13"/>
          <p:cNvSpPr/>
          <p:nvPr/>
        </p:nvSpPr>
        <p:spPr>
          <a:xfrm>
            <a:off x="8530975" y="2456582"/>
            <a:ext cx="2727907"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4C0D3"/>
                </a:solidFill>
                <a:latin typeface="Manrope" pitchFamily="34" charset="0"/>
                <a:ea typeface="Manrope" pitchFamily="34" charset="-122"/>
                <a:cs typeface="Manrope" pitchFamily="34" charset="-120"/>
              </a:rPr>
              <a:t>Priced in won; residents with a real-name bank account</a:t>
            </a:r>
            <a:endParaRPr lang="en-US" sz="1300" dirty="0"/>
          </a:p>
        </p:txBody>
      </p:sp>
      <p:sp>
        <p:nvSpPr>
          <p:cNvPr id="18" name="Shape 14"/>
          <p:cNvSpPr/>
          <p:nvPr/>
        </p:nvSpPr>
        <p:spPr>
          <a:xfrm>
            <a:off x="815949" y="3299558"/>
            <a:ext cx="5175275" cy="1417472"/>
          </a:xfrm>
          <a:prstGeom prst="roundRect">
            <a:avLst>
              <a:gd name="adj" fmla="val 8736"/>
            </a:avLst>
          </a:prstGeom>
          <a:solidFill>
            <a:srgbClr val="101725"/>
          </a:solidFill>
          <a:ln w="6350">
            <a:solidFill>
              <a:srgbClr val="1F2A3D"/>
            </a:solidFill>
            <a:prstDash val="solid"/>
          </a:ln>
        </p:spPr>
        <p:txBody>
          <a:bodyPr/>
          <a:lstStyle/>
          <a:p>
            <a:endParaRPr lang="en-US"/>
          </a:p>
        </p:txBody>
      </p:sp>
      <p:sp>
        <p:nvSpPr>
          <p:cNvPr id="19" name="Text 15"/>
          <p:cNvSpPr/>
          <p:nvPr/>
        </p:nvSpPr>
        <p:spPr>
          <a:xfrm>
            <a:off x="1007907" y="3466083"/>
            <a:ext cx="4935101" cy="29973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EF2F8"/>
                </a:solidFill>
                <a:latin typeface="Unbounded" pitchFamily="34" charset="0"/>
                <a:ea typeface="Unbounded" pitchFamily="34" charset="-122"/>
                <a:cs typeface="Unbounded" pitchFamily="34" charset="-120"/>
              </a:rPr>
              <a:t>Aggregate premium</a:t>
            </a:r>
            <a:endParaRPr lang="en-US" sz="1800" dirty="0"/>
          </a:p>
        </p:txBody>
      </p:sp>
      <p:sp>
        <p:nvSpPr>
          <p:cNvPr id="20" name="Text 16"/>
          <p:cNvSpPr/>
          <p:nvPr/>
        </p:nvSpPr>
        <p:spPr>
          <a:xfrm>
            <a:off x="1007907" y="3816567"/>
            <a:ext cx="4935101"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08A2C"/>
                </a:solidFill>
                <a:latin typeface="JetBrains Mono" pitchFamily="49" charset="0"/>
                <a:ea typeface="JetBrains Mono" pitchFamily="49" charset="-122"/>
                <a:cs typeface="JetBrains Mono" pitchFamily="49" charset="-120"/>
              </a:rPr>
              <a:t>κ = P(KRW) ÷ [P(USD) × ₩/$] − 1</a:t>
            </a:r>
            <a:endParaRPr lang="en-US" sz="1300" dirty="0"/>
          </a:p>
        </p:txBody>
      </p:sp>
      <p:sp>
        <p:nvSpPr>
          <p:cNvPr id="21" name="Text 17"/>
          <p:cNvSpPr/>
          <p:nvPr/>
        </p:nvSpPr>
        <p:spPr>
          <a:xfrm>
            <a:off x="1007907" y="4123866"/>
            <a:ext cx="4935101" cy="4520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Measured on bitcoin: Korea's demand for crypto as a whole, priced through the capital control.</a:t>
            </a:r>
            <a:endParaRPr lang="en-US" sz="1200" dirty="0"/>
          </a:p>
        </p:txBody>
      </p:sp>
      <p:sp>
        <p:nvSpPr>
          <p:cNvPr id="22" name="Shape 18"/>
          <p:cNvSpPr/>
          <p:nvPr/>
        </p:nvSpPr>
        <p:spPr>
          <a:xfrm>
            <a:off x="6200749" y="3299558"/>
            <a:ext cx="5175275" cy="1417472"/>
          </a:xfrm>
          <a:prstGeom prst="roundRect">
            <a:avLst>
              <a:gd name="adj" fmla="val 8736"/>
            </a:avLst>
          </a:prstGeom>
          <a:solidFill>
            <a:srgbClr val="101725"/>
          </a:solidFill>
          <a:ln w="6350">
            <a:solidFill>
              <a:srgbClr val="1F2A3D"/>
            </a:solidFill>
            <a:prstDash val="solid"/>
          </a:ln>
        </p:spPr>
        <p:txBody>
          <a:bodyPr/>
          <a:lstStyle/>
          <a:p>
            <a:endParaRPr lang="en-US"/>
          </a:p>
        </p:txBody>
      </p:sp>
      <p:sp>
        <p:nvSpPr>
          <p:cNvPr id="23" name="Text 19"/>
          <p:cNvSpPr/>
          <p:nvPr/>
        </p:nvSpPr>
        <p:spPr>
          <a:xfrm>
            <a:off x="6392707" y="3466083"/>
            <a:ext cx="4935101" cy="29973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EEF2F8"/>
                </a:solidFill>
                <a:latin typeface="Unbounded" pitchFamily="34" charset="0"/>
                <a:ea typeface="Unbounded" pitchFamily="34" charset="-122"/>
                <a:cs typeface="Unbounded" pitchFamily="34" charset="-120"/>
              </a:rPr>
              <a:t>Coin premium</a:t>
            </a:r>
            <a:endParaRPr lang="en-US" sz="1800" dirty="0"/>
          </a:p>
        </p:txBody>
      </p:sp>
      <p:sp>
        <p:nvSpPr>
          <p:cNvPr id="24" name="Text 20"/>
          <p:cNvSpPr/>
          <p:nvPr/>
        </p:nvSpPr>
        <p:spPr>
          <a:xfrm>
            <a:off x="6392707" y="3816567"/>
            <a:ext cx="4935101" cy="256545"/>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08A2C"/>
                </a:solidFill>
                <a:latin typeface="JetBrains Mono" pitchFamily="49" charset="0"/>
                <a:ea typeface="JetBrains Mono" pitchFamily="49" charset="-122"/>
                <a:cs typeface="JetBrains Mono" pitchFamily="49" charset="-120"/>
              </a:rPr>
              <a:t>π(i) = premium(i) − median premium</a:t>
            </a:r>
            <a:endParaRPr lang="en-US" sz="1300" dirty="0"/>
          </a:p>
        </p:txBody>
      </p:sp>
      <p:sp>
        <p:nvSpPr>
          <p:cNvPr id="25" name="Text 21"/>
          <p:cNvSpPr/>
          <p:nvPr/>
        </p:nvSpPr>
        <p:spPr>
          <a:xfrm>
            <a:off x="6392707" y="4123866"/>
            <a:ext cx="4935101" cy="4520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The exchange rate cancels. What is left is Korean demand for one coin, beyond the market.</a:t>
            </a:r>
            <a:endParaRPr lang="en-US" sz="1200" dirty="0"/>
          </a:p>
        </p:txBody>
      </p:sp>
      <p:sp>
        <p:nvSpPr>
          <p:cNvPr id="27" name="Shape 23"/>
          <p:cNvSpPr/>
          <p:nvPr/>
        </p:nvSpPr>
        <p:spPr>
          <a:xfrm>
            <a:off x="0" y="6248367"/>
            <a:ext cx="12191973" cy="609599"/>
          </a:xfrm>
          <a:prstGeom prst="rect">
            <a:avLst/>
          </a:prstGeom>
          <a:solidFill>
            <a:srgbClr val="060910"/>
          </a:solidFill>
          <a:ln/>
        </p:spPr>
        <p:txBody>
          <a:bodyPr/>
          <a:lstStyle/>
          <a:p>
            <a:endParaRPr lang="en-US"/>
          </a:p>
        </p:txBody>
      </p:sp>
      <p:sp>
        <p:nvSpPr>
          <p:cNvPr id="28" name="Shape 24"/>
          <p:cNvSpPr/>
          <p:nvPr/>
        </p:nvSpPr>
        <p:spPr>
          <a:xfrm>
            <a:off x="0" y="6251542"/>
            <a:ext cx="12191973" cy="0"/>
          </a:xfrm>
          <a:prstGeom prst="line">
            <a:avLst/>
          </a:prstGeom>
          <a:noFill/>
          <a:ln w="6350">
            <a:solidFill>
              <a:srgbClr val="1F2A3D"/>
            </a:solidFill>
            <a:prstDash val="solid"/>
          </a:ln>
        </p:spPr>
        <p:txBody>
          <a:bodyPr/>
          <a:lstStyle/>
          <a:p>
            <a:endParaRPr lang="en-US"/>
          </a:p>
        </p:txBody>
      </p:sp>
      <p:sp>
        <p:nvSpPr>
          <p:cNvPr id="35" name="Text 31"/>
          <p:cNvSpPr/>
          <p:nvPr/>
        </p:nvSpPr>
        <p:spPr>
          <a:xfrm>
            <a:off x="10739168" y="6448789"/>
            <a:ext cx="7680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03 / 08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15949" y="663567"/>
            <a:ext cx="2729272" cy="292327"/>
          </a:xfrm>
          <a:prstGeom prst="roundRect">
            <a:avLst>
              <a:gd name="adj" fmla="val 50000"/>
            </a:avLst>
          </a:prstGeom>
          <a:solidFill>
            <a:srgbClr val="DF7410">
              <a:alpha val="10000"/>
            </a:srgbClr>
          </a:solidFill>
          <a:ln w="6350">
            <a:solidFill>
              <a:srgbClr val="DF7410">
                <a:alpha val="45000"/>
              </a:srgbClr>
            </a:solidFill>
            <a:prstDash val="solid"/>
          </a:ln>
        </p:spPr>
        <p:txBody>
          <a:bodyPr/>
          <a:lstStyle/>
          <a:p>
            <a:endParaRPr lang="en-US"/>
          </a:p>
        </p:txBody>
      </p:sp>
      <p:sp>
        <p:nvSpPr>
          <p:cNvPr id="3" name="Shape 1"/>
          <p:cNvSpPr/>
          <p:nvPr/>
        </p:nvSpPr>
        <p:spPr>
          <a:xfrm>
            <a:off x="931679" y="771616"/>
            <a:ext cx="76155" cy="76155"/>
          </a:xfrm>
          <a:prstGeom prst="roundRect">
            <a:avLst>
              <a:gd name="adj" fmla="val 50000"/>
            </a:avLst>
          </a:prstGeom>
          <a:solidFill>
            <a:srgbClr val="DF7410"/>
          </a:solidFill>
          <a:ln/>
          <a:effectLst>
            <a:outerShdw blurRad="76200" dir="60000" algn="bl" rotWithShape="0">
              <a:srgbClr val="DF7410">
                <a:alpha val="90000"/>
              </a:srgbClr>
            </a:outerShdw>
          </a:effectLst>
        </p:spPr>
        <p:txBody>
          <a:bodyPr/>
          <a:lstStyle/>
          <a:p>
            <a:endParaRPr lang="en-US"/>
          </a:p>
        </p:txBody>
      </p:sp>
      <p:sp>
        <p:nvSpPr>
          <p:cNvPr id="4" name="Text 2"/>
          <p:cNvSpPr/>
          <p:nvPr/>
        </p:nvSpPr>
        <p:spPr>
          <a:xfrm>
            <a:off x="1083989" y="703070"/>
            <a:ext cx="2458057"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08A2C"/>
                </a:solidFill>
                <a:latin typeface="JetBrains Mono" pitchFamily="49" charset="0"/>
                <a:ea typeface="JetBrains Mono" pitchFamily="49" charset="-122"/>
                <a:cs typeface="JetBrains Mono" pitchFamily="49" charset="-120"/>
              </a:rPr>
              <a:t>STRATEGY 2 · THE RULE</a:t>
            </a:r>
            <a:endParaRPr lang="en-US" sz="1200" dirty="0"/>
          </a:p>
        </p:txBody>
      </p:sp>
      <p:sp>
        <p:nvSpPr>
          <p:cNvPr id="5" name="Text 3"/>
          <p:cNvSpPr>
            <a:spLocks noGrp="1"/>
          </p:cNvSpPr>
          <p:nvPr>
            <p:ph type="title"/>
          </p:nvPr>
        </p:nvSpPr>
        <p:spPr>
          <a:xfrm>
            <a:off x="812774" y="1073336"/>
            <a:ext cx="10883418" cy="416534"/>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EEF2F8"/>
                </a:solidFill>
                <a:latin typeface="Unbounded" pitchFamily="34" charset="0"/>
                <a:ea typeface="Unbounded" pitchFamily="34" charset="-122"/>
                <a:cs typeface="Unbounded" pitchFamily="34" charset="-120"/>
              </a:rPr>
              <a:t>Short the coins Seoul overpays for</a:t>
            </a:r>
            <a:endParaRPr lang="en-US" sz="2800" dirty="0"/>
          </a:p>
        </p:txBody>
      </p:sp>
      <p:sp>
        <p:nvSpPr>
          <p:cNvPr id="6" name="Shape 4"/>
          <p:cNvSpPr/>
          <p:nvPr/>
        </p:nvSpPr>
        <p:spPr>
          <a:xfrm>
            <a:off x="815949" y="1670820"/>
            <a:ext cx="4692624" cy="872724"/>
          </a:xfrm>
          <a:prstGeom prst="roundRect">
            <a:avLst>
              <a:gd name="adj" fmla="val 11278"/>
            </a:avLst>
          </a:prstGeom>
          <a:solidFill>
            <a:srgbClr val="101725"/>
          </a:solidFill>
          <a:ln w="6350">
            <a:solidFill>
              <a:srgbClr val="1F2A3D"/>
            </a:solidFill>
            <a:prstDash val="solid"/>
          </a:ln>
        </p:spPr>
        <p:txBody>
          <a:bodyPr/>
          <a:lstStyle/>
          <a:p>
            <a:endParaRPr lang="en-US"/>
          </a:p>
        </p:txBody>
      </p:sp>
      <p:sp>
        <p:nvSpPr>
          <p:cNvPr id="7" name="Text 5"/>
          <p:cNvSpPr/>
          <p:nvPr/>
        </p:nvSpPr>
        <p:spPr>
          <a:xfrm>
            <a:off x="969793" y="1992843"/>
            <a:ext cx="457151" cy="254009"/>
          </a:xfrm>
          <a:prstGeom prst="rect">
            <a:avLst/>
          </a:prstGeom>
          <a:noFill/>
          <a:ln/>
        </p:spPr>
        <p:txBody>
          <a:bodyPr wrap="square" lIns="0" tIns="0" rIns="0" bIns="0" rtlCol="0" anchor="t">
            <a:normAutofit/>
          </a:bodyPr>
          <a:lstStyle/>
          <a:p>
            <a:pPr marL="0" indent="0" algn="l">
              <a:lnSpc>
                <a:spcPts val="1800"/>
              </a:lnSpc>
              <a:buNone/>
            </a:pPr>
            <a:r>
              <a:rPr lang="en-US" sz="1800" b="1" dirty="0">
                <a:solidFill>
                  <a:srgbClr val="F08A2C"/>
                </a:solidFill>
                <a:latin typeface="JetBrains Mono" pitchFamily="49" charset="0"/>
                <a:ea typeface="JetBrains Mono" pitchFamily="49" charset="-122"/>
                <a:cs typeface="JetBrains Mono" pitchFamily="49" charset="-120"/>
              </a:rPr>
              <a:t>01</a:t>
            </a:r>
            <a:endParaRPr lang="en-US" sz="1800" dirty="0"/>
          </a:p>
        </p:txBody>
      </p:sp>
      <p:sp>
        <p:nvSpPr>
          <p:cNvPr id="8" name="Text 6"/>
          <p:cNvSpPr/>
          <p:nvPr/>
        </p:nvSpPr>
        <p:spPr>
          <a:xfrm>
            <a:off x="1503092" y="1773872"/>
            <a:ext cx="3967187" cy="240024"/>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EEF2F8"/>
                </a:solidFill>
                <a:latin typeface="Manrope" pitchFamily="34" charset="0"/>
                <a:ea typeface="Manrope" pitchFamily="34" charset="-122"/>
                <a:cs typeface="Manrope" pitchFamily="34" charset="-120"/>
              </a:rPr>
              <a:t>Measure π</a:t>
            </a:r>
            <a:endParaRPr lang="en-US" sz="1300" dirty="0"/>
          </a:p>
        </p:txBody>
      </p:sp>
      <p:sp>
        <p:nvSpPr>
          <p:cNvPr id="9" name="Text 7"/>
          <p:cNvSpPr/>
          <p:nvPr/>
        </p:nvSpPr>
        <p:spPr>
          <a:xfrm>
            <a:off x="1503092" y="2013855"/>
            <a:ext cx="3967187" cy="4520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Upbit vs Binance price, minus the median coin's premium; 7-day mean</a:t>
            </a:r>
            <a:endParaRPr lang="en-US" sz="1200" dirty="0"/>
          </a:p>
        </p:txBody>
      </p:sp>
      <p:sp>
        <p:nvSpPr>
          <p:cNvPr id="10" name="Shape 8"/>
          <p:cNvSpPr/>
          <p:nvPr/>
        </p:nvSpPr>
        <p:spPr>
          <a:xfrm>
            <a:off x="815949" y="2626051"/>
            <a:ext cx="4692624" cy="872724"/>
          </a:xfrm>
          <a:prstGeom prst="roundRect">
            <a:avLst>
              <a:gd name="adj" fmla="val 11278"/>
            </a:avLst>
          </a:prstGeom>
          <a:solidFill>
            <a:srgbClr val="101725"/>
          </a:solidFill>
          <a:ln w="6350">
            <a:solidFill>
              <a:srgbClr val="1F2A3D"/>
            </a:solidFill>
            <a:prstDash val="solid"/>
          </a:ln>
        </p:spPr>
        <p:txBody>
          <a:bodyPr/>
          <a:lstStyle/>
          <a:p>
            <a:endParaRPr lang="en-US"/>
          </a:p>
        </p:txBody>
      </p:sp>
      <p:sp>
        <p:nvSpPr>
          <p:cNvPr id="11" name="Text 9"/>
          <p:cNvSpPr/>
          <p:nvPr/>
        </p:nvSpPr>
        <p:spPr>
          <a:xfrm>
            <a:off x="969793" y="2948071"/>
            <a:ext cx="457151" cy="254009"/>
          </a:xfrm>
          <a:prstGeom prst="rect">
            <a:avLst/>
          </a:prstGeom>
          <a:noFill/>
          <a:ln/>
        </p:spPr>
        <p:txBody>
          <a:bodyPr wrap="square" lIns="0" tIns="0" rIns="0" bIns="0" rtlCol="0" anchor="t">
            <a:normAutofit/>
          </a:bodyPr>
          <a:lstStyle/>
          <a:p>
            <a:pPr marL="0" indent="0" algn="l">
              <a:lnSpc>
                <a:spcPts val="1800"/>
              </a:lnSpc>
              <a:buNone/>
            </a:pPr>
            <a:r>
              <a:rPr lang="en-US" sz="1800" b="1" dirty="0">
                <a:solidFill>
                  <a:srgbClr val="F08A2C"/>
                </a:solidFill>
                <a:latin typeface="JetBrains Mono" pitchFamily="49" charset="0"/>
                <a:ea typeface="JetBrains Mono" pitchFamily="49" charset="-122"/>
                <a:cs typeface="JetBrains Mono" pitchFamily="49" charset="-120"/>
              </a:rPr>
              <a:t>02</a:t>
            </a:r>
            <a:endParaRPr lang="en-US" sz="1800" dirty="0"/>
          </a:p>
        </p:txBody>
      </p:sp>
      <p:sp>
        <p:nvSpPr>
          <p:cNvPr id="12" name="Text 10"/>
          <p:cNvSpPr/>
          <p:nvPr/>
        </p:nvSpPr>
        <p:spPr>
          <a:xfrm>
            <a:off x="1503092" y="2729100"/>
            <a:ext cx="3967187" cy="240024"/>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EEF2F8"/>
                </a:solidFill>
                <a:latin typeface="Manrope" pitchFamily="34" charset="0"/>
                <a:ea typeface="Manrope" pitchFamily="34" charset="-122"/>
                <a:cs typeface="Manrope" pitchFamily="34" charset="-120"/>
              </a:rPr>
              <a:t>Filter</a:t>
            </a:r>
            <a:endParaRPr lang="en-US" sz="1300" dirty="0"/>
          </a:p>
        </p:txBody>
      </p:sp>
      <p:sp>
        <p:nvSpPr>
          <p:cNvPr id="13" name="Text 11"/>
          <p:cNvSpPr/>
          <p:nvPr/>
        </p:nvSpPr>
        <p:spPr>
          <a:xfrm>
            <a:off x="1503092" y="2969084"/>
            <a:ext cx="3967187" cy="4520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69 coins a week with a Binance perp and enough volume; drop |π| above 10%</a:t>
            </a:r>
            <a:endParaRPr lang="en-US" sz="1200" dirty="0"/>
          </a:p>
        </p:txBody>
      </p:sp>
      <p:sp>
        <p:nvSpPr>
          <p:cNvPr id="14" name="Shape 12"/>
          <p:cNvSpPr/>
          <p:nvPr/>
        </p:nvSpPr>
        <p:spPr>
          <a:xfrm>
            <a:off x="815949" y="3581279"/>
            <a:ext cx="4692624" cy="659404"/>
          </a:xfrm>
          <a:prstGeom prst="roundRect">
            <a:avLst>
              <a:gd name="adj" fmla="val 14926"/>
            </a:avLst>
          </a:prstGeom>
          <a:solidFill>
            <a:srgbClr val="101725"/>
          </a:solidFill>
          <a:ln w="6350">
            <a:solidFill>
              <a:srgbClr val="1F2A3D"/>
            </a:solidFill>
            <a:prstDash val="solid"/>
          </a:ln>
        </p:spPr>
        <p:txBody>
          <a:bodyPr/>
          <a:lstStyle/>
          <a:p>
            <a:endParaRPr lang="en-US"/>
          </a:p>
        </p:txBody>
      </p:sp>
      <p:sp>
        <p:nvSpPr>
          <p:cNvPr id="15" name="Text 13"/>
          <p:cNvSpPr/>
          <p:nvPr/>
        </p:nvSpPr>
        <p:spPr>
          <a:xfrm>
            <a:off x="969793" y="3796640"/>
            <a:ext cx="457151" cy="254009"/>
          </a:xfrm>
          <a:prstGeom prst="rect">
            <a:avLst/>
          </a:prstGeom>
          <a:noFill/>
          <a:ln/>
        </p:spPr>
        <p:txBody>
          <a:bodyPr wrap="square" lIns="0" tIns="0" rIns="0" bIns="0" rtlCol="0" anchor="t">
            <a:normAutofit/>
          </a:bodyPr>
          <a:lstStyle/>
          <a:p>
            <a:pPr marL="0" indent="0" algn="l">
              <a:lnSpc>
                <a:spcPts val="1800"/>
              </a:lnSpc>
              <a:buNone/>
            </a:pPr>
            <a:r>
              <a:rPr lang="en-US" sz="1800" b="1" dirty="0">
                <a:solidFill>
                  <a:srgbClr val="F08A2C"/>
                </a:solidFill>
                <a:latin typeface="JetBrains Mono" pitchFamily="49" charset="0"/>
                <a:ea typeface="JetBrains Mono" pitchFamily="49" charset="-122"/>
                <a:cs typeface="JetBrains Mono" pitchFamily="49" charset="-120"/>
              </a:rPr>
              <a:t>03</a:t>
            </a:r>
            <a:endParaRPr lang="en-US" sz="1800" dirty="0"/>
          </a:p>
        </p:txBody>
      </p:sp>
      <p:sp>
        <p:nvSpPr>
          <p:cNvPr id="16" name="Text 14"/>
          <p:cNvSpPr/>
          <p:nvPr/>
        </p:nvSpPr>
        <p:spPr>
          <a:xfrm>
            <a:off x="1503092" y="3684329"/>
            <a:ext cx="3967187" cy="240024"/>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EEF2F8"/>
                </a:solidFill>
                <a:latin typeface="Manrope" pitchFamily="34" charset="0"/>
                <a:ea typeface="Manrope" pitchFamily="34" charset="-122"/>
                <a:cs typeface="Manrope" pitchFamily="34" charset="-120"/>
              </a:rPr>
              <a:t>Rank</a:t>
            </a:r>
            <a:endParaRPr lang="en-US" sz="1300" dirty="0"/>
          </a:p>
        </p:txBody>
      </p:sp>
      <p:sp>
        <p:nvSpPr>
          <p:cNvPr id="17" name="Text 15"/>
          <p:cNvSpPr/>
          <p:nvPr/>
        </p:nvSpPr>
        <p:spPr>
          <a:xfrm>
            <a:off x="1503092" y="3924314"/>
            <a:ext cx="400230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Short the top fifth by π, long the bottom fifth, $1 a side</a:t>
            </a:r>
            <a:endParaRPr lang="en-US" sz="1200" dirty="0"/>
          </a:p>
        </p:txBody>
      </p:sp>
      <p:sp>
        <p:nvSpPr>
          <p:cNvPr id="18" name="Shape 16"/>
          <p:cNvSpPr/>
          <p:nvPr/>
        </p:nvSpPr>
        <p:spPr>
          <a:xfrm>
            <a:off x="815949" y="4323187"/>
            <a:ext cx="4692624" cy="872724"/>
          </a:xfrm>
          <a:prstGeom prst="roundRect">
            <a:avLst>
              <a:gd name="adj" fmla="val 11278"/>
            </a:avLst>
          </a:prstGeom>
          <a:solidFill>
            <a:srgbClr val="101725"/>
          </a:solidFill>
          <a:ln w="6350">
            <a:solidFill>
              <a:srgbClr val="1F2A3D"/>
            </a:solidFill>
            <a:prstDash val="solid"/>
          </a:ln>
        </p:spPr>
        <p:txBody>
          <a:bodyPr/>
          <a:lstStyle/>
          <a:p>
            <a:endParaRPr lang="en-US"/>
          </a:p>
        </p:txBody>
      </p:sp>
      <p:sp>
        <p:nvSpPr>
          <p:cNvPr id="19" name="Text 17"/>
          <p:cNvSpPr/>
          <p:nvPr/>
        </p:nvSpPr>
        <p:spPr>
          <a:xfrm>
            <a:off x="969793" y="4645209"/>
            <a:ext cx="457151" cy="254009"/>
          </a:xfrm>
          <a:prstGeom prst="rect">
            <a:avLst/>
          </a:prstGeom>
          <a:noFill/>
          <a:ln/>
        </p:spPr>
        <p:txBody>
          <a:bodyPr wrap="square" lIns="0" tIns="0" rIns="0" bIns="0" rtlCol="0" anchor="t">
            <a:normAutofit/>
          </a:bodyPr>
          <a:lstStyle/>
          <a:p>
            <a:pPr marL="0" indent="0" algn="l">
              <a:lnSpc>
                <a:spcPts val="1800"/>
              </a:lnSpc>
              <a:buNone/>
            </a:pPr>
            <a:r>
              <a:rPr lang="en-US" sz="1800" b="1" dirty="0">
                <a:solidFill>
                  <a:srgbClr val="F08A2C"/>
                </a:solidFill>
                <a:latin typeface="JetBrains Mono" pitchFamily="49" charset="0"/>
                <a:ea typeface="JetBrains Mono" pitchFamily="49" charset="-122"/>
                <a:cs typeface="JetBrains Mono" pitchFamily="49" charset="-120"/>
              </a:rPr>
              <a:t>04</a:t>
            </a:r>
            <a:endParaRPr lang="en-US" sz="1800" dirty="0"/>
          </a:p>
        </p:txBody>
      </p:sp>
      <p:sp>
        <p:nvSpPr>
          <p:cNvPr id="20" name="Text 18"/>
          <p:cNvSpPr/>
          <p:nvPr/>
        </p:nvSpPr>
        <p:spPr>
          <a:xfrm>
            <a:off x="1503092" y="4426238"/>
            <a:ext cx="3967187" cy="240024"/>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EEF2F8"/>
                </a:solidFill>
                <a:latin typeface="Manrope" pitchFamily="34" charset="0"/>
                <a:ea typeface="Manrope" pitchFamily="34" charset="-122"/>
                <a:cs typeface="Manrope" pitchFamily="34" charset="-120"/>
              </a:rPr>
              <a:t>Hold</a:t>
            </a:r>
            <a:endParaRPr lang="en-US" sz="1300" dirty="0"/>
          </a:p>
        </p:txBody>
      </p:sp>
      <p:sp>
        <p:nvSpPr>
          <p:cNvPr id="21" name="Text 19"/>
          <p:cNvSpPr/>
          <p:nvPr/>
        </p:nvSpPr>
        <p:spPr>
          <a:xfrm>
            <a:off x="1503092" y="4666222"/>
            <a:ext cx="3967187" cy="4520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We will conduct a rebalance on Monday 00:00 UTC on Binance. Execution cost is set to 10bps.</a:t>
            </a:r>
            <a:endParaRPr lang="en-US" sz="1200" dirty="0"/>
          </a:p>
        </p:txBody>
      </p:sp>
      <p:sp>
        <p:nvSpPr>
          <p:cNvPr id="22" name="Shape 20"/>
          <p:cNvSpPr/>
          <p:nvPr/>
        </p:nvSpPr>
        <p:spPr>
          <a:xfrm>
            <a:off x="5768893" y="1670820"/>
            <a:ext cx="1257482" cy="266966"/>
          </a:xfrm>
          <a:prstGeom prst="roundRect">
            <a:avLst>
              <a:gd name="adj" fmla="val 50000"/>
            </a:avLst>
          </a:prstGeom>
          <a:solidFill>
            <a:srgbClr val="22C55E">
              <a:alpha val="10000"/>
            </a:srgbClr>
          </a:solidFill>
          <a:ln w="6350">
            <a:solidFill>
              <a:srgbClr val="22C55E">
                <a:alpha val="45000"/>
              </a:srgbClr>
            </a:solidFill>
            <a:prstDash val="solid"/>
          </a:ln>
        </p:spPr>
        <p:txBody>
          <a:bodyPr/>
          <a:lstStyle/>
          <a:p>
            <a:endParaRPr lang="en-US"/>
          </a:p>
        </p:txBody>
      </p:sp>
      <p:sp>
        <p:nvSpPr>
          <p:cNvPr id="23" name="Shape 21"/>
          <p:cNvSpPr/>
          <p:nvPr/>
        </p:nvSpPr>
        <p:spPr>
          <a:xfrm>
            <a:off x="5859190" y="1772566"/>
            <a:ext cx="63474" cy="63474"/>
          </a:xfrm>
          <a:prstGeom prst="roundRect">
            <a:avLst>
              <a:gd name="adj" fmla="val 50000"/>
            </a:avLst>
          </a:prstGeom>
          <a:solidFill>
            <a:srgbClr val="22C55E"/>
          </a:solidFill>
          <a:ln/>
          <a:effectLst>
            <a:outerShdw blurRad="63500" dir="60000" algn="bl" rotWithShape="0">
              <a:srgbClr val="22C55E">
                <a:alpha val="90000"/>
              </a:srgbClr>
            </a:outerShdw>
          </a:effectLst>
        </p:spPr>
        <p:txBody>
          <a:bodyPr/>
          <a:lstStyle/>
          <a:p>
            <a:endParaRPr lang="en-US"/>
          </a:p>
        </p:txBody>
      </p:sp>
      <p:sp>
        <p:nvSpPr>
          <p:cNvPr id="24" name="Text 22"/>
          <p:cNvSpPr/>
          <p:nvPr/>
        </p:nvSpPr>
        <p:spPr>
          <a:xfrm>
            <a:off x="5986138" y="1697644"/>
            <a:ext cx="103706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22C55E"/>
                </a:solidFill>
                <a:latin typeface="JetBrains Mono" pitchFamily="49" charset="0"/>
                <a:ea typeface="JetBrains Mono" pitchFamily="49" charset="-122"/>
                <a:cs typeface="JetBrains Mono" pitchFamily="49" charset="-120"/>
              </a:rPr>
              <a:t>Example</a:t>
            </a:r>
            <a:endParaRPr lang="en-US" sz="1200" dirty="0"/>
          </a:p>
        </p:txBody>
      </p:sp>
      <p:sp>
        <p:nvSpPr>
          <p:cNvPr id="25" name="Text 23"/>
          <p:cNvSpPr/>
          <p:nvPr/>
        </p:nvSpPr>
        <p:spPr>
          <a:xfrm>
            <a:off x="7131138" y="1688731"/>
            <a:ext cx="2961897" cy="256545"/>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EF2F8"/>
                </a:solidFill>
                <a:latin typeface="Manrope" pitchFamily="34" charset="0"/>
                <a:ea typeface="Manrope" pitchFamily="34" charset="-122"/>
                <a:cs typeface="Manrope" pitchFamily="34" charset="-120"/>
              </a:rPr>
              <a:t>21 Sep 2026 · 105 coins, 21 a leg</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774993" y="2039072"/>
          <a:ext cx="5604062" cy="2963286"/>
        </p:xfrm>
        <a:graphic>
          <a:graphicData uri="http://schemas.openxmlformats.org/drawingml/2006/table">
            <a:tbl>
              <a:tblPr/>
              <a:tblGrid>
                <a:gridCol w="1120812">
                  <a:extLst>
                    <a:ext uri="{9D8B030D-6E8A-4147-A177-3AD203B41FA5}">
                      <a16:colId xmlns:a16="http://schemas.microsoft.com/office/drawing/2014/main" val="20000"/>
                    </a:ext>
                  </a:extLst>
                </a:gridCol>
                <a:gridCol w="784569">
                  <a:extLst>
                    <a:ext uri="{9D8B030D-6E8A-4147-A177-3AD203B41FA5}">
                      <a16:colId xmlns:a16="http://schemas.microsoft.com/office/drawing/2014/main" val="20001"/>
                    </a:ext>
                  </a:extLst>
                </a:gridCol>
                <a:gridCol w="1008731">
                  <a:extLst>
                    <a:ext uri="{9D8B030D-6E8A-4147-A177-3AD203B41FA5}">
                      <a16:colId xmlns:a16="http://schemas.microsoft.com/office/drawing/2014/main" val="20002"/>
                    </a:ext>
                  </a:extLst>
                </a:gridCol>
                <a:gridCol w="1232894">
                  <a:extLst>
                    <a:ext uri="{9D8B030D-6E8A-4147-A177-3AD203B41FA5}">
                      <a16:colId xmlns:a16="http://schemas.microsoft.com/office/drawing/2014/main" val="20003"/>
                    </a:ext>
                  </a:extLst>
                </a:gridCol>
                <a:gridCol w="1457056">
                  <a:extLst>
                    <a:ext uri="{9D8B030D-6E8A-4147-A177-3AD203B41FA5}">
                      <a16:colId xmlns:a16="http://schemas.microsoft.com/office/drawing/2014/main" val="20004"/>
                    </a:ext>
                  </a:extLst>
                </a:gridCol>
              </a:tblGrid>
              <a:tr h="329254">
                <a:tc>
                  <a:txBody>
                    <a:bodyPr/>
                    <a:lstStyle/>
                    <a:p>
                      <a:pPr marL="0" indent="0">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Coin</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Side</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gn="r">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π</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gn="r">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Funding/yr</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gn="r">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Next week</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extLst>
                  <a:ext uri="{0D108BD9-81ED-4DB2-BD59-A6C34878D82A}">
                    <a16:rowId xmlns:a16="http://schemas.microsoft.com/office/drawing/2014/main" val="10000"/>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ZIL</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nSpc>
                          <a:spcPts val="1680"/>
                        </a:lnSpc>
                        <a:buNone/>
                      </a:pPr>
                      <a:r>
                        <a:rPr lang="en-US" sz="1200" dirty="0">
                          <a:solidFill>
                            <a:srgbClr val="38A9E0"/>
                          </a:solidFill>
                          <a:latin typeface="JetBrains Mono" pitchFamily="49" charset="0"/>
                          <a:ea typeface="JetBrains Mono" pitchFamily="49" charset="-122"/>
                          <a:cs typeface="JetBrains Mono" pitchFamily="49" charset="-120"/>
                        </a:rPr>
                        <a:t>LONG</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−697 bp</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−152%</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22C55E"/>
                          </a:solidFill>
                          <a:latin typeface="JetBrains Mono" pitchFamily="49" charset="0"/>
                          <a:ea typeface="JetBrains Mono" pitchFamily="49" charset="-122"/>
                          <a:cs typeface="JetBrains Mono" pitchFamily="49" charset="-120"/>
                        </a:rPr>
                        <a:t>+9.3%</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1"/>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PIEVERSE</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nSpc>
                          <a:spcPts val="1680"/>
                        </a:lnSpc>
                        <a:buNone/>
                      </a:pPr>
                      <a:r>
                        <a:rPr lang="en-US" sz="1200" dirty="0">
                          <a:solidFill>
                            <a:srgbClr val="38A9E0"/>
                          </a:solidFill>
                          <a:latin typeface="JetBrains Mono" pitchFamily="49" charset="0"/>
                          <a:ea typeface="JetBrains Mono" pitchFamily="49" charset="-122"/>
                          <a:cs typeface="JetBrains Mono" pitchFamily="49" charset="-120"/>
                        </a:rPr>
                        <a:t>LONG</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−34 bp</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+35%</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F87171"/>
                          </a:solidFill>
                          <a:latin typeface="JetBrains Mono" pitchFamily="49" charset="0"/>
                          <a:ea typeface="JetBrains Mono" pitchFamily="49" charset="-122"/>
                          <a:cs typeface="JetBrains Mono" pitchFamily="49" charset="-120"/>
                        </a:rPr>
                        <a:t>−6.5%</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2"/>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MINA</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nSpc>
                          <a:spcPts val="1680"/>
                        </a:lnSpc>
                        <a:buNone/>
                      </a:pPr>
                      <a:r>
                        <a:rPr lang="en-US" sz="1200" dirty="0">
                          <a:solidFill>
                            <a:srgbClr val="38A9E0"/>
                          </a:solidFill>
                          <a:latin typeface="JetBrains Mono" pitchFamily="49" charset="0"/>
                          <a:ea typeface="JetBrains Mono" pitchFamily="49" charset="-122"/>
                          <a:cs typeface="JetBrains Mono" pitchFamily="49" charset="-120"/>
                        </a:rPr>
                        <a:t>LONG</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−28 bp</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−40%</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22C55E"/>
                          </a:solidFill>
                          <a:latin typeface="JetBrains Mono" pitchFamily="49" charset="0"/>
                          <a:ea typeface="JetBrains Mono" pitchFamily="49" charset="-122"/>
                          <a:cs typeface="JetBrains Mono" pitchFamily="49" charset="-120"/>
                        </a:rPr>
                        <a:t>+25.5%</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3"/>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BABY</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nSpc>
                          <a:spcPts val="1680"/>
                        </a:lnSpc>
                        <a:buNone/>
                      </a:pPr>
                      <a:r>
                        <a:rPr lang="en-US" sz="1200" dirty="0">
                          <a:solidFill>
                            <a:srgbClr val="38A9E0"/>
                          </a:solidFill>
                          <a:latin typeface="JetBrains Mono" pitchFamily="49" charset="0"/>
                          <a:ea typeface="JetBrains Mono" pitchFamily="49" charset="-122"/>
                          <a:cs typeface="JetBrains Mono" pitchFamily="49" charset="-120"/>
                        </a:rPr>
                        <a:t>LONG</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−25 bp</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+9%</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22C55E"/>
                          </a:solidFill>
                          <a:latin typeface="JetBrains Mono" pitchFamily="49" charset="0"/>
                          <a:ea typeface="JetBrains Mono" pitchFamily="49" charset="-122"/>
                          <a:cs typeface="JetBrains Mono" pitchFamily="49" charset="-120"/>
                        </a:rPr>
                        <a:t>+21.4%</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4"/>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SAND</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nSpc>
                          <a:spcPts val="1680"/>
                        </a:lnSpc>
                        <a:buNone/>
                      </a:pPr>
                      <a:r>
                        <a:rPr lang="en-US" sz="1200" dirty="0">
                          <a:solidFill>
                            <a:srgbClr val="F08A2C"/>
                          </a:solidFill>
                          <a:latin typeface="JetBrains Mono" pitchFamily="49" charset="0"/>
                          <a:ea typeface="JetBrains Mono" pitchFamily="49" charset="-122"/>
                          <a:cs typeface="JetBrains Mono" pitchFamily="49" charset="-120"/>
                        </a:rPr>
                        <a:t>SHORT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+82 bp</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−3%</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gn="r">
                        <a:lnSpc>
                          <a:spcPts val="1680"/>
                        </a:lnSpc>
                        <a:buNone/>
                      </a:pPr>
                      <a:r>
                        <a:rPr lang="en-US" sz="1200" dirty="0">
                          <a:solidFill>
                            <a:srgbClr val="F87171"/>
                          </a:solidFill>
                          <a:latin typeface="JetBrains Mono" pitchFamily="49" charset="0"/>
                          <a:ea typeface="JetBrains Mono" pitchFamily="49" charset="-122"/>
                          <a:cs typeface="JetBrains Mono" pitchFamily="49" charset="-120"/>
                        </a:rPr>
                        <a:t>−12.6%</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extLst>
                  <a:ext uri="{0D108BD9-81ED-4DB2-BD59-A6C34878D82A}">
                    <a16:rowId xmlns:a16="http://schemas.microsoft.com/office/drawing/2014/main" val="10005"/>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INJ</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nSpc>
                          <a:spcPts val="1680"/>
                        </a:lnSpc>
                        <a:buNone/>
                      </a:pPr>
                      <a:r>
                        <a:rPr lang="en-US" sz="1200" dirty="0">
                          <a:solidFill>
                            <a:srgbClr val="F08A2C"/>
                          </a:solidFill>
                          <a:latin typeface="JetBrains Mono" pitchFamily="49" charset="0"/>
                          <a:ea typeface="JetBrains Mono" pitchFamily="49" charset="-122"/>
                          <a:cs typeface="JetBrains Mono" pitchFamily="49" charset="-120"/>
                        </a:rPr>
                        <a:t>SHORT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+104 bp</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+5%</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gn="r">
                        <a:lnSpc>
                          <a:spcPts val="1680"/>
                        </a:lnSpc>
                        <a:buNone/>
                      </a:pPr>
                      <a:r>
                        <a:rPr lang="en-US" sz="1200" dirty="0">
                          <a:solidFill>
                            <a:srgbClr val="F87171"/>
                          </a:solidFill>
                          <a:latin typeface="JetBrains Mono" pitchFamily="49" charset="0"/>
                          <a:ea typeface="JetBrains Mono" pitchFamily="49" charset="-122"/>
                          <a:cs typeface="JetBrains Mono" pitchFamily="49" charset="-120"/>
                        </a:rPr>
                        <a:t>−0.1%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extLst>
                  <a:ext uri="{0D108BD9-81ED-4DB2-BD59-A6C34878D82A}">
                    <a16:rowId xmlns:a16="http://schemas.microsoft.com/office/drawing/2014/main" val="10006"/>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VTHO</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nSpc>
                          <a:spcPts val="1680"/>
                        </a:lnSpc>
                        <a:buNone/>
                      </a:pPr>
                      <a:r>
                        <a:rPr lang="en-US" sz="1200" dirty="0">
                          <a:solidFill>
                            <a:srgbClr val="F08A2C"/>
                          </a:solidFill>
                          <a:latin typeface="JetBrains Mono" pitchFamily="49" charset="0"/>
                          <a:ea typeface="JetBrains Mono" pitchFamily="49" charset="-122"/>
                          <a:cs typeface="JetBrains Mono" pitchFamily="49" charset="-120"/>
                        </a:rPr>
                        <a:t>SHORT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+133 bp</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−267%</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gn="r">
                        <a:lnSpc>
                          <a:spcPts val="1680"/>
                        </a:lnSpc>
                        <a:buNone/>
                      </a:pPr>
                      <a:r>
                        <a:rPr lang="en-US" sz="1200" dirty="0">
                          <a:solidFill>
                            <a:srgbClr val="F87171"/>
                          </a:solidFill>
                          <a:latin typeface="JetBrains Mono" pitchFamily="49" charset="0"/>
                          <a:ea typeface="JetBrains Mono" pitchFamily="49" charset="-122"/>
                          <a:cs typeface="JetBrains Mono" pitchFamily="49" charset="-120"/>
                        </a:rPr>
                        <a:t>−15.5%</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extLst>
                  <a:ext uri="{0D108BD9-81ED-4DB2-BD59-A6C34878D82A}">
                    <a16:rowId xmlns:a16="http://schemas.microsoft.com/office/drawing/2014/main" val="10007"/>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EGLD</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nSpc>
                          <a:spcPts val="1680"/>
                        </a:lnSpc>
                        <a:buNone/>
                      </a:pPr>
                      <a:r>
                        <a:rPr lang="en-US" sz="1200" dirty="0">
                          <a:solidFill>
                            <a:srgbClr val="F08A2C"/>
                          </a:solidFill>
                          <a:latin typeface="JetBrains Mono" pitchFamily="49" charset="0"/>
                          <a:ea typeface="JetBrains Mono" pitchFamily="49" charset="-122"/>
                          <a:cs typeface="JetBrains Mono" pitchFamily="49" charset="-120"/>
                        </a:rPr>
                        <a:t>SHORT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+994 bp</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−7%</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tc>
                  <a:txBody>
                    <a:bodyPr/>
                    <a:lstStyle/>
                    <a:p>
                      <a:pPr marL="0" indent="0" algn="r">
                        <a:lnSpc>
                          <a:spcPts val="1680"/>
                        </a:lnSpc>
                        <a:buNone/>
                      </a:pPr>
                      <a:r>
                        <a:rPr lang="en-US" sz="1200" dirty="0">
                          <a:solidFill>
                            <a:srgbClr val="F87171"/>
                          </a:solidFill>
                          <a:latin typeface="JetBrains Mono" pitchFamily="49" charset="0"/>
                          <a:ea typeface="JetBrains Mono" pitchFamily="49" charset="-122"/>
                          <a:cs typeface="JetBrains Mono" pitchFamily="49" charset="-120"/>
                        </a:rPr>
                        <a:t>−24.9%</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F4A47"/>
                      </a:solidFill>
                      <a:prstDash val="solid"/>
                      <a:round/>
                      <a:headEnd type="none" w="med" len="med"/>
                      <a:tailEnd type="none" w="med" len="med"/>
                    </a:lnL>
                    <a:lnR w="12700" cap="flat" cmpd="sng" algn="ctr">
                      <a:solidFill>
                        <a:srgbClr val="4F4A47"/>
                      </a:solidFill>
                      <a:prstDash val="solid"/>
                      <a:round/>
                      <a:headEnd type="none" w="med" len="med"/>
                      <a:tailEnd type="none" w="med" len="med"/>
                    </a:lnR>
                    <a:lnT w="12700" cap="flat" cmpd="sng" algn="ctr">
                      <a:solidFill>
                        <a:srgbClr val="4F4A47"/>
                      </a:solidFill>
                      <a:prstDash val="solid"/>
                      <a:round/>
                      <a:headEnd type="none" w="med" len="med"/>
                      <a:tailEnd type="none" w="med" len="med"/>
                    </a:lnT>
                    <a:lnB w="12700" cap="flat" cmpd="sng" algn="ctr">
                      <a:solidFill>
                        <a:srgbClr val="4F4A47"/>
                      </a:solidFill>
                      <a:prstDash val="solid"/>
                      <a:round/>
                      <a:headEnd type="none" w="med" len="med"/>
                      <a:tailEnd type="none" w="med" len="med"/>
                    </a:lnB>
                    <a:solidFill>
                      <a:srgbClr val="1F1816"/>
                    </a:solidFill>
                  </a:tcPr>
                </a:tc>
                <a:extLst>
                  <a:ext uri="{0D108BD9-81ED-4DB2-BD59-A6C34878D82A}">
                    <a16:rowId xmlns:a16="http://schemas.microsoft.com/office/drawing/2014/main" val="10008"/>
                  </a:ext>
                </a:extLst>
              </a:tr>
            </a:tbl>
          </a:graphicData>
        </a:graphic>
      </p:graphicFrame>
      <p:sp>
        <p:nvSpPr>
          <p:cNvPr id="27" name="Text 24"/>
          <p:cNvSpPr/>
          <p:nvPr/>
        </p:nvSpPr>
        <p:spPr>
          <a:xfrm>
            <a:off x="5765718" y="5091195"/>
            <a:ext cx="5781885" cy="4520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Four extreme coins per leg. Next week = the position's P&amp;L with funding. Both legs rallied about 14%; the book made +0.42% before costs, +0.12% after.</a:t>
            </a:r>
            <a:endParaRPr lang="en-US" sz="1200" dirty="0"/>
          </a:p>
        </p:txBody>
      </p:sp>
      <p:sp>
        <p:nvSpPr>
          <p:cNvPr id="28" name="Shape 25"/>
          <p:cNvSpPr/>
          <p:nvPr/>
        </p:nvSpPr>
        <p:spPr>
          <a:xfrm>
            <a:off x="0" y="6248366"/>
            <a:ext cx="12191973" cy="609599"/>
          </a:xfrm>
          <a:prstGeom prst="rect">
            <a:avLst/>
          </a:prstGeom>
          <a:solidFill>
            <a:srgbClr val="060910"/>
          </a:solidFill>
          <a:ln/>
        </p:spPr>
        <p:txBody>
          <a:bodyPr/>
          <a:lstStyle/>
          <a:p>
            <a:endParaRPr lang="en-US"/>
          </a:p>
        </p:txBody>
      </p:sp>
      <p:sp>
        <p:nvSpPr>
          <p:cNvPr id="29" name="Shape 26"/>
          <p:cNvSpPr/>
          <p:nvPr/>
        </p:nvSpPr>
        <p:spPr>
          <a:xfrm>
            <a:off x="0" y="6251541"/>
            <a:ext cx="12191973" cy="0"/>
          </a:xfrm>
          <a:prstGeom prst="line">
            <a:avLst/>
          </a:prstGeom>
          <a:noFill/>
          <a:ln w="6350">
            <a:solidFill>
              <a:srgbClr val="1F2A3D"/>
            </a:solidFill>
            <a:prstDash val="solid"/>
          </a:ln>
        </p:spPr>
        <p:txBody>
          <a:bodyPr/>
          <a:lstStyle/>
          <a:p>
            <a:endParaRPr lang="en-US"/>
          </a:p>
        </p:txBody>
      </p:sp>
      <p:sp>
        <p:nvSpPr>
          <p:cNvPr id="36" name="Text 33"/>
          <p:cNvSpPr/>
          <p:nvPr/>
        </p:nvSpPr>
        <p:spPr>
          <a:xfrm>
            <a:off x="10739168" y="6448791"/>
            <a:ext cx="7680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04 / 08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15949" y="663569"/>
            <a:ext cx="2839772" cy="292327"/>
          </a:xfrm>
          <a:prstGeom prst="roundRect">
            <a:avLst>
              <a:gd name="adj" fmla="val 50000"/>
            </a:avLst>
          </a:prstGeom>
          <a:solidFill>
            <a:srgbClr val="DF7410">
              <a:alpha val="10000"/>
            </a:srgbClr>
          </a:solidFill>
          <a:ln w="6350">
            <a:solidFill>
              <a:srgbClr val="DF7410">
                <a:alpha val="45000"/>
              </a:srgbClr>
            </a:solidFill>
            <a:prstDash val="solid"/>
          </a:ln>
        </p:spPr>
        <p:txBody>
          <a:bodyPr/>
          <a:lstStyle/>
          <a:p>
            <a:endParaRPr lang="en-US"/>
          </a:p>
        </p:txBody>
      </p:sp>
      <p:sp>
        <p:nvSpPr>
          <p:cNvPr id="3" name="Shape 1"/>
          <p:cNvSpPr/>
          <p:nvPr/>
        </p:nvSpPr>
        <p:spPr>
          <a:xfrm>
            <a:off x="931679" y="771618"/>
            <a:ext cx="76155" cy="76155"/>
          </a:xfrm>
          <a:prstGeom prst="roundRect">
            <a:avLst>
              <a:gd name="adj" fmla="val 50000"/>
            </a:avLst>
          </a:prstGeom>
          <a:solidFill>
            <a:srgbClr val="DF7410"/>
          </a:solidFill>
          <a:ln/>
          <a:effectLst>
            <a:outerShdw blurRad="76200" dir="60000" algn="bl" rotWithShape="0">
              <a:srgbClr val="DF7410">
                <a:alpha val="90000"/>
              </a:srgbClr>
            </a:outerShdw>
          </a:effectLst>
        </p:spPr>
        <p:txBody>
          <a:bodyPr/>
          <a:lstStyle/>
          <a:p>
            <a:endParaRPr lang="en-US"/>
          </a:p>
        </p:txBody>
      </p:sp>
      <p:sp>
        <p:nvSpPr>
          <p:cNvPr id="4" name="Text 2"/>
          <p:cNvSpPr/>
          <p:nvPr/>
        </p:nvSpPr>
        <p:spPr>
          <a:xfrm>
            <a:off x="1083989" y="703070"/>
            <a:ext cx="2568558"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08A2C"/>
                </a:solidFill>
                <a:latin typeface="JetBrains Mono" pitchFamily="49" charset="0"/>
                <a:ea typeface="JetBrains Mono" pitchFamily="49" charset="-122"/>
                <a:cs typeface="JetBrains Mono" pitchFamily="49" charset="-120"/>
              </a:rPr>
              <a:t>H2 + H4 · SIGNAL TESTS</a:t>
            </a:r>
            <a:endParaRPr lang="en-US" sz="1200" dirty="0"/>
          </a:p>
        </p:txBody>
      </p:sp>
      <p:sp>
        <p:nvSpPr>
          <p:cNvPr id="5" name="Text 3"/>
          <p:cNvSpPr>
            <a:spLocks noGrp="1"/>
          </p:cNvSpPr>
          <p:nvPr>
            <p:ph type="title"/>
          </p:nvPr>
        </p:nvSpPr>
        <p:spPr>
          <a:xfrm>
            <a:off x="812774" y="1073336"/>
            <a:ext cx="10883418" cy="416534"/>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EEF2F8"/>
                </a:solidFill>
                <a:latin typeface="Unbounded" pitchFamily="34" charset="0"/>
                <a:ea typeface="Unbounded" pitchFamily="34" charset="-122"/>
                <a:cs typeface="Unbounded" pitchFamily="34" charset="-120"/>
              </a:rPr>
              <a:t>Hot coins fall back the next week</a:t>
            </a:r>
            <a:endParaRPr lang="en-US" sz="2800" dirty="0"/>
          </a:p>
        </p:txBody>
      </p:sp>
      <p:sp>
        <p:nvSpPr>
          <p:cNvPr id="6" name="Shape 4"/>
          <p:cNvSpPr/>
          <p:nvPr/>
        </p:nvSpPr>
        <p:spPr>
          <a:xfrm>
            <a:off x="815949" y="1670822"/>
            <a:ext cx="3702108" cy="2762458"/>
          </a:xfrm>
          <a:prstGeom prst="roundRect">
            <a:avLst>
              <a:gd name="adj" fmla="val 4482"/>
            </a:avLst>
          </a:prstGeom>
          <a:solidFill>
            <a:srgbClr val="101725"/>
          </a:solidFill>
          <a:ln w="6350">
            <a:solidFill>
              <a:srgbClr val="1F2A3D"/>
            </a:solidFill>
            <a:prstDash val="solid"/>
          </a:ln>
        </p:spPr>
        <p:txBody>
          <a:bodyPr/>
          <a:lstStyle/>
          <a:p>
            <a:endParaRPr lang="en-US"/>
          </a:p>
        </p:txBody>
      </p:sp>
      <p:sp>
        <p:nvSpPr>
          <p:cNvPr id="7" name="Text 5"/>
          <p:cNvSpPr/>
          <p:nvPr/>
        </p:nvSpPr>
        <p:spPr>
          <a:xfrm>
            <a:off x="969793" y="1824667"/>
            <a:ext cx="3496253"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RETURN VS UNIVERSE</a:t>
            </a:r>
            <a:endParaRPr lang="en-US" sz="1200" dirty="0"/>
          </a:p>
        </p:txBody>
      </p:sp>
      <p:pic>
        <p:nvPicPr>
          <p:cNvPr id="8" name="Image 0" descr="Next-week return relative to the universe by local-premium quintile, per year: Q1 (long leg) −4%, Q2 +21%, Q3 +10%, Q4 +5%, Q5 (short leg) −33%"/>
          <p:cNvPicPr>
            <a:picLocks noChangeAspect="1"/>
          </p:cNvPicPr>
          <p:nvPr/>
        </p:nvPicPr>
        <p:blipFill>
          <a:blip r:embed="rId3"/>
          <a:srcRect l="-21" r="-21"/>
          <a:stretch/>
        </p:blipFill>
        <p:spPr>
          <a:xfrm>
            <a:off x="969793" y="2114141"/>
            <a:ext cx="3390870" cy="2158992"/>
          </a:xfrm>
          <a:prstGeom prst="rect">
            <a:avLst/>
          </a:prstGeom>
        </p:spPr>
      </p:pic>
      <p:sp>
        <p:nvSpPr>
          <p:cNvPr id="9" name="Shape 6"/>
          <p:cNvSpPr/>
          <p:nvPr/>
        </p:nvSpPr>
        <p:spPr>
          <a:xfrm>
            <a:off x="4676789" y="1670822"/>
            <a:ext cx="3702108" cy="2762458"/>
          </a:xfrm>
          <a:prstGeom prst="roundRect">
            <a:avLst>
              <a:gd name="adj" fmla="val 4482"/>
            </a:avLst>
          </a:prstGeom>
          <a:solidFill>
            <a:srgbClr val="101725"/>
          </a:solidFill>
          <a:ln w="6350">
            <a:solidFill>
              <a:srgbClr val="1F2A3D"/>
            </a:solidFill>
            <a:prstDash val="solid"/>
          </a:ln>
        </p:spPr>
        <p:txBody>
          <a:bodyPr/>
          <a:lstStyle/>
          <a:p>
            <a:endParaRPr lang="en-US"/>
          </a:p>
        </p:txBody>
      </p:sp>
      <p:sp>
        <p:nvSpPr>
          <p:cNvPr id="10" name="Text 7"/>
          <p:cNvSpPr/>
          <p:nvPr/>
        </p:nvSpPr>
        <p:spPr>
          <a:xfrm>
            <a:off x="4830633" y="1824667"/>
            <a:ext cx="3496253"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WHICH PRICE MOVES</a:t>
            </a:r>
            <a:endParaRPr lang="en-US" sz="1200" dirty="0"/>
          </a:p>
        </p:txBody>
      </p:sp>
      <p:pic>
        <p:nvPicPr>
          <p:cNvPr id="11" name="Image 1" descr="Next-week price change relative to the universe: top quintile Korean price −0.97% and world price −0.79%; bottom quintile Korean price +0.13% and world price −0.01%"/>
          <p:cNvPicPr>
            <a:picLocks noChangeAspect="1"/>
          </p:cNvPicPr>
          <p:nvPr/>
        </p:nvPicPr>
        <p:blipFill>
          <a:blip r:embed="rId4"/>
          <a:srcRect t="-23" b="-23"/>
          <a:stretch/>
        </p:blipFill>
        <p:spPr>
          <a:xfrm>
            <a:off x="4830633" y="2114141"/>
            <a:ext cx="3390870" cy="2165296"/>
          </a:xfrm>
          <a:prstGeom prst="rect">
            <a:avLst/>
          </a:prstGeom>
        </p:spPr>
      </p:pic>
      <p:sp>
        <p:nvSpPr>
          <p:cNvPr id="12" name="Text 8"/>
          <p:cNvSpPr/>
          <p:nvPr/>
        </p:nvSpPr>
        <p:spPr>
          <a:xfrm>
            <a:off x="812774" y="4563402"/>
            <a:ext cx="7796377" cy="487689"/>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4C0D3"/>
                </a:solidFill>
                <a:latin typeface="Manrope" pitchFamily="34" charset="0"/>
                <a:ea typeface="Manrope" pitchFamily="34" charset="-122"/>
                <a:cs typeface="Manrope" pitchFamily="34" charset="-120"/>
              </a:rPr>
              <a:t>Returns fall from Q2 to Q5, and the top fifth falls in Seoul </a:t>
            </a:r>
            <a:r>
              <a:rPr lang="en-US" sz="1300" dirty="0">
                <a:solidFill>
                  <a:srgbClr val="F08A2C"/>
                </a:solidFill>
                <a:latin typeface="Manrope" pitchFamily="34" charset="0"/>
                <a:ea typeface="Manrope" pitchFamily="34" charset="-122"/>
                <a:cs typeface="Manrope" pitchFamily="34" charset="-120"/>
              </a:rPr>
              <a:t>and</a:t>
            </a:r>
            <a:r>
              <a:rPr lang="en-US" sz="1300" dirty="0">
                <a:solidFill>
                  <a:srgbClr val="B4C0D3"/>
                </a:solidFill>
                <a:latin typeface="Manrope" pitchFamily="34" charset="0"/>
                <a:ea typeface="Manrope" pitchFamily="34" charset="-122"/>
                <a:cs typeface="Manrope" pitchFamily="34" charset="-120"/>
              </a:rPr>
              <a:t> on Binance. The bottom fifth does not bounce: the money is in the short leg.</a:t>
            </a:r>
            <a:endParaRPr lang="en-US" sz="1300" dirty="0"/>
          </a:p>
        </p:txBody>
      </p:sp>
      <p:sp>
        <p:nvSpPr>
          <p:cNvPr id="13" name="Shape 9"/>
          <p:cNvSpPr/>
          <p:nvPr/>
        </p:nvSpPr>
        <p:spPr>
          <a:xfrm>
            <a:off x="8588422" y="1670822"/>
            <a:ext cx="2787602" cy="1087276"/>
          </a:xfrm>
          <a:prstGeom prst="roundRect">
            <a:avLst>
              <a:gd name="adj" fmla="val 11389"/>
            </a:avLst>
          </a:prstGeom>
          <a:solidFill>
            <a:srgbClr val="101725"/>
          </a:solidFill>
          <a:ln w="6350">
            <a:solidFill>
              <a:srgbClr val="1F2A3D"/>
            </a:solidFill>
            <a:prstDash val="solid"/>
          </a:ln>
        </p:spPr>
        <p:txBody>
          <a:bodyPr/>
          <a:lstStyle/>
          <a:p>
            <a:endParaRPr lang="en-US"/>
          </a:p>
        </p:txBody>
      </p:sp>
      <p:sp>
        <p:nvSpPr>
          <p:cNvPr id="14" name="Text 10"/>
          <p:cNvSpPr/>
          <p:nvPr/>
        </p:nvSpPr>
        <p:spPr>
          <a:xfrm>
            <a:off x="8742266" y="1786551"/>
            <a:ext cx="2554311" cy="416534"/>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EEF2F8"/>
                </a:solidFill>
                <a:latin typeface="JetBrains Mono" pitchFamily="49" charset="0"/>
                <a:ea typeface="JetBrains Mono" pitchFamily="49" charset="-122"/>
                <a:cs typeface="JetBrains Mono" pitchFamily="49" charset="-120"/>
              </a:rPr>
              <a:t>−1.9%</a:t>
            </a:r>
            <a:endParaRPr lang="en-US" sz="2800" dirty="0"/>
          </a:p>
        </p:txBody>
      </p:sp>
      <p:sp>
        <p:nvSpPr>
          <p:cNvPr id="15" name="Text 11"/>
          <p:cNvSpPr/>
          <p:nvPr/>
        </p:nvSpPr>
        <p:spPr>
          <a:xfrm>
            <a:off x="8742266" y="2215728"/>
            <a:ext cx="2554311" cy="4520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next-week return per point of premium (t = −2.7)</a:t>
            </a:r>
            <a:endParaRPr lang="en-US" sz="1200" dirty="0"/>
          </a:p>
        </p:txBody>
      </p:sp>
      <p:sp>
        <p:nvSpPr>
          <p:cNvPr id="16" name="Shape 12"/>
          <p:cNvSpPr/>
          <p:nvPr/>
        </p:nvSpPr>
        <p:spPr>
          <a:xfrm>
            <a:off x="8588422" y="2866036"/>
            <a:ext cx="2787602" cy="1087276"/>
          </a:xfrm>
          <a:prstGeom prst="roundRect">
            <a:avLst>
              <a:gd name="adj" fmla="val 11389"/>
            </a:avLst>
          </a:prstGeom>
          <a:solidFill>
            <a:srgbClr val="101725"/>
          </a:solidFill>
          <a:ln w="6350">
            <a:solidFill>
              <a:srgbClr val="1F2A3D"/>
            </a:solidFill>
            <a:prstDash val="solid"/>
          </a:ln>
        </p:spPr>
        <p:txBody>
          <a:bodyPr/>
          <a:lstStyle/>
          <a:p>
            <a:endParaRPr lang="en-US"/>
          </a:p>
        </p:txBody>
      </p:sp>
      <p:sp>
        <p:nvSpPr>
          <p:cNvPr id="17" name="Text 13"/>
          <p:cNvSpPr/>
          <p:nvPr/>
        </p:nvSpPr>
        <p:spPr>
          <a:xfrm>
            <a:off x="8742266" y="2981765"/>
            <a:ext cx="2554311" cy="416534"/>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EEF2F8"/>
                </a:solidFill>
                <a:latin typeface="JetBrains Mono" pitchFamily="49" charset="0"/>
                <a:ea typeface="JetBrains Mono" pitchFamily="49" charset="-122"/>
                <a:cs typeface="JetBrains Mono" pitchFamily="49" charset="-120"/>
              </a:rPr>
              <a:t>18 of 30 bp</a:t>
            </a:r>
            <a:endParaRPr lang="en-US" sz="2800" dirty="0"/>
          </a:p>
        </p:txBody>
      </p:sp>
      <p:sp>
        <p:nvSpPr>
          <p:cNvPr id="18" name="Text 14"/>
          <p:cNvSpPr/>
          <p:nvPr/>
        </p:nvSpPr>
        <p:spPr>
          <a:xfrm>
            <a:off x="8742266" y="3410942"/>
            <a:ext cx="2554311" cy="4520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of the top fifth's premium closes in a week (t = −4.7)</a:t>
            </a:r>
            <a:endParaRPr lang="en-US" sz="1200" dirty="0"/>
          </a:p>
        </p:txBody>
      </p:sp>
      <p:sp>
        <p:nvSpPr>
          <p:cNvPr id="19" name="Shape 15"/>
          <p:cNvSpPr/>
          <p:nvPr/>
        </p:nvSpPr>
        <p:spPr>
          <a:xfrm>
            <a:off x="8588422" y="4061250"/>
            <a:ext cx="2787602" cy="1087276"/>
          </a:xfrm>
          <a:prstGeom prst="roundRect">
            <a:avLst>
              <a:gd name="adj" fmla="val 11389"/>
            </a:avLst>
          </a:prstGeom>
          <a:solidFill>
            <a:srgbClr val="101725"/>
          </a:solidFill>
          <a:ln w="6350">
            <a:solidFill>
              <a:srgbClr val="1F2A3D"/>
            </a:solidFill>
            <a:prstDash val="solid"/>
          </a:ln>
        </p:spPr>
        <p:txBody>
          <a:bodyPr/>
          <a:lstStyle/>
          <a:p>
            <a:endParaRPr lang="en-US"/>
          </a:p>
        </p:txBody>
      </p:sp>
      <p:sp>
        <p:nvSpPr>
          <p:cNvPr id="20" name="Text 16"/>
          <p:cNvSpPr/>
          <p:nvPr/>
        </p:nvSpPr>
        <p:spPr>
          <a:xfrm>
            <a:off x="8742266" y="4176979"/>
            <a:ext cx="2554311" cy="416534"/>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EEF2F8"/>
                </a:solidFill>
                <a:latin typeface="JetBrains Mono" pitchFamily="49" charset="0"/>
                <a:ea typeface="JetBrains Mono" pitchFamily="49" charset="-122"/>
                <a:cs typeface="JetBrains Mono" pitchFamily="49" charset="-120"/>
              </a:rPr>
              <a:t>3 weeks</a:t>
            </a:r>
            <a:endParaRPr lang="en-US" sz="2800" dirty="0"/>
          </a:p>
        </p:txBody>
      </p:sp>
      <p:sp>
        <p:nvSpPr>
          <p:cNvPr id="21" name="Text 17"/>
          <p:cNvSpPr/>
          <p:nvPr/>
        </p:nvSpPr>
        <p:spPr>
          <a:xfrm>
            <a:off x="8742266" y="4606153"/>
            <a:ext cx="2554311" cy="4520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builds to −4.2% per point by week three (t = −3.2)</a:t>
            </a:r>
            <a:endParaRPr lang="en-US" sz="1200" dirty="0"/>
          </a:p>
        </p:txBody>
      </p:sp>
      <p:sp>
        <p:nvSpPr>
          <p:cNvPr id="22" name="Shape 18"/>
          <p:cNvSpPr/>
          <p:nvPr/>
        </p:nvSpPr>
        <p:spPr>
          <a:xfrm>
            <a:off x="0" y="6248369"/>
            <a:ext cx="12191973" cy="609599"/>
          </a:xfrm>
          <a:prstGeom prst="rect">
            <a:avLst/>
          </a:prstGeom>
          <a:solidFill>
            <a:srgbClr val="060910"/>
          </a:solidFill>
          <a:ln/>
        </p:spPr>
        <p:txBody>
          <a:bodyPr/>
          <a:lstStyle/>
          <a:p>
            <a:endParaRPr lang="en-US"/>
          </a:p>
        </p:txBody>
      </p:sp>
      <p:sp>
        <p:nvSpPr>
          <p:cNvPr id="23" name="Shape 19"/>
          <p:cNvSpPr/>
          <p:nvPr/>
        </p:nvSpPr>
        <p:spPr>
          <a:xfrm>
            <a:off x="0" y="6251544"/>
            <a:ext cx="12191973" cy="0"/>
          </a:xfrm>
          <a:prstGeom prst="line">
            <a:avLst/>
          </a:prstGeom>
          <a:noFill/>
          <a:ln w="6350">
            <a:solidFill>
              <a:srgbClr val="1F2A3D"/>
            </a:solidFill>
            <a:prstDash val="solid"/>
          </a:ln>
        </p:spPr>
        <p:txBody>
          <a:bodyPr/>
          <a:lstStyle/>
          <a:p>
            <a:endParaRPr lang="en-US"/>
          </a:p>
        </p:txBody>
      </p:sp>
      <p:sp>
        <p:nvSpPr>
          <p:cNvPr id="30" name="Text 26"/>
          <p:cNvSpPr/>
          <p:nvPr/>
        </p:nvSpPr>
        <p:spPr>
          <a:xfrm>
            <a:off x="10739168" y="6448791"/>
            <a:ext cx="7680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05 / 08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15949" y="663569"/>
            <a:ext cx="3613128" cy="292327"/>
          </a:xfrm>
          <a:prstGeom prst="roundRect">
            <a:avLst>
              <a:gd name="adj" fmla="val 50000"/>
            </a:avLst>
          </a:prstGeom>
          <a:solidFill>
            <a:srgbClr val="DF7410">
              <a:alpha val="10000"/>
            </a:srgbClr>
          </a:solidFill>
          <a:ln w="6350">
            <a:solidFill>
              <a:srgbClr val="DF7410">
                <a:alpha val="45000"/>
              </a:srgbClr>
            </a:solidFill>
            <a:prstDash val="solid"/>
          </a:ln>
        </p:spPr>
        <p:txBody>
          <a:bodyPr/>
          <a:lstStyle/>
          <a:p>
            <a:endParaRPr lang="en-US"/>
          </a:p>
        </p:txBody>
      </p:sp>
      <p:sp>
        <p:nvSpPr>
          <p:cNvPr id="3" name="Shape 1"/>
          <p:cNvSpPr/>
          <p:nvPr/>
        </p:nvSpPr>
        <p:spPr>
          <a:xfrm>
            <a:off x="931679" y="771618"/>
            <a:ext cx="76155" cy="76155"/>
          </a:xfrm>
          <a:prstGeom prst="roundRect">
            <a:avLst>
              <a:gd name="adj" fmla="val 50000"/>
            </a:avLst>
          </a:prstGeom>
          <a:solidFill>
            <a:srgbClr val="DF7410"/>
          </a:solidFill>
          <a:ln/>
          <a:effectLst>
            <a:outerShdw blurRad="76200" dir="60000" algn="bl" rotWithShape="0">
              <a:srgbClr val="DF7410">
                <a:alpha val="90000"/>
              </a:srgbClr>
            </a:outerShdw>
          </a:effectLst>
        </p:spPr>
        <p:txBody>
          <a:bodyPr/>
          <a:lstStyle/>
          <a:p>
            <a:endParaRPr lang="en-US"/>
          </a:p>
        </p:txBody>
      </p:sp>
      <p:sp>
        <p:nvSpPr>
          <p:cNvPr id="4" name="Text 2"/>
          <p:cNvSpPr/>
          <p:nvPr/>
        </p:nvSpPr>
        <p:spPr>
          <a:xfrm>
            <a:off x="1083989" y="703073"/>
            <a:ext cx="3341914"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08A2C"/>
                </a:solidFill>
                <a:latin typeface="JetBrains Mono" pitchFamily="49" charset="0"/>
                <a:ea typeface="JetBrains Mono" pitchFamily="49" charset="-122"/>
                <a:cs typeface="JetBrains Mono" pitchFamily="49" charset="-120"/>
              </a:rPr>
              <a:t>RESULTS · OCT 2021 – SEP 2026</a:t>
            </a:r>
            <a:endParaRPr lang="en-US" sz="1200" dirty="0"/>
          </a:p>
        </p:txBody>
      </p:sp>
      <p:sp>
        <p:nvSpPr>
          <p:cNvPr id="5" name="Text 3"/>
          <p:cNvSpPr>
            <a:spLocks noGrp="1"/>
          </p:cNvSpPr>
          <p:nvPr>
            <p:ph type="title"/>
          </p:nvPr>
        </p:nvSpPr>
        <p:spPr>
          <a:xfrm>
            <a:off x="812774" y="1073339"/>
            <a:ext cx="10883418" cy="416534"/>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EEF2F8"/>
                </a:solidFill>
                <a:latin typeface="Unbounded" pitchFamily="34" charset="0"/>
                <a:ea typeface="Unbounded" pitchFamily="34" charset="-122"/>
                <a:cs typeface="Unbounded" pitchFamily="34" charset="-120"/>
              </a:rPr>
              <a:t>+14.8% a year after funding and costs</a:t>
            </a:r>
            <a:endParaRPr lang="en-US" sz="2800" dirty="0"/>
          </a:p>
        </p:txBody>
      </p:sp>
      <p:sp>
        <p:nvSpPr>
          <p:cNvPr id="6" name="Shape 4"/>
          <p:cNvSpPr/>
          <p:nvPr/>
        </p:nvSpPr>
        <p:spPr>
          <a:xfrm>
            <a:off x="815949" y="1670822"/>
            <a:ext cx="6407080" cy="3416547"/>
          </a:xfrm>
          <a:prstGeom prst="roundRect">
            <a:avLst>
              <a:gd name="adj" fmla="val 3624"/>
            </a:avLst>
          </a:prstGeom>
          <a:solidFill>
            <a:srgbClr val="101725"/>
          </a:solidFill>
          <a:ln w="6350">
            <a:solidFill>
              <a:srgbClr val="1F2A3D"/>
            </a:solidFill>
            <a:prstDash val="solid"/>
          </a:ln>
        </p:spPr>
        <p:txBody>
          <a:bodyPr/>
          <a:lstStyle/>
          <a:p>
            <a:endParaRPr lang="en-US"/>
          </a:p>
        </p:txBody>
      </p:sp>
      <p:sp>
        <p:nvSpPr>
          <p:cNvPr id="7" name="Text 5"/>
          <p:cNvSpPr/>
          <p:nvPr/>
        </p:nvSpPr>
        <p:spPr>
          <a:xfrm>
            <a:off x="969793" y="1824667"/>
            <a:ext cx="2999025"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GROWTH OF $1 · LOG SCALE</a:t>
            </a:r>
            <a:endParaRPr lang="en-US" sz="1200" dirty="0"/>
          </a:p>
        </p:txBody>
      </p:sp>
      <p:sp>
        <p:nvSpPr>
          <p:cNvPr id="8" name="Text 6"/>
          <p:cNvSpPr/>
          <p:nvPr/>
        </p:nvSpPr>
        <p:spPr>
          <a:xfrm>
            <a:off x="6081683" y="1824667"/>
            <a:ext cx="987502"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260 WEEKS</a:t>
            </a:r>
            <a:endParaRPr lang="en-US" sz="1200" dirty="0"/>
          </a:p>
        </p:txBody>
      </p:sp>
      <p:pic>
        <p:nvPicPr>
          <p:cNvPr id="9" name="Image 0" descr="Growth of one dollar on a log scale, October 2021 to September 2026: price only ends at $6.13, after funding $3.52, after funding and 10 bp costs $1.70; the net path peaks in September 2025 and falls about 40% by May 2026"/>
          <p:cNvPicPr>
            <a:picLocks noChangeAspect="1"/>
          </p:cNvPicPr>
          <p:nvPr/>
        </p:nvPicPr>
        <p:blipFill>
          <a:blip r:embed="rId3"/>
          <a:srcRect l="-51" r="-51"/>
          <a:stretch/>
        </p:blipFill>
        <p:spPr>
          <a:xfrm>
            <a:off x="969793" y="2114141"/>
            <a:ext cx="6095986" cy="2819385"/>
          </a:xfrm>
          <a:prstGeom prst="rect">
            <a:avLst/>
          </a:prstGeom>
        </p:spPr>
      </p:pic>
      <p:sp>
        <p:nvSpPr>
          <p:cNvPr id="10" name="Text 7"/>
          <p:cNvSpPr/>
          <p:nvPr/>
        </p:nvSpPr>
        <p:spPr>
          <a:xfrm>
            <a:off x="812774" y="5179380"/>
            <a:ext cx="6605833" cy="4520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7"/>
                </a:solidFill>
                <a:latin typeface="Manrope" pitchFamily="34" charset="0"/>
                <a:ea typeface="Manrope" pitchFamily="34" charset="-122"/>
                <a:cs typeface="Manrope" pitchFamily="34" charset="-120"/>
              </a:rPr>
              <a:t>$1 long and $1 short in Binance perpetuals. This window was chosen after the pre-registered 2020–26 test; that run is in backup B4.</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7438654" y="1676922"/>
          <a:ext cx="3940400" cy="3621794"/>
        </p:xfrm>
        <a:graphic>
          <a:graphicData uri="http://schemas.openxmlformats.org/drawingml/2006/table">
            <a:tbl>
              <a:tblPr/>
              <a:tblGrid>
                <a:gridCol w="2364240">
                  <a:extLst>
                    <a:ext uri="{9D8B030D-6E8A-4147-A177-3AD203B41FA5}">
                      <a16:colId xmlns:a16="http://schemas.microsoft.com/office/drawing/2014/main" val="20000"/>
                    </a:ext>
                  </a:extLst>
                </a:gridCol>
                <a:gridCol w="1576160">
                  <a:extLst>
                    <a:ext uri="{9D8B030D-6E8A-4147-A177-3AD203B41FA5}">
                      <a16:colId xmlns:a16="http://schemas.microsoft.com/office/drawing/2014/main" val="20001"/>
                    </a:ext>
                  </a:extLst>
                </a:gridCol>
              </a:tblGrid>
              <a:tr h="329254">
                <a:tc>
                  <a:txBody>
                    <a:bodyPr/>
                    <a:lstStyle/>
                    <a:p>
                      <a:pPr marL="0" indent="0">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Per year</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gn="r">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Oct 21–Sep 26</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extLst>
                  <a:ext uri="{0D108BD9-81ED-4DB2-BD59-A6C34878D82A}">
                    <a16:rowId xmlns:a16="http://schemas.microsoft.com/office/drawing/2014/main" val="10000"/>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Price P&amp;L</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22C55E"/>
                          </a:solidFill>
                          <a:latin typeface="JetBrains Mono" pitchFamily="49" charset="0"/>
                          <a:ea typeface="JetBrains Mono" pitchFamily="49" charset="-122"/>
                          <a:cs typeface="JetBrains Mono" pitchFamily="49" charset="-120"/>
                        </a:rPr>
                        <a:t>+40.5%</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1"/>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Funding</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F87171"/>
                          </a:solidFill>
                          <a:latin typeface="JetBrains Mono" pitchFamily="49" charset="0"/>
                          <a:ea typeface="JetBrains Mono" pitchFamily="49" charset="-122"/>
                          <a:cs typeface="JetBrains Mono" pitchFamily="49" charset="-120"/>
                        </a:rPr>
                        <a:t>−11.1%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2"/>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Costs, 10 bp</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F87171"/>
                          </a:solidFill>
                          <a:latin typeface="JetBrains Mono" pitchFamily="49" charset="0"/>
                          <a:ea typeface="JetBrains Mono" pitchFamily="49" charset="-122"/>
                          <a:cs typeface="JetBrains Mono" pitchFamily="49" charset="-120"/>
                        </a:rPr>
                        <a:t>−14.7%</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3"/>
                  </a:ext>
                </a:extLst>
              </a:tr>
              <a:tr h="329254">
                <a:tc>
                  <a:txBody>
                    <a:bodyPr/>
                    <a:lstStyle/>
                    <a:p>
                      <a:pPr marL="0" indent="0">
                        <a:lnSpc>
                          <a:spcPts val="1680"/>
                        </a:lnSpc>
                        <a:buNone/>
                      </a:pPr>
                      <a:r>
                        <a:rPr lang="en-US" sz="1200" dirty="0">
                          <a:solidFill>
                            <a:srgbClr val="F08A2C"/>
                          </a:solidFill>
                          <a:latin typeface="JetBrains Mono" pitchFamily="49" charset="0"/>
                          <a:ea typeface="JetBrains Mono" pitchFamily="49" charset="-122"/>
                          <a:cs typeface="JetBrains Mono" pitchFamily="49" charset="-120"/>
                        </a:rPr>
                        <a:t>Net return</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564D47"/>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564D47"/>
                      </a:solidFill>
                      <a:prstDash val="solid"/>
                      <a:round/>
                      <a:headEnd type="none" w="med" len="med"/>
                      <a:tailEnd type="none" w="med" len="med"/>
                    </a:lnB>
                    <a:solidFill>
                      <a:srgbClr val="281C16"/>
                    </a:solidFill>
                  </a:tcPr>
                </a:tc>
                <a:tc>
                  <a:txBody>
                    <a:bodyPr/>
                    <a:lstStyle/>
                    <a:p>
                      <a:pPr marL="0" indent="0" algn="r">
                        <a:lnSpc>
                          <a:spcPts val="1680"/>
                        </a:lnSpc>
                        <a:buNone/>
                      </a:pPr>
                      <a:r>
                        <a:rPr lang="en-US" sz="1200" dirty="0">
                          <a:solidFill>
                            <a:srgbClr val="F08A2C"/>
                          </a:solidFill>
                          <a:latin typeface="JetBrains Mono" pitchFamily="49" charset="0"/>
                          <a:ea typeface="JetBrains Mono" pitchFamily="49" charset="-122"/>
                          <a:cs typeface="JetBrains Mono" pitchFamily="49" charset="-120"/>
                        </a:rPr>
                        <a:t>+14.8%</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564D47"/>
                      </a:solidFill>
                      <a:prstDash val="solid"/>
                      <a:round/>
                      <a:headEnd type="none" w="med" len="med"/>
                      <a:tailEnd type="none" w="med" len="med"/>
                    </a:lnL>
                    <a:lnR w="12700" cap="flat" cmpd="sng" algn="ctr">
                      <a:solidFill>
                        <a:srgbClr val="564D47"/>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564D47"/>
                      </a:solidFill>
                      <a:prstDash val="solid"/>
                      <a:round/>
                      <a:headEnd type="none" w="med" len="med"/>
                      <a:tailEnd type="none" w="med" len="med"/>
                    </a:lnB>
                    <a:solidFill>
                      <a:srgbClr val="281C16"/>
                    </a:solidFill>
                  </a:tcPr>
                </a:tc>
                <a:extLst>
                  <a:ext uri="{0D108BD9-81ED-4DB2-BD59-A6C34878D82A}">
                    <a16:rowId xmlns:a16="http://schemas.microsoft.com/office/drawing/2014/main" val="10004"/>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Volatility</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564D47"/>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29.2%</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564D47"/>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5"/>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Sharpe, gross / net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1.01 / 0.51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6"/>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t-stat, net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1.31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7"/>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Max drawdown</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F87171"/>
                          </a:solidFill>
                          <a:latin typeface="JetBrains Mono" pitchFamily="49" charset="0"/>
                          <a:ea typeface="JetBrains Mono" pitchFamily="49" charset="-122"/>
                          <a:cs typeface="JetBrains Mono" pitchFamily="49" charset="-120"/>
                        </a:rPr>
                        <a:t>−40.5%</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8"/>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Turnover</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2.8× a week</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09"/>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Break-even cost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20 bp</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3F4248"/>
                      </a:solidFill>
                      <a:prstDash val="solid"/>
                      <a:round/>
                      <a:headEnd type="none" w="med" len="med"/>
                      <a:tailEnd type="none" w="med" len="med"/>
                    </a:lnL>
                    <a:lnR w="12700" cap="flat" cmpd="sng" algn="ctr">
                      <a:solidFill>
                        <a:srgbClr val="3F4248"/>
                      </a:solidFill>
                      <a:prstDash val="solid"/>
                      <a:round/>
                      <a:headEnd type="none" w="med" len="med"/>
                      <a:tailEnd type="none" w="med" len="med"/>
                    </a:lnR>
                    <a:lnT w="12700" cap="flat" cmpd="sng" algn="ctr">
                      <a:solidFill>
                        <a:srgbClr val="3F4248"/>
                      </a:solidFill>
                      <a:prstDash val="solid"/>
                      <a:round/>
                      <a:headEnd type="none" w="med" len="med"/>
                      <a:tailEnd type="none" w="med" len="med"/>
                    </a:lnT>
                    <a:lnB w="12700" cap="flat" cmpd="sng" algn="ctr">
                      <a:solidFill>
                        <a:srgbClr val="3F4248"/>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12" name="Shape 8"/>
          <p:cNvSpPr/>
          <p:nvPr/>
        </p:nvSpPr>
        <p:spPr>
          <a:xfrm>
            <a:off x="0" y="6248369"/>
            <a:ext cx="12191973" cy="609599"/>
          </a:xfrm>
          <a:prstGeom prst="rect">
            <a:avLst/>
          </a:prstGeom>
          <a:solidFill>
            <a:srgbClr val="060910"/>
          </a:solidFill>
          <a:ln/>
        </p:spPr>
        <p:txBody>
          <a:bodyPr/>
          <a:lstStyle/>
          <a:p>
            <a:endParaRPr lang="en-US"/>
          </a:p>
        </p:txBody>
      </p:sp>
      <p:sp>
        <p:nvSpPr>
          <p:cNvPr id="13" name="Shape 9"/>
          <p:cNvSpPr/>
          <p:nvPr/>
        </p:nvSpPr>
        <p:spPr>
          <a:xfrm>
            <a:off x="0" y="6251544"/>
            <a:ext cx="12191973" cy="0"/>
          </a:xfrm>
          <a:prstGeom prst="line">
            <a:avLst/>
          </a:prstGeom>
          <a:noFill/>
          <a:ln w="6350">
            <a:solidFill>
              <a:srgbClr val="1F2A3D"/>
            </a:solidFill>
            <a:prstDash val="solid"/>
          </a:ln>
        </p:spPr>
        <p:txBody>
          <a:bodyPr/>
          <a:lstStyle/>
          <a:p>
            <a:endParaRPr lang="en-US"/>
          </a:p>
        </p:txBody>
      </p:sp>
      <p:sp>
        <p:nvSpPr>
          <p:cNvPr id="20" name="Text 16"/>
          <p:cNvSpPr/>
          <p:nvPr/>
        </p:nvSpPr>
        <p:spPr>
          <a:xfrm>
            <a:off x="10739168" y="6448791"/>
            <a:ext cx="7680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06 / 08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815949" y="663566"/>
            <a:ext cx="2287344" cy="292327"/>
          </a:xfrm>
          <a:prstGeom prst="roundRect">
            <a:avLst>
              <a:gd name="adj" fmla="val 50000"/>
            </a:avLst>
          </a:prstGeom>
          <a:solidFill>
            <a:srgbClr val="DF7410">
              <a:alpha val="10000"/>
            </a:srgbClr>
          </a:solidFill>
          <a:ln w="6350">
            <a:solidFill>
              <a:srgbClr val="DF7410">
                <a:alpha val="45000"/>
              </a:srgbClr>
            </a:solidFill>
            <a:prstDash val="solid"/>
          </a:ln>
        </p:spPr>
        <p:txBody>
          <a:bodyPr/>
          <a:lstStyle/>
          <a:p>
            <a:endParaRPr lang="en-US"/>
          </a:p>
        </p:txBody>
      </p:sp>
      <p:sp>
        <p:nvSpPr>
          <p:cNvPr id="3" name="Shape 1"/>
          <p:cNvSpPr/>
          <p:nvPr/>
        </p:nvSpPr>
        <p:spPr>
          <a:xfrm>
            <a:off x="931679" y="771615"/>
            <a:ext cx="76155" cy="76155"/>
          </a:xfrm>
          <a:prstGeom prst="roundRect">
            <a:avLst>
              <a:gd name="adj" fmla="val 50000"/>
            </a:avLst>
          </a:prstGeom>
          <a:solidFill>
            <a:srgbClr val="DF7410"/>
          </a:solidFill>
          <a:ln/>
          <a:effectLst>
            <a:outerShdw blurRad="76200" dir="60000" algn="bl" rotWithShape="0">
              <a:srgbClr val="DF7410">
                <a:alpha val="90000"/>
              </a:srgbClr>
            </a:outerShdw>
          </a:effectLst>
        </p:spPr>
        <p:txBody>
          <a:bodyPr/>
          <a:lstStyle/>
          <a:p>
            <a:endParaRPr lang="en-US"/>
          </a:p>
        </p:txBody>
      </p:sp>
      <p:sp>
        <p:nvSpPr>
          <p:cNvPr id="4" name="Text 2"/>
          <p:cNvSpPr/>
          <p:nvPr/>
        </p:nvSpPr>
        <p:spPr>
          <a:xfrm>
            <a:off x="1083989" y="703070"/>
            <a:ext cx="2016129"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08A2C"/>
                </a:solidFill>
                <a:latin typeface="JetBrains Mono" pitchFamily="49" charset="0"/>
                <a:ea typeface="JetBrains Mono" pitchFamily="49" charset="-122"/>
                <a:cs typeface="JetBrains Mono" pitchFamily="49" charset="-120"/>
              </a:rPr>
              <a:t>STRATEGY 2 · RISK</a:t>
            </a:r>
            <a:endParaRPr lang="en-US" sz="1200" dirty="0"/>
          </a:p>
        </p:txBody>
      </p:sp>
      <p:sp>
        <p:nvSpPr>
          <p:cNvPr id="5" name="Text 3"/>
          <p:cNvSpPr>
            <a:spLocks noGrp="1"/>
          </p:cNvSpPr>
          <p:nvPr>
            <p:ph type="title"/>
          </p:nvPr>
        </p:nvSpPr>
        <p:spPr>
          <a:xfrm>
            <a:off x="812774" y="1073336"/>
            <a:ext cx="10883418" cy="416534"/>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EEF2F8"/>
                </a:solidFill>
                <a:latin typeface="Unbounded" pitchFamily="34" charset="0"/>
                <a:ea typeface="Unbounded" pitchFamily="34" charset="-122"/>
                <a:cs typeface="Unbounded" pitchFamily="34" charset="-120"/>
              </a:rPr>
              <a:t>Squeezes and funding: where it loses</a:t>
            </a:r>
            <a:endParaRPr lang="en-US" sz="2800" dirty="0"/>
          </a:p>
        </p:txBody>
      </p:sp>
      <p:sp>
        <p:nvSpPr>
          <p:cNvPr id="6" name="Shape 4"/>
          <p:cNvSpPr/>
          <p:nvPr/>
        </p:nvSpPr>
        <p:spPr>
          <a:xfrm>
            <a:off x="815949" y="1670822"/>
            <a:ext cx="6140430" cy="3994409"/>
          </a:xfrm>
          <a:prstGeom prst="roundRect">
            <a:avLst>
              <a:gd name="adj" fmla="val 3100"/>
            </a:avLst>
          </a:prstGeom>
          <a:solidFill>
            <a:srgbClr val="101725"/>
          </a:solidFill>
          <a:ln w="6350">
            <a:solidFill>
              <a:srgbClr val="1F2A3D"/>
            </a:solidFill>
            <a:prstDash val="solid"/>
          </a:ln>
        </p:spPr>
        <p:txBody>
          <a:bodyPr/>
          <a:lstStyle/>
          <a:p>
            <a:endParaRPr lang="en-US"/>
          </a:p>
        </p:txBody>
      </p:sp>
      <p:sp>
        <p:nvSpPr>
          <p:cNvPr id="7" name="Text 5"/>
          <p:cNvSpPr/>
          <p:nvPr/>
        </p:nvSpPr>
        <p:spPr>
          <a:xfrm>
            <a:off x="969793" y="1824664"/>
            <a:ext cx="324892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P&amp;L BY YEAR · SUM OF WEEKS</a:t>
            </a:r>
            <a:endParaRPr lang="en-US" sz="1200" dirty="0"/>
          </a:p>
        </p:txBody>
      </p:sp>
      <p:sp>
        <p:nvSpPr>
          <p:cNvPr id="8" name="Text 6"/>
          <p:cNvSpPr/>
          <p:nvPr/>
        </p:nvSpPr>
        <p:spPr>
          <a:xfrm>
            <a:off x="5595569" y="1824664"/>
            <a:ext cx="1206966"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 PART YEAR</a:t>
            </a:r>
            <a:endParaRPr lang="en-US" sz="1200" dirty="0"/>
          </a:p>
        </p:txBody>
      </p:sp>
      <p:pic>
        <p:nvPicPr>
          <p:cNvPr id="9" name="Image 0" descr="Price, funding and trading-cost contributions by year, sum of weekly returns, with the net marked: 2021 (13 weeks) net +24%, 2022 +15%, 2023 +7%, 2024 +25%, 2025 +23%, 2026 (38 weeks) −19%, when funding cost 23% against a 15% price gain"/>
          <p:cNvPicPr>
            <a:picLocks noChangeAspect="1"/>
          </p:cNvPicPr>
          <p:nvPr/>
        </p:nvPicPr>
        <p:blipFill>
          <a:blip r:embed="rId3"/>
          <a:srcRect t="-31" b="-31"/>
          <a:stretch/>
        </p:blipFill>
        <p:spPr>
          <a:xfrm>
            <a:off x="969793" y="2114138"/>
            <a:ext cx="5829264" cy="3397246"/>
          </a:xfrm>
          <a:prstGeom prst="rect">
            <a:avLst/>
          </a:prstGeom>
        </p:spPr>
      </p:pic>
      <p:sp>
        <p:nvSpPr>
          <p:cNvPr id="10" name="Shape 7"/>
          <p:cNvSpPr/>
          <p:nvPr/>
        </p:nvSpPr>
        <p:spPr>
          <a:xfrm>
            <a:off x="7165904" y="1670822"/>
            <a:ext cx="4210119" cy="1162198"/>
          </a:xfrm>
          <a:prstGeom prst="roundRect">
            <a:avLst>
              <a:gd name="adj" fmla="val 10654"/>
            </a:avLst>
          </a:prstGeom>
          <a:solidFill>
            <a:srgbClr val="101725"/>
          </a:solidFill>
          <a:ln w="6350">
            <a:solidFill>
              <a:srgbClr val="1F2A3D"/>
            </a:solidFill>
            <a:prstDash val="solid"/>
          </a:ln>
        </p:spPr>
        <p:txBody>
          <a:bodyPr/>
          <a:lstStyle/>
          <a:p>
            <a:endParaRPr lang="en-US"/>
          </a:p>
        </p:txBody>
      </p:sp>
      <p:sp>
        <p:nvSpPr>
          <p:cNvPr id="11" name="Text 8"/>
          <p:cNvSpPr/>
          <p:nvPr/>
        </p:nvSpPr>
        <p:spPr>
          <a:xfrm>
            <a:off x="7319749" y="1799233"/>
            <a:ext cx="4019504" cy="240024"/>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F08A2C"/>
                </a:solidFill>
                <a:latin typeface="Manrope" pitchFamily="34" charset="0"/>
                <a:ea typeface="Manrope" pitchFamily="34" charset="-122"/>
                <a:cs typeface="Manrope" pitchFamily="34" charset="-120"/>
              </a:rPr>
              <a:t>Squeezes</a:t>
            </a:r>
            <a:endParaRPr lang="en-US" sz="1300" dirty="0"/>
          </a:p>
        </p:txBody>
      </p:sp>
      <p:sp>
        <p:nvSpPr>
          <p:cNvPr id="12" name="Text 9"/>
          <p:cNvSpPr/>
          <p:nvPr/>
        </p:nvSpPr>
        <p:spPr>
          <a:xfrm>
            <a:off x="7319749" y="2064649"/>
            <a:ext cx="4019504" cy="66535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Week of 30 May 2022: short WAVES at a ninth of the leg. It rose 82% in a week and the book lost 10.3%, its worst week.</a:t>
            </a:r>
            <a:endParaRPr lang="en-US" sz="1200" dirty="0"/>
          </a:p>
        </p:txBody>
      </p:sp>
      <p:sp>
        <p:nvSpPr>
          <p:cNvPr id="13" name="Shape 10"/>
          <p:cNvSpPr/>
          <p:nvPr/>
        </p:nvSpPr>
        <p:spPr>
          <a:xfrm>
            <a:off x="7165904" y="2940955"/>
            <a:ext cx="4210119" cy="1162198"/>
          </a:xfrm>
          <a:prstGeom prst="roundRect">
            <a:avLst>
              <a:gd name="adj" fmla="val 10654"/>
            </a:avLst>
          </a:prstGeom>
          <a:solidFill>
            <a:srgbClr val="101725"/>
          </a:solidFill>
          <a:ln w="6350">
            <a:solidFill>
              <a:srgbClr val="1F2A3D"/>
            </a:solidFill>
            <a:prstDash val="solid"/>
          </a:ln>
        </p:spPr>
        <p:txBody>
          <a:bodyPr/>
          <a:lstStyle/>
          <a:p>
            <a:endParaRPr lang="en-US"/>
          </a:p>
        </p:txBody>
      </p:sp>
      <p:sp>
        <p:nvSpPr>
          <p:cNvPr id="14" name="Text 11"/>
          <p:cNvSpPr/>
          <p:nvPr/>
        </p:nvSpPr>
        <p:spPr>
          <a:xfrm>
            <a:off x="7319749" y="3069366"/>
            <a:ext cx="4019504" cy="240024"/>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A78BFA"/>
                </a:solidFill>
                <a:latin typeface="Manrope" pitchFamily="34" charset="0"/>
                <a:ea typeface="Manrope" pitchFamily="34" charset="-122"/>
                <a:cs typeface="Manrope" pitchFamily="34" charset="-120"/>
              </a:rPr>
              <a:t>Crowded funding</a:t>
            </a:r>
            <a:endParaRPr lang="en-US" sz="1300" dirty="0"/>
          </a:p>
        </p:txBody>
      </p:sp>
      <p:sp>
        <p:nvSpPr>
          <p:cNvPr id="15" name="Text 12"/>
          <p:cNvSpPr/>
          <p:nvPr/>
        </p:nvSpPr>
        <p:spPr>
          <a:xfrm>
            <a:off x="7319749" y="3334786"/>
            <a:ext cx="4019504" cy="66535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Arbitrageurs shipping coins to Seoul short the perp as a hedge. Our short leg pays 12% a year in funding beside them; in 2026 funding cost the book 23%.</a:t>
            </a:r>
            <a:endParaRPr lang="en-US" sz="1200" dirty="0"/>
          </a:p>
        </p:txBody>
      </p:sp>
      <p:sp>
        <p:nvSpPr>
          <p:cNvPr id="16" name="Shape 13"/>
          <p:cNvSpPr/>
          <p:nvPr/>
        </p:nvSpPr>
        <p:spPr>
          <a:xfrm>
            <a:off x="7165904" y="4211092"/>
            <a:ext cx="4210119" cy="1162198"/>
          </a:xfrm>
          <a:prstGeom prst="roundRect">
            <a:avLst>
              <a:gd name="adj" fmla="val 10654"/>
            </a:avLst>
          </a:prstGeom>
          <a:solidFill>
            <a:srgbClr val="101725"/>
          </a:solidFill>
          <a:ln w="6350">
            <a:solidFill>
              <a:srgbClr val="1F2A3D"/>
            </a:solidFill>
            <a:prstDash val="solid"/>
          </a:ln>
        </p:spPr>
        <p:txBody>
          <a:bodyPr/>
          <a:lstStyle/>
          <a:p>
            <a:endParaRPr lang="en-US"/>
          </a:p>
        </p:txBody>
      </p:sp>
      <p:sp>
        <p:nvSpPr>
          <p:cNvPr id="17" name="Text 14"/>
          <p:cNvSpPr/>
          <p:nvPr/>
        </p:nvSpPr>
        <p:spPr>
          <a:xfrm>
            <a:off x="7319749" y="4339503"/>
            <a:ext cx="4019504" cy="240024"/>
          </a:xfrm>
          <a:prstGeom prst="rect">
            <a:avLst/>
          </a:prstGeom>
          <a:noFill/>
          <a:ln/>
        </p:spPr>
        <p:txBody>
          <a:bodyPr wrap="square" lIns="0" tIns="0" rIns="0" bIns="0" rtlCol="0" anchor="t">
            <a:normAutofit/>
          </a:bodyPr>
          <a:lstStyle/>
          <a:p>
            <a:pPr marL="0" indent="0" algn="l">
              <a:lnSpc>
                <a:spcPts val="1690"/>
              </a:lnSpc>
              <a:buNone/>
            </a:pPr>
            <a:r>
              <a:rPr lang="en-US" sz="1300" b="1" dirty="0">
                <a:solidFill>
                  <a:srgbClr val="38A9E0"/>
                </a:solidFill>
                <a:latin typeface="Manrope" pitchFamily="34" charset="0"/>
                <a:ea typeface="Manrope" pitchFamily="34" charset="-122"/>
                <a:cs typeface="Manrope" pitchFamily="34" charset="-120"/>
              </a:rPr>
              <a:t>Market risk</a:t>
            </a:r>
            <a:endParaRPr lang="en-US" sz="1300" dirty="0"/>
          </a:p>
        </p:txBody>
      </p:sp>
      <p:sp>
        <p:nvSpPr>
          <p:cNvPr id="18" name="Text 15"/>
          <p:cNvSpPr/>
          <p:nvPr/>
        </p:nvSpPr>
        <p:spPr>
          <a:xfrm>
            <a:off x="7319749" y="4604922"/>
            <a:ext cx="4019504" cy="66535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No bitcoin beta (0.03 up, −0.01 down); it made money in the LUNA and FTX weeks. Worst drawdown −40.5%, Sep 2025 to May 2026.</a:t>
            </a:r>
            <a:endParaRPr lang="en-US" sz="1200" dirty="0"/>
          </a:p>
        </p:txBody>
      </p:sp>
      <p:sp>
        <p:nvSpPr>
          <p:cNvPr id="19" name="Shape 16"/>
          <p:cNvSpPr/>
          <p:nvPr/>
        </p:nvSpPr>
        <p:spPr>
          <a:xfrm>
            <a:off x="0" y="6248366"/>
            <a:ext cx="12191973" cy="609599"/>
          </a:xfrm>
          <a:prstGeom prst="rect">
            <a:avLst/>
          </a:prstGeom>
          <a:solidFill>
            <a:srgbClr val="060910"/>
          </a:solidFill>
          <a:ln/>
        </p:spPr>
        <p:txBody>
          <a:bodyPr/>
          <a:lstStyle/>
          <a:p>
            <a:endParaRPr lang="en-US"/>
          </a:p>
        </p:txBody>
      </p:sp>
      <p:sp>
        <p:nvSpPr>
          <p:cNvPr id="20" name="Shape 17"/>
          <p:cNvSpPr/>
          <p:nvPr/>
        </p:nvSpPr>
        <p:spPr>
          <a:xfrm>
            <a:off x="0" y="6251541"/>
            <a:ext cx="12191973" cy="0"/>
          </a:xfrm>
          <a:prstGeom prst="line">
            <a:avLst/>
          </a:prstGeom>
          <a:noFill/>
          <a:ln w="6350">
            <a:solidFill>
              <a:srgbClr val="1F2A3D"/>
            </a:solidFill>
            <a:prstDash val="solid"/>
          </a:ln>
        </p:spPr>
        <p:txBody>
          <a:bodyPr/>
          <a:lstStyle/>
          <a:p>
            <a:endParaRPr lang="en-US"/>
          </a:p>
        </p:txBody>
      </p:sp>
      <p:sp>
        <p:nvSpPr>
          <p:cNvPr id="27" name="Text 24"/>
          <p:cNvSpPr/>
          <p:nvPr/>
        </p:nvSpPr>
        <p:spPr>
          <a:xfrm>
            <a:off x="10739168" y="6448788"/>
            <a:ext cx="7680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07 / 08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15949" y="663566"/>
            <a:ext cx="3281628" cy="292327"/>
          </a:xfrm>
          <a:prstGeom prst="roundRect">
            <a:avLst>
              <a:gd name="adj" fmla="val 50000"/>
            </a:avLst>
          </a:prstGeom>
          <a:solidFill>
            <a:srgbClr val="DF7410">
              <a:alpha val="10000"/>
            </a:srgbClr>
          </a:solidFill>
          <a:ln w="6350">
            <a:solidFill>
              <a:srgbClr val="DF7410">
                <a:alpha val="45000"/>
              </a:srgbClr>
            </a:solidFill>
            <a:prstDash val="solid"/>
          </a:ln>
        </p:spPr>
        <p:txBody>
          <a:bodyPr/>
          <a:lstStyle/>
          <a:p>
            <a:endParaRPr lang="en-US"/>
          </a:p>
        </p:txBody>
      </p:sp>
      <p:sp>
        <p:nvSpPr>
          <p:cNvPr id="3" name="Shape 1"/>
          <p:cNvSpPr/>
          <p:nvPr/>
        </p:nvSpPr>
        <p:spPr>
          <a:xfrm>
            <a:off x="931679" y="771618"/>
            <a:ext cx="76155" cy="76155"/>
          </a:xfrm>
          <a:prstGeom prst="roundRect">
            <a:avLst>
              <a:gd name="adj" fmla="val 50000"/>
            </a:avLst>
          </a:prstGeom>
          <a:solidFill>
            <a:srgbClr val="DF7410"/>
          </a:solidFill>
          <a:ln/>
          <a:effectLst>
            <a:outerShdw blurRad="76200" dir="60000" algn="bl" rotWithShape="0">
              <a:srgbClr val="DF7410">
                <a:alpha val="90000"/>
              </a:srgbClr>
            </a:outerShdw>
          </a:effectLst>
        </p:spPr>
        <p:txBody>
          <a:bodyPr/>
          <a:lstStyle/>
          <a:p>
            <a:endParaRPr lang="en-US"/>
          </a:p>
        </p:txBody>
      </p:sp>
      <p:sp>
        <p:nvSpPr>
          <p:cNvPr id="4" name="Text 2"/>
          <p:cNvSpPr/>
          <p:nvPr/>
        </p:nvSpPr>
        <p:spPr>
          <a:xfrm>
            <a:off x="1083989" y="703070"/>
            <a:ext cx="3010413"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08A2C"/>
                </a:solidFill>
                <a:latin typeface="JetBrains Mono" pitchFamily="49" charset="0"/>
                <a:ea typeface="JetBrains Mono" pitchFamily="49" charset="-122"/>
                <a:cs typeface="JetBrains Mono" pitchFamily="49" charset="-120"/>
              </a:rPr>
              <a:t>ROBUSTNESS · JAPAN PLACEBO</a:t>
            </a:r>
            <a:endParaRPr lang="en-US" sz="1200" dirty="0"/>
          </a:p>
        </p:txBody>
      </p:sp>
      <p:sp>
        <p:nvSpPr>
          <p:cNvPr id="5" name="Text 3"/>
          <p:cNvSpPr>
            <a:spLocks noGrp="1"/>
          </p:cNvSpPr>
          <p:nvPr>
            <p:ph type="title"/>
          </p:nvPr>
        </p:nvSpPr>
        <p:spPr>
          <a:xfrm>
            <a:off x="812774" y="1073336"/>
            <a:ext cx="10883418" cy="416534"/>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EEF2F8"/>
                </a:solidFill>
                <a:latin typeface="Unbounded" pitchFamily="34" charset="0"/>
                <a:ea typeface="Unbounded" pitchFamily="34" charset="-122"/>
                <a:cs typeface="Unbounded" pitchFamily="34" charset="-120"/>
              </a:rPr>
              <a:t>No capital controls, no edge</a:t>
            </a:r>
            <a:endParaRPr lang="en-US" sz="2800" dirty="0"/>
          </a:p>
        </p:txBody>
      </p:sp>
      <p:sp>
        <p:nvSpPr>
          <p:cNvPr id="6" name="Shape 4"/>
          <p:cNvSpPr/>
          <p:nvPr/>
        </p:nvSpPr>
        <p:spPr>
          <a:xfrm>
            <a:off x="815949" y="1670822"/>
            <a:ext cx="5581626" cy="3162505"/>
          </a:xfrm>
          <a:prstGeom prst="roundRect">
            <a:avLst>
              <a:gd name="adj" fmla="val 3915"/>
            </a:avLst>
          </a:prstGeom>
          <a:solidFill>
            <a:srgbClr val="101725"/>
          </a:solidFill>
          <a:ln w="6350">
            <a:solidFill>
              <a:srgbClr val="1F2A3D"/>
            </a:solidFill>
            <a:prstDash val="solid"/>
          </a:ln>
        </p:spPr>
        <p:txBody>
          <a:bodyPr/>
          <a:lstStyle/>
          <a:p>
            <a:endParaRPr lang="en-US"/>
          </a:p>
        </p:txBody>
      </p:sp>
      <p:sp>
        <p:nvSpPr>
          <p:cNvPr id="7" name="Text 5"/>
          <p:cNvSpPr/>
          <p:nvPr/>
        </p:nvSpPr>
        <p:spPr>
          <a:xfrm>
            <a:off x="969793" y="1824664"/>
            <a:ext cx="3123974"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SAME RULE, SAME 184 WEEKS</a:t>
            </a:r>
            <a:endParaRPr lang="en-US" sz="1200" dirty="0"/>
          </a:p>
        </p:txBody>
      </p:sp>
      <p:sp>
        <p:nvSpPr>
          <p:cNvPr id="8" name="Text 6"/>
          <p:cNvSpPr/>
          <p:nvPr/>
        </p:nvSpPr>
        <p:spPr>
          <a:xfrm>
            <a:off x="4927119" y="1824664"/>
            <a:ext cx="1316611" cy="23872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NET OF 10 BP</a:t>
            </a:r>
            <a:endParaRPr lang="en-US" sz="1200" dirty="0"/>
          </a:p>
        </p:txBody>
      </p:sp>
      <p:pic>
        <p:nvPicPr>
          <p:cNvPr id="9" name="Image 0" descr="Growth of one dollar from March 2023 to September 2026 for the same rule net of 10 bp: Korea (Upbit) ends at $1.25, Japan (bitbank) at $0.27"/>
          <p:cNvPicPr>
            <a:picLocks noChangeAspect="1"/>
          </p:cNvPicPr>
          <p:nvPr/>
        </p:nvPicPr>
        <p:blipFill>
          <a:blip r:embed="rId3"/>
          <a:srcRect t="-8" b="-8"/>
          <a:stretch/>
        </p:blipFill>
        <p:spPr>
          <a:xfrm>
            <a:off x="969793" y="2114141"/>
            <a:ext cx="5270460" cy="2565343"/>
          </a:xfrm>
          <a:prstGeom prst="rect">
            <a:avLst/>
          </a:prstGeom>
        </p:spPr>
      </p:pic>
      <p:sp>
        <p:nvSpPr>
          <p:cNvPr id="10" name="Shape 7"/>
          <p:cNvSpPr/>
          <p:nvPr/>
        </p:nvSpPr>
        <p:spPr>
          <a:xfrm>
            <a:off x="6607100" y="1670822"/>
            <a:ext cx="2330457" cy="1099956"/>
          </a:xfrm>
          <a:prstGeom prst="roundRect">
            <a:avLst>
              <a:gd name="adj" fmla="val 11257"/>
            </a:avLst>
          </a:prstGeom>
          <a:solidFill>
            <a:srgbClr val="101725"/>
          </a:solidFill>
          <a:ln w="6350">
            <a:solidFill>
              <a:srgbClr val="DF7410"/>
            </a:solidFill>
            <a:prstDash val="solid"/>
          </a:ln>
          <a:effectLst>
            <a:outerShdw blurRad="203200" dir="60000" algn="bl" rotWithShape="0">
              <a:srgbClr val="DF7410">
                <a:alpha val="20000"/>
              </a:srgbClr>
            </a:outerShdw>
          </a:effectLst>
        </p:spPr>
        <p:txBody>
          <a:bodyPr/>
          <a:lstStyle/>
          <a:p>
            <a:endParaRPr lang="en-US"/>
          </a:p>
        </p:txBody>
      </p:sp>
      <p:sp>
        <p:nvSpPr>
          <p:cNvPr id="11" name="Text 8"/>
          <p:cNvSpPr/>
          <p:nvPr/>
        </p:nvSpPr>
        <p:spPr>
          <a:xfrm>
            <a:off x="6760944" y="1786551"/>
            <a:ext cx="2083452"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F08A2C"/>
                </a:solidFill>
                <a:latin typeface="JetBrains Mono" pitchFamily="49" charset="0"/>
                <a:ea typeface="JetBrains Mono" pitchFamily="49" charset="-122"/>
                <a:cs typeface="JetBrains Mono" pitchFamily="49" charset="-120"/>
              </a:rPr>
              <a:t>KOREA · UPBIT</a:t>
            </a:r>
            <a:endParaRPr lang="en-US" sz="1200" dirty="0"/>
          </a:p>
        </p:txBody>
      </p:sp>
      <p:sp>
        <p:nvSpPr>
          <p:cNvPr id="12" name="Text 9"/>
          <p:cNvSpPr/>
          <p:nvPr/>
        </p:nvSpPr>
        <p:spPr>
          <a:xfrm>
            <a:off x="6760944" y="2025231"/>
            <a:ext cx="2083452" cy="416534"/>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EEF2F8"/>
                </a:solidFill>
                <a:latin typeface="JetBrains Mono" pitchFamily="49" charset="0"/>
                <a:ea typeface="JetBrains Mono" pitchFamily="49" charset="-122"/>
                <a:cs typeface="JetBrains Mono" pitchFamily="49" charset="-120"/>
              </a:rPr>
              <a:t>0.37</a:t>
            </a:r>
            <a:endParaRPr lang="en-US" sz="2800" dirty="0"/>
          </a:p>
        </p:txBody>
      </p:sp>
      <p:sp>
        <p:nvSpPr>
          <p:cNvPr id="13" name="Text 10"/>
          <p:cNvSpPr/>
          <p:nvPr/>
        </p:nvSpPr>
        <p:spPr>
          <a:xfrm>
            <a:off x="6760944" y="2441727"/>
            <a:ext cx="20834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Sharpe, +9.8% a year</a:t>
            </a:r>
            <a:endParaRPr lang="en-US" sz="1200" dirty="0"/>
          </a:p>
        </p:txBody>
      </p:sp>
      <p:sp>
        <p:nvSpPr>
          <p:cNvPr id="14" name="Shape 11"/>
          <p:cNvSpPr/>
          <p:nvPr/>
        </p:nvSpPr>
        <p:spPr>
          <a:xfrm>
            <a:off x="9045494" y="1670822"/>
            <a:ext cx="2330529" cy="1099956"/>
          </a:xfrm>
          <a:prstGeom prst="roundRect">
            <a:avLst>
              <a:gd name="adj" fmla="val 11257"/>
            </a:avLst>
          </a:prstGeom>
          <a:solidFill>
            <a:srgbClr val="101725"/>
          </a:solidFill>
          <a:ln w="6350">
            <a:solidFill>
              <a:srgbClr val="1D9BD6"/>
            </a:solidFill>
            <a:prstDash val="solid"/>
          </a:ln>
          <a:effectLst>
            <a:outerShdw blurRad="203200" dir="60000" algn="bl" rotWithShape="0">
              <a:srgbClr val="1D9BD6">
                <a:alpha val="20000"/>
              </a:srgbClr>
            </a:outerShdw>
          </a:effectLst>
        </p:spPr>
        <p:txBody>
          <a:bodyPr/>
          <a:lstStyle/>
          <a:p>
            <a:endParaRPr lang="en-US"/>
          </a:p>
        </p:txBody>
      </p:sp>
      <p:sp>
        <p:nvSpPr>
          <p:cNvPr id="15" name="Text 12"/>
          <p:cNvSpPr/>
          <p:nvPr/>
        </p:nvSpPr>
        <p:spPr>
          <a:xfrm>
            <a:off x="9199338" y="1786551"/>
            <a:ext cx="2083527"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38A9E0"/>
                </a:solidFill>
                <a:latin typeface="JetBrains Mono" pitchFamily="49" charset="0"/>
                <a:ea typeface="JetBrains Mono" pitchFamily="49" charset="-122"/>
                <a:cs typeface="JetBrains Mono" pitchFamily="49" charset="-120"/>
              </a:rPr>
              <a:t>JAPAN · BITBANK</a:t>
            </a:r>
            <a:endParaRPr lang="en-US" sz="1200" dirty="0"/>
          </a:p>
        </p:txBody>
      </p:sp>
      <p:sp>
        <p:nvSpPr>
          <p:cNvPr id="16" name="Text 13"/>
          <p:cNvSpPr/>
          <p:nvPr/>
        </p:nvSpPr>
        <p:spPr>
          <a:xfrm>
            <a:off x="9199338" y="2025231"/>
            <a:ext cx="2083527" cy="416534"/>
          </a:xfrm>
          <a:prstGeom prst="rect">
            <a:avLst/>
          </a:prstGeom>
          <a:noFill/>
          <a:ln/>
        </p:spPr>
        <p:txBody>
          <a:bodyPr wrap="square" lIns="0" tIns="0" rIns="0" bIns="0" rtlCol="0" anchor="t">
            <a:normAutofit/>
          </a:bodyPr>
          <a:lstStyle/>
          <a:p>
            <a:pPr marL="0" indent="0" algn="l">
              <a:lnSpc>
                <a:spcPts val="3080"/>
              </a:lnSpc>
              <a:buNone/>
            </a:pPr>
            <a:r>
              <a:rPr lang="en-US" sz="2800" b="1" dirty="0">
                <a:solidFill>
                  <a:srgbClr val="EEF2F8"/>
                </a:solidFill>
                <a:latin typeface="JetBrains Mono" pitchFamily="49" charset="0"/>
                <a:ea typeface="JetBrains Mono" pitchFamily="49" charset="-122"/>
                <a:cs typeface="JetBrains Mono" pitchFamily="49" charset="-120"/>
              </a:rPr>
              <a:t>−0.63</a:t>
            </a:r>
            <a:endParaRPr lang="en-US" sz="2800" dirty="0"/>
          </a:p>
        </p:txBody>
      </p:sp>
      <p:sp>
        <p:nvSpPr>
          <p:cNvPr id="17" name="Text 14"/>
          <p:cNvSpPr/>
          <p:nvPr/>
        </p:nvSpPr>
        <p:spPr>
          <a:xfrm>
            <a:off x="9199338" y="2441727"/>
            <a:ext cx="208352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Sharpe, −27% a year</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13200" y="2910177"/>
          <a:ext cx="4765854" cy="1975524"/>
        </p:xfrm>
        <a:graphic>
          <a:graphicData uri="http://schemas.openxmlformats.org/drawingml/2006/table">
            <a:tbl>
              <a:tblPr/>
              <a:tblGrid>
                <a:gridCol w="1620390">
                  <a:extLst>
                    <a:ext uri="{9D8B030D-6E8A-4147-A177-3AD203B41FA5}">
                      <a16:colId xmlns:a16="http://schemas.microsoft.com/office/drawing/2014/main" val="20000"/>
                    </a:ext>
                  </a:extLst>
                </a:gridCol>
                <a:gridCol w="3145464">
                  <a:extLst>
                    <a:ext uri="{9D8B030D-6E8A-4147-A177-3AD203B41FA5}">
                      <a16:colId xmlns:a16="http://schemas.microsoft.com/office/drawing/2014/main" val="20001"/>
                    </a:ext>
                  </a:extLst>
                </a:gridCol>
              </a:tblGrid>
              <a:tr h="329254">
                <a:tc>
                  <a:txBody>
                    <a:bodyPr/>
                    <a:lstStyle/>
                    <a:p>
                      <a:pPr marL="0" indent="0">
                        <a:lnSpc>
                          <a:spcPts val="1680"/>
                        </a:lnSpc>
                        <a:buNone/>
                      </a:pPr>
                      <a:r>
                        <a:rPr lang="en-US" sz="1200" b="1" dirty="0">
                          <a:solidFill>
                            <a:srgbClr val="8391A7"/>
                          </a:solidFill>
                          <a:latin typeface="Manrope" pitchFamily="34" charset="0"/>
                          <a:ea typeface="Manrope" pitchFamily="34" charset="-122"/>
                          <a:cs typeface="Manrope" pitchFamily="34" charset="-120"/>
                        </a:rPr>
                        <a:t>Test</a:t>
                      </a:r>
                      <a:endParaRPr lang="en-US" sz="1200" dirty="0">
                        <a:latin typeface="Manrope" charset="0"/>
                        <a:ea typeface="Manrope" charset="0"/>
                        <a:cs typeface="Manrope" charset="0"/>
                      </a:endParaRPr>
                    </a:p>
                  </a:txBody>
                  <a:tcPr marL="53340" marR="53340" marT="53340" marB="53340">
                    <a:lnL w="12700" cap="flat" cmpd="sng" algn="ctr">
                      <a:solidFill>
                        <a:srgbClr val="59493D"/>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59493D"/>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nSpc>
                          <a:spcPts val="1680"/>
                        </a:lnSpc>
                        <a:buNone/>
                      </a:pPr>
                      <a:r>
                        <a:rPr lang="en-US" sz="1200" b="1" dirty="0">
                          <a:solidFill>
                            <a:srgbClr val="8391A7"/>
                          </a:solidFill>
                          <a:latin typeface="Manrope" pitchFamily="34" charset="0"/>
                          <a:ea typeface="Manrope" pitchFamily="34" charset="-122"/>
                          <a:cs typeface="Manrope" pitchFamily="34" charset="-120"/>
                        </a:rPr>
                        <a:t>Five-year verdict</a:t>
                      </a:r>
                      <a:endParaRPr lang="en-US" sz="1200" dirty="0">
                        <a:latin typeface="Manrope" charset="0"/>
                        <a:ea typeface="Manrope" charset="0"/>
                        <a:cs typeface="Manrope"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59493D"/>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extLst>
                  <a:ext uri="{0D108BD9-81ED-4DB2-BD59-A6C34878D82A}">
                    <a16:rowId xmlns:a16="http://schemas.microsoft.com/office/drawing/2014/main" val="10000"/>
                  </a:ext>
                </a:extLst>
              </a:tr>
              <a:tr h="329254">
                <a:tc>
                  <a:txBody>
                    <a:bodyPr/>
                    <a:lstStyle/>
                    <a:p>
                      <a:pPr marL="0" indent="0">
                        <a:lnSpc>
                          <a:spcPts val="1680"/>
                        </a:lnSpc>
                        <a:buNone/>
                      </a:pPr>
                      <a:r>
                        <a:rPr lang="en-US" sz="1200" dirty="0">
                          <a:solidFill>
                            <a:srgbClr val="EEF2F8"/>
                          </a:solidFill>
                          <a:latin typeface="Manrope" pitchFamily="34" charset="0"/>
                          <a:ea typeface="Manrope" pitchFamily="34" charset="-122"/>
                          <a:cs typeface="Manrope" pitchFamily="34" charset="-120"/>
                        </a:rPr>
                        <a:t>H1 Segmentation</a:t>
                      </a:r>
                      <a:endParaRPr lang="en-US" sz="1200" dirty="0">
                        <a:latin typeface="Manrope" charset="0"/>
                        <a:ea typeface="Manrope" charset="0"/>
                        <a:cs typeface="Manrope" charset="0"/>
                      </a:endParaRPr>
                    </a:p>
                  </a:txBody>
                  <a:tcPr marL="53340" marR="53340" marT="53340" marB="53340">
                    <a:lnL w="12700" cap="flat" cmpd="sng" algn="ctr">
                      <a:solidFill>
                        <a:srgbClr val="59493D"/>
                      </a:solidFill>
                      <a:prstDash val="solid"/>
                      <a:round/>
                      <a:headEnd type="none" w="med" len="med"/>
                      <a:tailEnd type="none" w="med" len="med"/>
                    </a:lnL>
                    <a:lnR w="12700" cap="flat" cmpd="sng" algn="ctr">
                      <a:solidFill>
                        <a:srgbClr val="59493D"/>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59493D"/>
                      </a:solidFill>
                      <a:prstDash val="solid"/>
                      <a:round/>
                      <a:headEnd type="none" w="med" len="med"/>
                      <a:tailEnd type="none" w="med" len="med"/>
                    </a:lnB>
                  </a:tcPr>
                </a:tc>
                <a:tc>
                  <a:txBody>
                    <a:bodyPr/>
                    <a:lstStyle/>
                    <a:p>
                      <a:pPr marL="0" indent="0">
                        <a:lnSpc>
                          <a:spcPts val="1680"/>
                        </a:lnSpc>
                        <a:buNone/>
                      </a:pPr>
                      <a:r>
                        <a:rPr lang="en-US" sz="1200" dirty="0">
                          <a:solidFill>
                            <a:srgbClr val="EEF2F8"/>
                          </a:solidFill>
                          <a:latin typeface="Manrope" pitchFamily="34" charset="0"/>
                          <a:ea typeface="Manrope" pitchFamily="34" charset="-122"/>
                          <a:cs typeface="Manrope" pitchFamily="34" charset="-120"/>
                        </a:rPr>
                        <a:t>Yes · Korea 1.7%, Japan 0.1%</a:t>
                      </a:r>
                      <a:endParaRPr lang="en-US" sz="1200" dirty="0">
                        <a:latin typeface="Manrope" charset="0"/>
                        <a:ea typeface="Manrope" charset="0"/>
                        <a:cs typeface="Manrope" charset="0"/>
                      </a:endParaRPr>
                    </a:p>
                  </a:txBody>
                  <a:tcPr marL="53340" marR="53340" marT="53340" marB="53340">
                    <a:lnL w="12700" cap="flat" cmpd="sng" algn="ctr">
                      <a:solidFill>
                        <a:srgbClr val="59493D"/>
                      </a:solidFill>
                      <a:prstDash val="solid"/>
                      <a:round/>
                      <a:headEnd type="none" w="med" len="med"/>
                      <a:tailEnd type="none" w="med" len="med"/>
                    </a:lnL>
                    <a:lnR w="12700" cap="flat" cmpd="sng" algn="ctr">
                      <a:solidFill>
                        <a:srgbClr val="59493D"/>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59493D"/>
                      </a:solidFill>
                      <a:prstDash val="solid"/>
                      <a:round/>
                      <a:headEnd type="none" w="med" len="med"/>
                      <a:tailEnd type="none" w="med" len="med"/>
                    </a:lnB>
                  </a:tcPr>
                </a:tc>
                <a:extLst>
                  <a:ext uri="{0D108BD9-81ED-4DB2-BD59-A6C34878D82A}">
                    <a16:rowId xmlns:a16="http://schemas.microsoft.com/office/drawing/2014/main" val="10001"/>
                  </a:ext>
                </a:extLst>
              </a:tr>
              <a:tr h="329254">
                <a:tc>
                  <a:txBody>
                    <a:bodyPr/>
                    <a:lstStyle/>
                    <a:p>
                      <a:pPr marL="0" indent="0">
                        <a:lnSpc>
                          <a:spcPts val="1680"/>
                        </a:lnSpc>
                        <a:buNone/>
                      </a:pPr>
                      <a:r>
                        <a:rPr lang="en-US" sz="1200" dirty="0">
                          <a:solidFill>
                            <a:srgbClr val="EEF2F8"/>
                          </a:solidFill>
                          <a:latin typeface="Manrope" pitchFamily="34" charset="0"/>
                          <a:ea typeface="Manrope" pitchFamily="34" charset="-122"/>
                          <a:cs typeface="Manrope" pitchFamily="34" charset="-120"/>
                        </a:rPr>
                        <a:t>H2 Reversal</a:t>
                      </a:r>
                      <a:endParaRPr lang="en-US" sz="1200" dirty="0">
                        <a:latin typeface="Manrope" charset="0"/>
                        <a:ea typeface="Manrope" charset="0"/>
                        <a:cs typeface="Manrope" charset="0"/>
                      </a:endParaRPr>
                    </a:p>
                  </a:txBody>
                  <a:tcPr marL="53340" marR="53340" marT="53340" marB="53340">
                    <a:lnL w="12700" cap="flat" cmpd="sng" algn="ctr">
                      <a:solidFill>
                        <a:srgbClr val="59493D"/>
                      </a:solidFill>
                      <a:prstDash val="solid"/>
                      <a:round/>
                      <a:headEnd type="none" w="med" len="med"/>
                      <a:tailEnd type="none" w="med" len="med"/>
                    </a:lnL>
                    <a:lnR w="12700" cap="flat" cmpd="sng" algn="ctr">
                      <a:solidFill>
                        <a:srgbClr val="59493D"/>
                      </a:solidFill>
                      <a:prstDash val="solid"/>
                      <a:round/>
                      <a:headEnd type="none" w="med" len="med"/>
                      <a:tailEnd type="none" w="med" len="med"/>
                    </a:lnR>
                    <a:lnT w="12700" cap="flat" cmpd="sng" algn="ctr">
                      <a:solidFill>
                        <a:srgbClr val="59493D"/>
                      </a:solidFill>
                      <a:prstDash val="solid"/>
                      <a:round/>
                      <a:headEnd type="none" w="med" len="med"/>
                      <a:tailEnd type="none" w="med" len="med"/>
                    </a:lnT>
                    <a:lnB w="12700" cap="flat" cmpd="sng" algn="ctr">
                      <a:solidFill>
                        <a:srgbClr val="59493D"/>
                      </a:solidFill>
                      <a:prstDash val="solid"/>
                      <a:round/>
                      <a:headEnd type="none" w="med" len="med"/>
                      <a:tailEnd type="none" w="med" len="med"/>
                    </a:lnB>
                  </a:tcPr>
                </a:tc>
                <a:tc>
                  <a:txBody>
                    <a:bodyPr/>
                    <a:lstStyle/>
                    <a:p>
                      <a:pPr marL="0" indent="0">
                        <a:lnSpc>
                          <a:spcPts val="1680"/>
                        </a:lnSpc>
                        <a:buNone/>
                      </a:pPr>
                      <a:r>
                        <a:rPr lang="en-US" sz="1200" dirty="0">
                          <a:solidFill>
                            <a:srgbClr val="EEF2F8"/>
                          </a:solidFill>
                          <a:latin typeface="Manrope" pitchFamily="34" charset="0"/>
                          <a:ea typeface="Manrope" pitchFamily="34" charset="-122"/>
                          <a:cs typeface="Manrope" pitchFamily="34" charset="-120"/>
                        </a:rPr>
                        <a:t>Yes in regressions; trade t = 1.3</a:t>
                      </a:r>
                      <a:endParaRPr lang="en-US" sz="1200" dirty="0">
                        <a:latin typeface="Manrope" charset="0"/>
                        <a:ea typeface="Manrope" charset="0"/>
                        <a:cs typeface="Manrope" charset="0"/>
                      </a:endParaRPr>
                    </a:p>
                  </a:txBody>
                  <a:tcPr marL="53340" marR="53340" marT="53340" marB="53340">
                    <a:lnL w="12700" cap="flat" cmpd="sng" algn="ctr">
                      <a:solidFill>
                        <a:srgbClr val="59493D"/>
                      </a:solidFill>
                      <a:prstDash val="solid"/>
                      <a:round/>
                      <a:headEnd type="none" w="med" len="med"/>
                      <a:tailEnd type="none" w="med" len="med"/>
                    </a:lnL>
                    <a:lnR w="12700" cap="flat" cmpd="sng" algn="ctr">
                      <a:solidFill>
                        <a:srgbClr val="59493D"/>
                      </a:solidFill>
                      <a:prstDash val="solid"/>
                      <a:round/>
                      <a:headEnd type="none" w="med" len="med"/>
                      <a:tailEnd type="none" w="med" len="med"/>
                    </a:lnR>
                    <a:lnT w="12700" cap="flat" cmpd="sng" algn="ctr">
                      <a:solidFill>
                        <a:srgbClr val="59493D"/>
                      </a:solidFill>
                      <a:prstDash val="solid"/>
                      <a:round/>
                      <a:headEnd type="none" w="med" len="med"/>
                      <a:tailEnd type="none" w="med" len="med"/>
                    </a:lnT>
                    <a:lnB w="12700" cap="flat" cmpd="sng" algn="ctr">
                      <a:solidFill>
                        <a:srgbClr val="59493D"/>
                      </a:solidFill>
                      <a:prstDash val="solid"/>
                      <a:round/>
                      <a:headEnd type="none" w="med" len="med"/>
                      <a:tailEnd type="none" w="med" len="med"/>
                    </a:lnB>
                  </a:tcPr>
                </a:tc>
                <a:extLst>
                  <a:ext uri="{0D108BD9-81ED-4DB2-BD59-A6C34878D82A}">
                    <a16:rowId xmlns:a16="http://schemas.microsoft.com/office/drawing/2014/main" val="10002"/>
                  </a:ext>
                </a:extLst>
              </a:tr>
              <a:tr h="329254">
                <a:tc>
                  <a:txBody>
                    <a:bodyPr/>
                    <a:lstStyle/>
                    <a:p>
                      <a:pPr marL="0" indent="0">
                        <a:lnSpc>
                          <a:spcPts val="1680"/>
                        </a:lnSpc>
                        <a:buNone/>
                      </a:pPr>
                      <a:r>
                        <a:rPr lang="en-US" sz="1200" dirty="0">
                          <a:solidFill>
                            <a:srgbClr val="EEF2F8"/>
                          </a:solidFill>
                          <a:latin typeface="Manrope" pitchFamily="34" charset="0"/>
                          <a:ea typeface="Manrope" pitchFamily="34" charset="-122"/>
                          <a:cs typeface="Manrope" pitchFamily="34" charset="-120"/>
                        </a:rPr>
                        <a:t>H3 Froth</a:t>
                      </a:r>
                      <a:endParaRPr lang="en-US" sz="1200" dirty="0">
                        <a:latin typeface="Manrope" charset="0"/>
                        <a:ea typeface="Manrope" charset="0"/>
                        <a:cs typeface="Manrope" charset="0"/>
                      </a:endParaRPr>
                    </a:p>
                  </a:txBody>
                  <a:tcPr marL="53340" marR="53340" marT="53340" marB="53340">
                    <a:lnL w="12700" cap="flat" cmpd="sng" algn="ctr">
                      <a:solidFill>
                        <a:srgbClr val="59493D"/>
                      </a:solidFill>
                      <a:prstDash val="solid"/>
                      <a:round/>
                      <a:headEnd type="none" w="med" len="med"/>
                      <a:tailEnd type="none" w="med" len="med"/>
                    </a:lnL>
                    <a:lnR w="12700" cap="flat" cmpd="sng" algn="ctr">
                      <a:solidFill>
                        <a:srgbClr val="59493D"/>
                      </a:solidFill>
                      <a:prstDash val="solid"/>
                      <a:round/>
                      <a:headEnd type="none" w="med" len="med"/>
                      <a:tailEnd type="none" w="med" len="med"/>
                    </a:lnR>
                    <a:lnT w="12700" cap="flat" cmpd="sng" algn="ctr">
                      <a:solidFill>
                        <a:srgbClr val="59493D"/>
                      </a:solidFill>
                      <a:prstDash val="solid"/>
                      <a:round/>
                      <a:headEnd type="none" w="med" len="med"/>
                      <a:tailEnd type="none" w="med" len="med"/>
                    </a:lnT>
                    <a:lnB w="12700" cap="flat" cmpd="sng" algn="ctr">
                      <a:solidFill>
                        <a:srgbClr val="59493D"/>
                      </a:solidFill>
                      <a:prstDash val="solid"/>
                      <a:round/>
                      <a:headEnd type="none" w="med" len="med"/>
                      <a:tailEnd type="none" w="med" len="med"/>
                    </a:lnB>
                  </a:tcPr>
                </a:tc>
                <a:tc>
                  <a:txBody>
                    <a:bodyPr/>
                    <a:lstStyle/>
                    <a:p>
                      <a:pPr marL="0" indent="0">
                        <a:lnSpc>
                          <a:spcPts val="1680"/>
                        </a:lnSpc>
                        <a:buNone/>
                      </a:pPr>
                      <a:r>
                        <a:rPr lang="en-US" sz="1200" dirty="0">
                          <a:solidFill>
                            <a:srgbClr val="8391A7"/>
                          </a:solidFill>
                          <a:latin typeface="Manrope" pitchFamily="34" charset="0"/>
                          <a:ea typeface="Manrope" pitchFamily="34" charset="-122"/>
                          <a:cs typeface="Manrope" pitchFamily="34" charset="-120"/>
                        </a:rPr>
                        <a:t>Not in this window · t = −1.2</a:t>
                      </a:r>
                      <a:endParaRPr lang="en-US" sz="1200" dirty="0">
                        <a:latin typeface="Manrope" charset="0"/>
                        <a:ea typeface="Manrope" charset="0"/>
                        <a:cs typeface="Manrope" charset="0"/>
                      </a:endParaRPr>
                    </a:p>
                  </a:txBody>
                  <a:tcPr marL="53340" marR="53340" marT="53340" marB="53340">
                    <a:lnL w="12700" cap="flat" cmpd="sng" algn="ctr">
                      <a:solidFill>
                        <a:srgbClr val="59493D"/>
                      </a:solidFill>
                      <a:prstDash val="solid"/>
                      <a:round/>
                      <a:headEnd type="none" w="med" len="med"/>
                      <a:tailEnd type="none" w="med" len="med"/>
                    </a:lnL>
                    <a:lnR w="12700" cap="flat" cmpd="sng" algn="ctr">
                      <a:solidFill>
                        <a:srgbClr val="59493D"/>
                      </a:solidFill>
                      <a:prstDash val="solid"/>
                      <a:round/>
                      <a:headEnd type="none" w="med" len="med"/>
                      <a:tailEnd type="none" w="med" len="med"/>
                    </a:lnR>
                    <a:lnT w="12700" cap="flat" cmpd="sng" algn="ctr">
                      <a:solidFill>
                        <a:srgbClr val="59493D"/>
                      </a:solidFill>
                      <a:prstDash val="solid"/>
                      <a:round/>
                      <a:headEnd type="none" w="med" len="med"/>
                      <a:tailEnd type="none" w="med" len="med"/>
                    </a:lnT>
                    <a:lnB w="12700" cap="flat" cmpd="sng" algn="ctr">
                      <a:solidFill>
                        <a:srgbClr val="59493D"/>
                      </a:solidFill>
                      <a:prstDash val="solid"/>
                      <a:round/>
                      <a:headEnd type="none" w="med" len="med"/>
                      <a:tailEnd type="none" w="med" len="med"/>
                    </a:lnB>
                  </a:tcPr>
                </a:tc>
                <a:extLst>
                  <a:ext uri="{0D108BD9-81ED-4DB2-BD59-A6C34878D82A}">
                    <a16:rowId xmlns:a16="http://schemas.microsoft.com/office/drawing/2014/main" val="10003"/>
                  </a:ext>
                </a:extLst>
              </a:tr>
              <a:tr h="329254">
                <a:tc>
                  <a:txBody>
                    <a:bodyPr/>
                    <a:lstStyle/>
                    <a:p>
                      <a:pPr marL="0" indent="0">
                        <a:lnSpc>
                          <a:spcPts val="1680"/>
                        </a:lnSpc>
                        <a:buNone/>
                      </a:pPr>
                      <a:r>
                        <a:rPr lang="en-US" sz="1200" dirty="0">
                          <a:solidFill>
                            <a:srgbClr val="EEF2F8"/>
                          </a:solidFill>
                          <a:latin typeface="Manrope" pitchFamily="34" charset="0"/>
                          <a:ea typeface="Manrope" pitchFamily="34" charset="-122"/>
                          <a:cs typeface="Manrope" pitchFamily="34" charset="-120"/>
                        </a:rPr>
                        <a:t>H4 Channel</a:t>
                      </a:r>
                      <a:endParaRPr lang="en-US" sz="1200" dirty="0">
                        <a:latin typeface="Manrope" charset="0"/>
                        <a:ea typeface="Manrope" charset="0"/>
                        <a:cs typeface="Manrope" charset="0"/>
                      </a:endParaRPr>
                    </a:p>
                  </a:txBody>
                  <a:tcPr marL="53340" marR="53340" marT="53340" marB="53340">
                    <a:lnL w="12700" cap="flat" cmpd="sng" algn="ctr">
                      <a:solidFill>
                        <a:srgbClr val="59493D"/>
                      </a:solidFill>
                      <a:prstDash val="solid"/>
                      <a:round/>
                      <a:headEnd type="none" w="med" len="med"/>
                      <a:tailEnd type="none" w="med" len="med"/>
                    </a:lnL>
                    <a:lnR w="12700" cap="flat" cmpd="sng" algn="ctr">
                      <a:solidFill>
                        <a:srgbClr val="59493D"/>
                      </a:solidFill>
                      <a:prstDash val="solid"/>
                      <a:round/>
                      <a:headEnd type="none" w="med" len="med"/>
                      <a:tailEnd type="none" w="med" len="med"/>
                    </a:lnR>
                    <a:lnT w="12700" cap="flat" cmpd="sng" algn="ctr">
                      <a:solidFill>
                        <a:srgbClr val="59493D"/>
                      </a:solidFill>
                      <a:prstDash val="solid"/>
                      <a:round/>
                      <a:headEnd type="none" w="med" len="med"/>
                      <a:tailEnd type="none" w="med" len="med"/>
                    </a:lnT>
                    <a:lnB w="12700" cap="flat" cmpd="sng" algn="ctr">
                      <a:solidFill>
                        <a:srgbClr val="59493D"/>
                      </a:solidFill>
                      <a:prstDash val="solid"/>
                      <a:round/>
                      <a:headEnd type="none" w="med" len="med"/>
                      <a:tailEnd type="none" w="med" len="med"/>
                    </a:lnB>
                  </a:tcPr>
                </a:tc>
                <a:tc>
                  <a:txBody>
                    <a:bodyPr/>
                    <a:lstStyle/>
                    <a:p>
                      <a:pPr marL="0" indent="0">
                        <a:lnSpc>
                          <a:spcPts val="1680"/>
                        </a:lnSpc>
                        <a:buNone/>
                      </a:pPr>
                      <a:r>
                        <a:rPr lang="en-US" sz="1200" dirty="0">
                          <a:solidFill>
                            <a:srgbClr val="EEF2F8"/>
                          </a:solidFill>
                          <a:latin typeface="Manrope" pitchFamily="34" charset="0"/>
                          <a:ea typeface="Manrope" pitchFamily="34" charset="-122"/>
                          <a:cs typeface="Manrope" pitchFamily="34" charset="-120"/>
                        </a:rPr>
                        <a:t>Yes · Seoul −0.97%, world −0.79%</a:t>
                      </a:r>
                      <a:endParaRPr lang="en-US" sz="1200" dirty="0">
                        <a:latin typeface="Manrope" charset="0"/>
                        <a:ea typeface="Manrope" charset="0"/>
                        <a:cs typeface="Manrope" charset="0"/>
                      </a:endParaRPr>
                    </a:p>
                  </a:txBody>
                  <a:tcPr marL="53340" marR="53340" marT="53340" marB="53340">
                    <a:lnL w="12700" cap="flat" cmpd="sng" algn="ctr">
                      <a:solidFill>
                        <a:srgbClr val="59493D"/>
                      </a:solidFill>
                      <a:prstDash val="solid"/>
                      <a:round/>
                      <a:headEnd type="none" w="med" len="med"/>
                      <a:tailEnd type="none" w="med" len="med"/>
                    </a:lnL>
                    <a:lnR w="12700" cap="flat" cmpd="sng" algn="ctr">
                      <a:solidFill>
                        <a:srgbClr val="59493D"/>
                      </a:solidFill>
                      <a:prstDash val="solid"/>
                      <a:round/>
                      <a:headEnd type="none" w="med" len="med"/>
                      <a:tailEnd type="none" w="med" len="med"/>
                    </a:lnR>
                    <a:lnT w="12700" cap="flat" cmpd="sng" algn="ctr">
                      <a:solidFill>
                        <a:srgbClr val="59493D"/>
                      </a:solidFill>
                      <a:prstDash val="solid"/>
                      <a:round/>
                      <a:headEnd type="none" w="med" len="med"/>
                      <a:tailEnd type="none" w="med" len="med"/>
                    </a:lnT>
                    <a:lnB w="12700" cap="flat" cmpd="sng" algn="ctr">
                      <a:solidFill>
                        <a:srgbClr val="59493D"/>
                      </a:solidFill>
                      <a:prstDash val="solid"/>
                      <a:round/>
                      <a:headEnd type="none" w="med" len="med"/>
                      <a:tailEnd type="none" w="med" len="med"/>
                    </a:lnB>
                  </a:tcPr>
                </a:tc>
                <a:extLst>
                  <a:ext uri="{0D108BD9-81ED-4DB2-BD59-A6C34878D82A}">
                    <a16:rowId xmlns:a16="http://schemas.microsoft.com/office/drawing/2014/main" val="10004"/>
                  </a:ext>
                </a:extLst>
              </a:tr>
              <a:tr h="329254">
                <a:tc>
                  <a:txBody>
                    <a:bodyPr/>
                    <a:lstStyle/>
                    <a:p>
                      <a:pPr marL="0" indent="0">
                        <a:lnSpc>
                          <a:spcPts val="1680"/>
                        </a:lnSpc>
                        <a:buNone/>
                      </a:pPr>
                      <a:r>
                        <a:rPr lang="en-US" sz="1200" dirty="0">
                          <a:solidFill>
                            <a:srgbClr val="EEF2F8"/>
                          </a:solidFill>
                          <a:latin typeface="Manrope" pitchFamily="34" charset="0"/>
                          <a:ea typeface="Manrope" pitchFamily="34" charset="-122"/>
                          <a:cs typeface="Manrope" pitchFamily="34" charset="-120"/>
                        </a:rPr>
                        <a:t>Placebo</a:t>
                      </a:r>
                      <a:endParaRPr lang="en-US" sz="1200" dirty="0">
                        <a:latin typeface="Manrope" charset="0"/>
                        <a:ea typeface="Manrope" charset="0"/>
                        <a:cs typeface="Manrope" charset="0"/>
                      </a:endParaRPr>
                    </a:p>
                  </a:txBody>
                  <a:tcPr marL="53340" marR="53340" marT="53340" marB="53340">
                    <a:lnL w="12700" cap="flat" cmpd="sng" algn="ctr">
                      <a:solidFill>
                        <a:srgbClr val="59493D"/>
                      </a:solidFill>
                      <a:prstDash val="solid"/>
                      <a:round/>
                      <a:headEnd type="none" w="med" len="med"/>
                      <a:tailEnd type="none" w="med" len="med"/>
                    </a:lnL>
                    <a:lnR w="12700" cap="flat" cmpd="sng" algn="ctr">
                      <a:solidFill>
                        <a:srgbClr val="59493D"/>
                      </a:solidFill>
                      <a:prstDash val="solid"/>
                      <a:round/>
                      <a:headEnd type="none" w="med" len="med"/>
                      <a:tailEnd type="none" w="med" len="med"/>
                    </a:lnR>
                    <a:lnT w="12700" cap="flat" cmpd="sng" algn="ctr">
                      <a:solidFill>
                        <a:srgbClr val="59493D"/>
                      </a:solidFill>
                      <a:prstDash val="solid"/>
                      <a:round/>
                      <a:headEnd type="none" w="med" len="med"/>
                      <a:tailEnd type="none" w="med" len="med"/>
                    </a:lnT>
                    <a:lnB w="12700" cap="flat" cmpd="sng" algn="ctr">
                      <a:solidFill>
                        <a:srgbClr val="59493D"/>
                      </a:solidFill>
                      <a:prstDash val="solid"/>
                      <a:round/>
                      <a:headEnd type="none" w="med" len="med"/>
                      <a:tailEnd type="none" w="med" len="med"/>
                    </a:lnB>
                  </a:tcPr>
                </a:tc>
                <a:tc>
                  <a:txBody>
                    <a:bodyPr/>
                    <a:lstStyle/>
                    <a:p>
                      <a:pPr marL="0" indent="0">
                        <a:lnSpc>
                          <a:spcPts val="1680"/>
                        </a:lnSpc>
                        <a:buNone/>
                      </a:pPr>
                      <a:r>
                        <a:rPr lang="en-US" sz="1200" dirty="0">
                          <a:solidFill>
                            <a:srgbClr val="EEF2F8"/>
                          </a:solidFill>
                          <a:latin typeface="Manrope" pitchFamily="34" charset="0"/>
                          <a:ea typeface="Manrope" pitchFamily="34" charset="-122"/>
                          <a:cs typeface="Manrope" pitchFamily="34" charset="-120"/>
                        </a:rPr>
                        <a:t>Japan loses 27% a year</a:t>
                      </a:r>
                      <a:endParaRPr lang="en-US" sz="1200" dirty="0">
                        <a:latin typeface="Manrope" charset="0"/>
                        <a:ea typeface="Manrope" charset="0"/>
                        <a:cs typeface="Manrope" charset="0"/>
                      </a:endParaRPr>
                    </a:p>
                  </a:txBody>
                  <a:tcPr marL="53340" marR="53340" marT="53340" marB="53340">
                    <a:lnL w="12700" cap="flat" cmpd="sng" algn="ctr">
                      <a:solidFill>
                        <a:srgbClr val="59493D"/>
                      </a:solidFill>
                      <a:prstDash val="solid"/>
                      <a:round/>
                      <a:headEnd type="none" w="med" len="med"/>
                      <a:tailEnd type="none" w="med" len="med"/>
                    </a:lnL>
                    <a:lnR w="12700" cap="flat" cmpd="sng" algn="ctr">
                      <a:solidFill>
                        <a:srgbClr val="59493D"/>
                      </a:solidFill>
                      <a:prstDash val="solid"/>
                      <a:round/>
                      <a:headEnd type="none" w="med" len="med"/>
                      <a:tailEnd type="none" w="med" len="med"/>
                    </a:lnR>
                    <a:lnT w="12700" cap="flat" cmpd="sng" algn="ctr">
                      <a:solidFill>
                        <a:srgbClr val="59493D"/>
                      </a:solidFill>
                      <a:prstDash val="solid"/>
                      <a:round/>
                      <a:headEnd type="none" w="med" len="med"/>
                      <a:tailEnd type="none" w="med" len="med"/>
                    </a:lnT>
                    <a:lnB w="12700" cap="flat" cmpd="sng" algn="ctr">
                      <a:solidFill>
                        <a:srgbClr val="59493D"/>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9" name="Text 15"/>
          <p:cNvSpPr/>
          <p:nvPr/>
        </p:nvSpPr>
        <p:spPr>
          <a:xfrm>
            <a:off x="812774" y="5088877"/>
            <a:ext cx="10883418" cy="596813"/>
          </a:xfrm>
          <a:prstGeom prst="rect">
            <a:avLst/>
          </a:prstGeom>
          <a:noFill/>
          <a:ln/>
        </p:spPr>
        <p:txBody>
          <a:bodyPr wrap="square" lIns="0" tIns="0" rIns="0" bIns="0" rtlCol="0" anchor="t">
            <a:normAutofit/>
          </a:bodyPr>
          <a:lstStyle/>
          <a:p>
            <a:pPr marL="0" indent="0" algn="l">
              <a:lnSpc>
                <a:spcPts val="2250"/>
              </a:lnSpc>
              <a:buNone/>
            </a:pPr>
            <a:r>
              <a:rPr lang="en-US" sz="1800" b="1" dirty="0">
                <a:solidFill>
                  <a:srgbClr val="EEF2F8"/>
                </a:solidFill>
                <a:latin typeface="Unbounded" pitchFamily="34" charset="0"/>
                <a:ea typeface="Unbounded" pitchFamily="34" charset="-122"/>
                <a:cs typeface="Unbounded" pitchFamily="34" charset="-120"/>
              </a:rPr>
              <a:t>Trapped capital makes the signal; funding and costs eat </a:t>
            </a:r>
            <a:r>
              <a:rPr lang="en-US" sz="1800" b="1" dirty="0">
                <a:solidFill>
                  <a:srgbClr val="F08A2C"/>
                </a:solidFill>
                <a:latin typeface="Unbounded" pitchFamily="34" charset="0"/>
                <a:ea typeface="Unbounded" pitchFamily="34" charset="-122"/>
                <a:cs typeface="Unbounded" pitchFamily="34" charset="-120"/>
              </a:rPr>
              <a:t>nearly two-thirds</a:t>
            </a:r>
            <a:r>
              <a:rPr lang="en-US" sz="1800" b="1" dirty="0">
                <a:solidFill>
                  <a:srgbClr val="EEF2F8"/>
                </a:solidFill>
                <a:latin typeface="Unbounded" pitchFamily="34" charset="0"/>
                <a:ea typeface="Unbounded" pitchFamily="34" charset="-122"/>
                <a:cs typeface="Unbounded" pitchFamily="34" charset="-120"/>
              </a:rPr>
              <a:t> of it.</a:t>
            </a:r>
            <a:endParaRPr lang="en-US" sz="1800" dirty="0"/>
          </a:p>
        </p:txBody>
      </p:sp>
      <p:sp>
        <p:nvSpPr>
          <p:cNvPr id="20" name="Shape 16"/>
          <p:cNvSpPr/>
          <p:nvPr/>
        </p:nvSpPr>
        <p:spPr>
          <a:xfrm>
            <a:off x="0" y="6248366"/>
            <a:ext cx="12191973" cy="609599"/>
          </a:xfrm>
          <a:prstGeom prst="rect">
            <a:avLst/>
          </a:prstGeom>
          <a:solidFill>
            <a:srgbClr val="060910"/>
          </a:solidFill>
          <a:ln/>
        </p:spPr>
        <p:txBody>
          <a:bodyPr/>
          <a:lstStyle/>
          <a:p>
            <a:endParaRPr lang="en-US"/>
          </a:p>
        </p:txBody>
      </p:sp>
      <p:sp>
        <p:nvSpPr>
          <p:cNvPr id="21" name="Shape 17"/>
          <p:cNvSpPr/>
          <p:nvPr/>
        </p:nvSpPr>
        <p:spPr>
          <a:xfrm>
            <a:off x="0" y="6251541"/>
            <a:ext cx="12191973" cy="0"/>
          </a:xfrm>
          <a:prstGeom prst="line">
            <a:avLst/>
          </a:prstGeom>
          <a:noFill/>
          <a:ln w="6350">
            <a:solidFill>
              <a:srgbClr val="1F2A3D"/>
            </a:solidFill>
            <a:prstDash val="solid"/>
          </a:ln>
        </p:spPr>
        <p:txBody>
          <a:bodyPr/>
          <a:lstStyle/>
          <a:p>
            <a:endParaRPr lang="en-US"/>
          </a:p>
        </p:txBody>
      </p:sp>
      <p:sp>
        <p:nvSpPr>
          <p:cNvPr id="28" name="Text 24"/>
          <p:cNvSpPr/>
          <p:nvPr/>
        </p:nvSpPr>
        <p:spPr>
          <a:xfrm>
            <a:off x="10739168" y="6448788"/>
            <a:ext cx="7680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08 / 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15949" y="663569"/>
            <a:ext cx="2508272" cy="292327"/>
          </a:xfrm>
          <a:prstGeom prst="roundRect">
            <a:avLst>
              <a:gd name="adj" fmla="val 50000"/>
            </a:avLst>
          </a:prstGeom>
          <a:solidFill>
            <a:srgbClr val="8B5CF6">
              <a:alpha val="12000"/>
            </a:srgbClr>
          </a:solidFill>
          <a:ln w="6350">
            <a:solidFill>
              <a:srgbClr val="8B5CF6">
                <a:alpha val="50000"/>
              </a:srgbClr>
            </a:solidFill>
            <a:prstDash val="solid"/>
          </a:ln>
        </p:spPr>
        <p:txBody>
          <a:bodyPr/>
          <a:lstStyle/>
          <a:p>
            <a:endParaRPr lang="en-US"/>
          </a:p>
        </p:txBody>
      </p:sp>
      <p:sp>
        <p:nvSpPr>
          <p:cNvPr id="3" name="Shape 1"/>
          <p:cNvSpPr/>
          <p:nvPr/>
        </p:nvSpPr>
        <p:spPr>
          <a:xfrm>
            <a:off x="931679" y="771618"/>
            <a:ext cx="76155" cy="76155"/>
          </a:xfrm>
          <a:prstGeom prst="roundRect">
            <a:avLst>
              <a:gd name="adj" fmla="val 50000"/>
            </a:avLst>
          </a:prstGeom>
          <a:solidFill>
            <a:srgbClr val="8B5CF6"/>
          </a:solidFill>
          <a:ln/>
          <a:effectLst>
            <a:outerShdw blurRad="76200" dir="60000" algn="bl" rotWithShape="0">
              <a:srgbClr val="8B5CF6">
                <a:alpha val="90000"/>
              </a:srgbClr>
            </a:outerShdw>
          </a:effectLst>
        </p:spPr>
        <p:txBody>
          <a:bodyPr/>
          <a:lstStyle/>
          <a:p>
            <a:endParaRPr lang="en-US"/>
          </a:p>
        </p:txBody>
      </p:sp>
      <p:sp>
        <p:nvSpPr>
          <p:cNvPr id="4" name="Text 2"/>
          <p:cNvSpPr/>
          <p:nvPr/>
        </p:nvSpPr>
        <p:spPr>
          <a:xfrm>
            <a:off x="1083989" y="703070"/>
            <a:ext cx="2237057"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A78BFA"/>
                </a:solidFill>
                <a:latin typeface="JetBrains Mono" pitchFamily="49" charset="0"/>
                <a:ea typeface="JetBrains Mono" pitchFamily="49" charset="-122"/>
                <a:cs typeface="JetBrains Mono" pitchFamily="49" charset="-120"/>
              </a:rPr>
              <a:t>BACKUP · TERM SHEET</a:t>
            </a:r>
            <a:endParaRPr lang="en-US" sz="1200" dirty="0"/>
          </a:p>
        </p:txBody>
      </p:sp>
      <p:sp>
        <p:nvSpPr>
          <p:cNvPr id="5" name="Text 3"/>
          <p:cNvSpPr>
            <a:spLocks noGrp="1"/>
          </p:cNvSpPr>
          <p:nvPr>
            <p:ph type="title"/>
          </p:nvPr>
        </p:nvSpPr>
        <p:spPr>
          <a:xfrm>
            <a:off x="812774" y="1073336"/>
            <a:ext cx="10883418" cy="416534"/>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EEF2F8"/>
                </a:solidFill>
                <a:latin typeface="Unbounded" pitchFamily="34" charset="0"/>
                <a:ea typeface="Unbounded" pitchFamily="34" charset="-122"/>
                <a:cs typeface="Unbounded" pitchFamily="34" charset="-120"/>
              </a:rPr>
              <a:t>The kimchi-premium long-short</a:t>
            </a:r>
            <a:endParaRPr lang="en-US" sz="2800" dirty="0"/>
          </a:p>
        </p:txBody>
      </p:sp>
      <p:sp>
        <p:nvSpPr>
          <p:cNvPr id="6" name="Shape 4"/>
          <p:cNvSpPr/>
          <p:nvPr/>
        </p:nvSpPr>
        <p:spPr>
          <a:xfrm>
            <a:off x="815949" y="1670825"/>
            <a:ext cx="10560003" cy="3194315"/>
          </a:xfrm>
          <a:prstGeom prst="roundRect">
            <a:avLst>
              <a:gd name="adj" fmla="val 3876"/>
            </a:avLst>
          </a:prstGeom>
          <a:solidFill>
            <a:srgbClr val="101725"/>
          </a:solidFill>
          <a:ln w="6350">
            <a:solidFill>
              <a:srgbClr val="1F2A3D"/>
            </a:solidFill>
            <a:prstDash val="solid"/>
          </a:ln>
        </p:spPr>
        <p:txBody>
          <a:bodyPr/>
          <a:lstStyle/>
          <a:p>
            <a:endParaRPr lang="en-US"/>
          </a:p>
        </p:txBody>
      </p:sp>
      <p:sp>
        <p:nvSpPr>
          <p:cNvPr id="7" name="Text 5"/>
          <p:cNvSpPr/>
          <p:nvPr/>
        </p:nvSpPr>
        <p:spPr>
          <a:xfrm>
            <a:off x="817411" y="1672282"/>
            <a:ext cx="1460486" cy="608947"/>
          </a:xfrm>
          <a:custGeom>
            <a:avLst/>
            <a:gdLst/>
            <a:ahLst/>
            <a:cxnLst/>
            <a:rect l="l" t="t" r="r" b="b"/>
            <a:pathLst>
              <a:path w="1460486" h="608947">
                <a:moveTo>
                  <a:pt x="0" y="122363"/>
                </a:moveTo>
                <a:arcTo wR="122363" hR="122363" stAng="10800000" swAng="5400000"/>
                <a:lnTo>
                  <a:pt x="1460486" y="0"/>
                </a:lnTo>
                <a:lnTo>
                  <a:pt x="1460486" y="608947"/>
                </a:lnTo>
                <a:lnTo>
                  <a:pt x="0" y="608947"/>
                </a:lnTo>
                <a:close/>
              </a:path>
            </a:pathLst>
          </a:custGeom>
          <a:solidFill>
            <a:srgbClr val="0C111D"/>
          </a:solidFill>
          <a:ln/>
        </p:spPr>
        <p:txBody>
          <a:bodyPr wrap="square" lIns="139629" tIns="88900" rIns="88829" bIns="93537"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UNIVERSE</a:t>
            </a:r>
            <a:endParaRPr lang="en-US" sz="1200" dirty="0"/>
          </a:p>
        </p:txBody>
      </p:sp>
      <p:sp>
        <p:nvSpPr>
          <p:cNvPr id="8" name="Shape 6"/>
          <p:cNvSpPr/>
          <p:nvPr/>
        </p:nvSpPr>
        <p:spPr>
          <a:xfrm>
            <a:off x="817411" y="1672282"/>
            <a:ext cx="1460486" cy="608947"/>
          </a:xfrm>
          <a:custGeom>
            <a:avLst/>
            <a:gdLst/>
            <a:ahLst/>
            <a:cxnLst/>
            <a:rect l="l" t="t" r="r" b="b"/>
            <a:pathLst>
              <a:path w="1460486" h="608947">
                <a:moveTo>
                  <a:pt x="0" y="602597"/>
                </a:moveTo>
                <a:lnTo>
                  <a:pt x="1460486" y="602597"/>
                </a:lnTo>
                <a:lnTo>
                  <a:pt x="1460486" y="608947"/>
                </a:lnTo>
                <a:lnTo>
                  <a:pt x="0" y="608947"/>
                </a:lnTo>
                <a:lnTo>
                  <a:pt x="0" y="602597"/>
                </a:lnTo>
                <a:close/>
              </a:path>
            </a:pathLst>
          </a:custGeom>
          <a:solidFill>
            <a:srgbClr val="1F2A3D"/>
          </a:solidFill>
          <a:ln/>
        </p:spPr>
        <p:txBody>
          <a:bodyPr/>
          <a:lstStyle/>
          <a:p>
            <a:endParaRPr lang="en-US"/>
          </a:p>
        </p:txBody>
      </p:sp>
      <p:sp>
        <p:nvSpPr>
          <p:cNvPr id="9" name="Shape 7"/>
          <p:cNvSpPr/>
          <p:nvPr/>
        </p:nvSpPr>
        <p:spPr>
          <a:xfrm>
            <a:off x="2277898" y="1672282"/>
            <a:ext cx="9096591" cy="608947"/>
          </a:xfrm>
          <a:custGeom>
            <a:avLst/>
            <a:gdLst/>
            <a:ahLst/>
            <a:cxnLst/>
            <a:rect l="l" t="t" r="r" b="b"/>
            <a:pathLst>
              <a:path w="9096591" h="608947">
                <a:moveTo>
                  <a:pt x="0" y="602597"/>
                </a:moveTo>
                <a:lnTo>
                  <a:pt x="9096591" y="602597"/>
                </a:lnTo>
                <a:lnTo>
                  <a:pt x="9096591" y="608947"/>
                </a:lnTo>
                <a:lnTo>
                  <a:pt x="0" y="608947"/>
                </a:lnTo>
                <a:lnTo>
                  <a:pt x="0" y="602597"/>
                </a:lnTo>
                <a:close/>
              </a:path>
            </a:pathLst>
          </a:custGeom>
          <a:solidFill>
            <a:srgbClr val="1F2A3D"/>
          </a:solidFill>
          <a:ln/>
        </p:spPr>
        <p:txBody>
          <a:bodyPr/>
          <a:lstStyle/>
          <a:p>
            <a:endParaRPr lang="en-US"/>
          </a:p>
        </p:txBody>
      </p:sp>
      <p:sp>
        <p:nvSpPr>
          <p:cNvPr id="10" name="Text 8"/>
          <p:cNvSpPr/>
          <p:nvPr/>
        </p:nvSpPr>
        <p:spPr>
          <a:xfrm>
            <a:off x="2417526" y="1761120"/>
            <a:ext cx="9081854" cy="4520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DE9"/>
                </a:solidFill>
                <a:latin typeface="Manrope" pitchFamily="34" charset="0"/>
                <a:ea typeface="Manrope" pitchFamily="34" charset="-122"/>
                <a:cs typeface="Manrope" pitchFamily="34" charset="-120"/>
              </a:rPr>
              <a:t>Upbit won-market coins with a Binance USDT-margined perpetual; 7-day average volume of at least ₩500 million on Upbit and $5 million on the perp; stablecoins, wrapped tokens and ticker collisions excluded</a:t>
            </a:r>
            <a:endParaRPr lang="en-US" sz="1200" dirty="0"/>
          </a:p>
        </p:txBody>
      </p:sp>
      <p:sp>
        <p:nvSpPr>
          <p:cNvPr id="11" name="Text 9"/>
          <p:cNvSpPr/>
          <p:nvPr/>
        </p:nvSpPr>
        <p:spPr>
          <a:xfrm>
            <a:off x="817411" y="2281231"/>
            <a:ext cx="1460486" cy="395627"/>
          </a:xfrm>
          <a:prstGeom prst="rect">
            <a:avLst/>
          </a:prstGeom>
          <a:solidFill>
            <a:srgbClr val="0C111D"/>
          </a:solidFill>
          <a:ln/>
        </p:spPr>
        <p:txBody>
          <a:bodyPr wrap="square" lIns="139629" tIns="88900" rIns="88829" bIns="68007"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SIGNAL</a:t>
            </a:r>
            <a:endParaRPr lang="en-US" sz="1200" dirty="0"/>
          </a:p>
        </p:txBody>
      </p:sp>
      <p:sp>
        <p:nvSpPr>
          <p:cNvPr id="12" name="Shape 10"/>
          <p:cNvSpPr/>
          <p:nvPr/>
        </p:nvSpPr>
        <p:spPr>
          <a:xfrm>
            <a:off x="817411" y="2673683"/>
            <a:ext cx="1460486" cy="0"/>
          </a:xfrm>
          <a:prstGeom prst="line">
            <a:avLst/>
          </a:prstGeom>
          <a:noFill/>
          <a:ln w="6350">
            <a:solidFill>
              <a:srgbClr val="1F2A3D"/>
            </a:solidFill>
            <a:prstDash val="solid"/>
          </a:ln>
        </p:spPr>
        <p:txBody>
          <a:bodyPr/>
          <a:lstStyle/>
          <a:p>
            <a:endParaRPr lang="en-US"/>
          </a:p>
        </p:txBody>
      </p:sp>
      <p:sp>
        <p:nvSpPr>
          <p:cNvPr id="13" name="Shape 11"/>
          <p:cNvSpPr/>
          <p:nvPr/>
        </p:nvSpPr>
        <p:spPr>
          <a:xfrm>
            <a:off x="2277898" y="2673683"/>
            <a:ext cx="9096591" cy="0"/>
          </a:xfrm>
          <a:prstGeom prst="line">
            <a:avLst/>
          </a:prstGeom>
          <a:noFill/>
          <a:ln w="6350">
            <a:solidFill>
              <a:srgbClr val="1F2A3D"/>
            </a:solidFill>
            <a:prstDash val="solid"/>
          </a:ln>
        </p:spPr>
        <p:txBody>
          <a:bodyPr/>
          <a:lstStyle/>
          <a:p>
            <a:endParaRPr lang="en-US"/>
          </a:p>
        </p:txBody>
      </p:sp>
      <p:sp>
        <p:nvSpPr>
          <p:cNvPr id="14" name="Text 12"/>
          <p:cNvSpPr/>
          <p:nvPr/>
        </p:nvSpPr>
        <p:spPr>
          <a:xfrm>
            <a:off x="2417526" y="2370063"/>
            <a:ext cx="90818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DE9"/>
                </a:solidFill>
                <a:latin typeface="Manrope" pitchFamily="34" charset="0"/>
                <a:ea typeface="Manrope" pitchFamily="34" charset="-122"/>
                <a:cs typeface="Manrope" pitchFamily="34" charset="-120"/>
              </a:rPr>
              <a:t>π(i) = ln P(KRW) − ln P(USDT) − ln(₩/$), minus that day's median coin; mean of the last 7 daily closes at 00:00 UTC</a:t>
            </a:r>
            <a:endParaRPr lang="en-US" sz="1200" dirty="0"/>
          </a:p>
        </p:txBody>
      </p:sp>
      <p:sp>
        <p:nvSpPr>
          <p:cNvPr id="15" name="Text 13"/>
          <p:cNvSpPr/>
          <p:nvPr/>
        </p:nvSpPr>
        <p:spPr>
          <a:xfrm>
            <a:off x="817411" y="2676860"/>
            <a:ext cx="1460486" cy="395627"/>
          </a:xfrm>
          <a:prstGeom prst="rect">
            <a:avLst/>
          </a:prstGeom>
          <a:solidFill>
            <a:srgbClr val="0C111D"/>
          </a:solidFill>
          <a:ln/>
        </p:spPr>
        <p:txBody>
          <a:bodyPr wrap="square" lIns="139629" tIns="88900" rIns="88829" bIns="68007"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FILTERS</a:t>
            </a:r>
            <a:endParaRPr lang="en-US" sz="1200" dirty="0"/>
          </a:p>
        </p:txBody>
      </p:sp>
      <p:sp>
        <p:nvSpPr>
          <p:cNvPr id="16" name="Shape 14"/>
          <p:cNvSpPr/>
          <p:nvPr/>
        </p:nvSpPr>
        <p:spPr>
          <a:xfrm>
            <a:off x="817411" y="3069312"/>
            <a:ext cx="1460486" cy="0"/>
          </a:xfrm>
          <a:prstGeom prst="line">
            <a:avLst/>
          </a:prstGeom>
          <a:noFill/>
          <a:ln w="6350">
            <a:solidFill>
              <a:srgbClr val="1F2A3D"/>
            </a:solidFill>
            <a:prstDash val="solid"/>
          </a:ln>
        </p:spPr>
        <p:txBody>
          <a:bodyPr/>
          <a:lstStyle/>
          <a:p>
            <a:endParaRPr lang="en-US"/>
          </a:p>
        </p:txBody>
      </p:sp>
      <p:sp>
        <p:nvSpPr>
          <p:cNvPr id="17" name="Shape 15"/>
          <p:cNvSpPr/>
          <p:nvPr/>
        </p:nvSpPr>
        <p:spPr>
          <a:xfrm>
            <a:off x="2277898" y="3069312"/>
            <a:ext cx="9096591" cy="0"/>
          </a:xfrm>
          <a:prstGeom prst="line">
            <a:avLst/>
          </a:prstGeom>
          <a:noFill/>
          <a:ln w="6350">
            <a:solidFill>
              <a:srgbClr val="1F2A3D"/>
            </a:solidFill>
            <a:prstDash val="solid"/>
          </a:ln>
        </p:spPr>
        <p:txBody>
          <a:bodyPr/>
          <a:lstStyle/>
          <a:p>
            <a:endParaRPr lang="en-US"/>
          </a:p>
        </p:txBody>
      </p:sp>
      <p:sp>
        <p:nvSpPr>
          <p:cNvPr id="18" name="Text 16"/>
          <p:cNvSpPr/>
          <p:nvPr/>
        </p:nvSpPr>
        <p:spPr>
          <a:xfrm>
            <a:off x="2417526" y="2765692"/>
            <a:ext cx="90818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DE9"/>
                </a:solidFill>
                <a:latin typeface="Manrope" pitchFamily="34" charset="0"/>
                <a:ea typeface="Manrope" pitchFamily="34" charset="-122"/>
                <a:cs typeface="Manrope" pitchFamily="34" charset="-120"/>
              </a:rPr>
              <a:t>Drop |π| above 10% (suspended deposits, delistings); trade only with 20 or more eligible coins</a:t>
            </a:r>
            <a:endParaRPr lang="en-US" sz="1200" dirty="0"/>
          </a:p>
        </p:txBody>
      </p:sp>
      <p:sp>
        <p:nvSpPr>
          <p:cNvPr id="19" name="Text 17"/>
          <p:cNvSpPr/>
          <p:nvPr/>
        </p:nvSpPr>
        <p:spPr>
          <a:xfrm>
            <a:off x="817411" y="3072482"/>
            <a:ext cx="1460486" cy="395627"/>
          </a:xfrm>
          <a:prstGeom prst="rect">
            <a:avLst/>
          </a:prstGeom>
          <a:solidFill>
            <a:srgbClr val="0C111D"/>
          </a:solidFill>
          <a:ln/>
        </p:spPr>
        <p:txBody>
          <a:bodyPr wrap="square" lIns="139629" tIns="88900" rIns="88829" bIns="68007"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POSITION</a:t>
            </a:r>
            <a:endParaRPr lang="en-US" sz="1200" dirty="0"/>
          </a:p>
        </p:txBody>
      </p:sp>
      <p:sp>
        <p:nvSpPr>
          <p:cNvPr id="20" name="Shape 18"/>
          <p:cNvSpPr/>
          <p:nvPr/>
        </p:nvSpPr>
        <p:spPr>
          <a:xfrm>
            <a:off x="817411" y="3464934"/>
            <a:ext cx="1460486" cy="0"/>
          </a:xfrm>
          <a:prstGeom prst="line">
            <a:avLst/>
          </a:prstGeom>
          <a:noFill/>
          <a:ln w="6350">
            <a:solidFill>
              <a:srgbClr val="1F2A3D"/>
            </a:solidFill>
            <a:prstDash val="solid"/>
          </a:ln>
        </p:spPr>
        <p:txBody>
          <a:bodyPr/>
          <a:lstStyle/>
          <a:p>
            <a:endParaRPr lang="en-US"/>
          </a:p>
        </p:txBody>
      </p:sp>
      <p:sp>
        <p:nvSpPr>
          <p:cNvPr id="21" name="Shape 19"/>
          <p:cNvSpPr/>
          <p:nvPr/>
        </p:nvSpPr>
        <p:spPr>
          <a:xfrm>
            <a:off x="2277898" y="3464934"/>
            <a:ext cx="9096591" cy="0"/>
          </a:xfrm>
          <a:prstGeom prst="line">
            <a:avLst/>
          </a:prstGeom>
          <a:noFill/>
          <a:ln w="6350">
            <a:solidFill>
              <a:srgbClr val="1F2A3D"/>
            </a:solidFill>
            <a:prstDash val="solid"/>
          </a:ln>
        </p:spPr>
        <p:txBody>
          <a:bodyPr/>
          <a:lstStyle/>
          <a:p>
            <a:endParaRPr lang="en-US"/>
          </a:p>
        </p:txBody>
      </p:sp>
      <p:sp>
        <p:nvSpPr>
          <p:cNvPr id="22" name="Text 20"/>
          <p:cNvSpPr/>
          <p:nvPr/>
        </p:nvSpPr>
        <p:spPr>
          <a:xfrm>
            <a:off x="2417526" y="3161320"/>
            <a:ext cx="90818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DE9"/>
                </a:solidFill>
                <a:latin typeface="Manrope" pitchFamily="34" charset="0"/>
                <a:ea typeface="Manrope" pitchFamily="34" charset="-122"/>
                <a:cs typeface="Manrope" pitchFamily="34" charset="-120"/>
              </a:rPr>
              <a:t>Short the top fifth by π, long the bottom fifth; equal weights; $1 a side; Binance perpetuals</a:t>
            </a:r>
            <a:endParaRPr lang="en-US" sz="1200" dirty="0"/>
          </a:p>
        </p:txBody>
      </p:sp>
      <p:sp>
        <p:nvSpPr>
          <p:cNvPr id="23" name="Text 21"/>
          <p:cNvSpPr/>
          <p:nvPr/>
        </p:nvSpPr>
        <p:spPr>
          <a:xfrm>
            <a:off x="817411" y="3468111"/>
            <a:ext cx="1460486" cy="395627"/>
          </a:xfrm>
          <a:prstGeom prst="rect">
            <a:avLst/>
          </a:prstGeom>
          <a:solidFill>
            <a:srgbClr val="0C111D"/>
          </a:solidFill>
          <a:ln/>
        </p:spPr>
        <p:txBody>
          <a:bodyPr wrap="square" lIns="139629" tIns="88900" rIns="88829" bIns="68007"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TIMING</a:t>
            </a:r>
            <a:endParaRPr lang="en-US" sz="1200" dirty="0"/>
          </a:p>
        </p:txBody>
      </p:sp>
      <p:sp>
        <p:nvSpPr>
          <p:cNvPr id="24" name="Shape 22"/>
          <p:cNvSpPr/>
          <p:nvPr/>
        </p:nvSpPr>
        <p:spPr>
          <a:xfrm>
            <a:off x="817411" y="3860563"/>
            <a:ext cx="1460486" cy="0"/>
          </a:xfrm>
          <a:prstGeom prst="line">
            <a:avLst/>
          </a:prstGeom>
          <a:noFill/>
          <a:ln w="6350">
            <a:solidFill>
              <a:srgbClr val="1F2A3D"/>
            </a:solidFill>
            <a:prstDash val="solid"/>
          </a:ln>
        </p:spPr>
        <p:txBody>
          <a:bodyPr/>
          <a:lstStyle/>
          <a:p>
            <a:endParaRPr lang="en-US"/>
          </a:p>
        </p:txBody>
      </p:sp>
      <p:sp>
        <p:nvSpPr>
          <p:cNvPr id="25" name="Shape 23"/>
          <p:cNvSpPr/>
          <p:nvPr/>
        </p:nvSpPr>
        <p:spPr>
          <a:xfrm>
            <a:off x="2277898" y="3860563"/>
            <a:ext cx="9096591" cy="0"/>
          </a:xfrm>
          <a:prstGeom prst="line">
            <a:avLst/>
          </a:prstGeom>
          <a:noFill/>
          <a:ln w="6350">
            <a:solidFill>
              <a:srgbClr val="1F2A3D"/>
            </a:solidFill>
            <a:prstDash val="solid"/>
          </a:ln>
        </p:spPr>
        <p:txBody>
          <a:bodyPr/>
          <a:lstStyle/>
          <a:p>
            <a:endParaRPr lang="en-US"/>
          </a:p>
        </p:txBody>
      </p:sp>
      <p:sp>
        <p:nvSpPr>
          <p:cNvPr id="26" name="Text 24"/>
          <p:cNvSpPr/>
          <p:nvPr/>
        </p:nvSpPr>
        <p:spPr>
          <a:xfrm>
            <a:off x="2417526" y="3556949"/>
            <a:ext cx="90818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DE9"/>
                </a:solidFill>
                <a:latin typeface="Manrope" pitchFamily="34" charset="0"/>
                <a:ea typeface="Manrope" pitchFamily="34" charset="-122"/>
                <a:cs typeface="Manrope" pitchFamily="34" charset="-120"/>
              </a:rPr>
              <a:t>Rebalance Monday 00:00 UTC and hold 7 days; perp price change plus funding (longs pay when it is positive)</a:t>
            </a:r>
            <a:endParaRPr lang="en-US" sz="1200" dirty="0"/>
          </a:p>
        </p:txBody>
      </p:sp>
      <p:sp>
        <p:nvSpPr>
          <p:cNvPr id="27" name="Text 25"/>
          <p:cNvSpPr/>
          <p:nvPr/>
        </p:nvSpPr>
        <p:spPr>
          <a:xfrm>
            <a:off x="817411" y="3863739"/>
            <a:ext cx="1460486" cy="395627"/>
          </a:xfrm>
          <a:prstGeom prst="rect">
            <a:avLst/>
          </a:prstGeom>
          <a:solidFill>
            <a:srgbClr val="0C111D"/>
          </a:solidFill>
          <a:ln/>
        </p:spPr>
        <p:txBody>
          <a:bodyPr wrap="square" lIns="139629" tIns="88900" rIns="88829" bIns="68007"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COSTS</a:t>
            </a:r>
            <a:endParaRPr lang="en-US" sz="1200" dirty="0"/>
          </a:p>
        </p:txBody>
      </p:sp>
      <p:sp>
        <p:nvSpPr>
          <p:cNvPr id="28" name="Shape 26"/>
          <p:cNvSpPr/>
          <p:nvPr/>
        </p:nvSpPr>
        <p:spPr>
          <a:xfrm>
            <a:off x="817411" y="4256191"/>
            <a:ext cx="1460486" cy="0"/>
          </a:xfrm>
          <a:prstGeom prst="line">
            <a:avLst/>
          </a:prstGeom>
          <a:noFill/>
          <a:ln w="6350">
            <a:solidFill>
              <a:srgbClr val="1F2A3D"/>
            </a:solidFill>
            <a:prstDash val="solid"/>
          </a:ln>
        </p:spPr>
        <p:txBody>
          <a:bodyPr/>
          <a:lstStyle/>
          <a:p>
            <a:endParaRPr lang="en-US"/>
          </a:p>
        </p:txBody>
      </p:sp>
      <p:sp>
        <p:nvSpPr>
          <p:cNvPr id="29" name="Shape 27"/>
          <p:cNvSpPr/>
          <p:nvPr/>
        </p:nvSpPr>
        <p:spPr>
          <a:xfrm>
            <a:off x="2277898" y="4256191"/>
            <a:ext cx="9096591" cy="0"/>
          </a:xfrm>
          <a:prstGeom prst="line">
            <a:avLst/>
          </a:prstGeom>
          <a:noFill/>
          <a:ln w="6350">
            <a:solidFill>
              <a:srgbClr val="1F2A3D"/>
            </a:solidFill>
            <a:prstDash val="solid"/>
          </a:ln>
        </p:spPr>
        <p:txBody>
          <a:bodyPr/>
          <a:lstStyle/>
          <a:p>
            <a:endParaRPr lang="en-US"/>
          </a:p>
        </p:txBody>
      </p:sp>
      <p:sp>
        <p:nvSpPr>
          <p:cNvPr id="30" name="Text 28"/>
          <p:cNvSpPr/>
          <p:nvPr/>
        </p:nvSpPr>
        <p:spPr>
          <a:xfrm>
            <a:off x="2417526" y="3952571"/>
            <a:ext cx="908185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DE9"/>
                </a:solidFill>
                <a:latin typeface="Manrope" pitchFamily="34" charset="0"/>
                <a:ea typeface="Manrope" pitchFamily="34" charset="-122"/>
                <a:cs typeface="Manrope" pitchFamily="34" charset="-120"/>
              </a:rPr>
              <a:t>10 bp per unit traded, turnover measured from drifted holdings; the net Sharpe ratio reaches zero at about 20 bp</a:t>
            </a:r>
            <a:endParaRPr lang="en-US" sz="1200" dirty="0"/>
          </a:p>
        </p:txBody>
      </p:sp>
      <p:sp>
        <p:nvSpPr>
          <p:cNvPr id="31" name="Text 29"/>
          <p:cNvSpPr/>
          <p:nvPr/>
        </p:nvSpPr>
        <p:spPr>
          <a:xfrm>
            <a:off x="817411" y="4259368"/>
            <a:ext cx="1460486" cy="604309"/>
          </a:xfrm>
          <a:custGeom>
            <a:avLst/>
            <a:gdLst/>
            <a:ahLst/>
            <a:cxnLst/>
            <a:rect l="l" t="t" r="r" b="b"/>
            <a:pathLst>
              <a:path w="1460486" h="604309">
                <a:moveTo>
                  <a:pt x="122363" y="604309"/>
                </a:moveTo>
                <a:arcTo wR="122363" hR="122363" stAng="5400000" swAng="5400000"/>
                <a:lnTo>
                  <a:pt x="0" y="0"/>
                </a:lnTo>
                <a:lnTo>
                  <a:pt x="1460486" y="0"/>
                </a:lnTo>
                <a:lnTo>
                  <a:pt x="1460486" y="604309"/>
                </a:lnTo>
                <a:close/>
              </a:path>
            </a:pathLst>
          </a:custGeom>
          <a:solidFill>
            <a:srgbClr val="0C111D"/>
          </a:solidFill>
          <a:ln/>
        </p:spPr>
        <p:txBody>
          <a:bodyPr wrap="square" lIns="139629" tIns="88900" rIns="88829" bIns="88900"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SAMPLE</a:t>
            </a:r>
            <a:endParaRPr lang="en-US" sz="1200" dirty="0"/>
          </a:p>
        </p:txBody>
      </p:sp>
      <p:sp>
        <p:nvSpPr>
          <p:cNvPr id="32" name="Text 30"/>
          <p:cNvSpPr/>
          <p:nvPr/>
        </p:nvSpPr>
        <p:spPr>
          <a:xfrm>
            <a:off x="2417526" y="4348200"/>
            <a:ext cx="9081854" cy="45203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5DDE9"/>
                </a:solidFill>
                <a:latin typeface="Manrope" pitchFamily="34" charset="0"/>
                <a:ea typeface="Manrope" pitchFamily="34" charset="-122"/>
                <a:cs typeface="Manrope" pitchFamily="34" charset="-120"/>
              </a:rPr>
              <a:t>Reported: formation weeks 4 Oct 2021 – 21 Sep 2026 (260 weeks, 69 eligible coins a week, 216 coins traded). The pre-registered 2020–26 run ships in the package.</a:t>
            </a:r>
            <a:endParaRPr lang="en-US" sz="1200" dirty="0"/>
          </a:p>
        </p:txBody>
      </p:sp>
      <p:sp>
        <p:nvSpPr>
          <p:cNvPr id="33" name="Shape 31"/>
          <p:cNvSpPr/>
          <p:nvPr/>
        </p:nvSpPr>
        <p:spPr>
          <a:xfrm>
            <a:off x="0" y="6248369"/>
            <a:ext cx="12191973" cy="609599"/>
          </a:xfrm>
          <a:prstGeom prst="rect">
            <a:avLst/>
          </a:prstGeom>
          <a:solidFill>
            <a:srgbClr val="060910"/>
          </a:solidFill>
          <a:ln/>
        </p:spPr>
        <p:txBody>
          <a:bodyPr/>
          <a:lstStyle/>
          <a:p>
            <a:endParaRPr lang="en-US"/>
          </a:p>
        </p:txBody>
      </p:sp>
      <p:sp>
        <p:nvSpPr>
          <p:cNvPr id="34" name="Shape 32"/>
          <p:cNvSpPr/>
          <p:nvPr/>
        </p:nvSpPr>
        <p:spPr>
          <a:xfrm>
            <a:off x="0" y="6251544"/>
            <a:ext cx="12191973" cy="0"/>
          </a:xfrm>
          <a:prstGeom prst="line">
            <a:avLst/>
          </a:prstGeom>
          <a:noFill/>
          <a:ln w="6350">
            <a:solidFill>
              <a:srgbClr val="1F2A3D"/>
            </a:solidFill>
            <a:prstDash val="solid"/>
          </a:ln>
        </p:spPr>
        <p:txBody>
          <a:bodyPr/>
          <a:lstStyle/>
          <a:p>
            <a:endParaRPr lang="en-US"/>
          </a:p>
        </p:txBody>
      </p:sp>
      <p:sp>
        <p:nvSpPr>
          <p:cNvPr id="41" name="Text 39"/>
          <p:cNvSpPr/>
          <p:nvPr/>
        </p:nvSpPr>
        <p:spPr>
          <a:xfrm>
            <a:off x="10739168" y="6448791"/>
            <a:ext cx="7680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B1 / B4</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815949" y="663563"/>
            <a:ext cx="2287344" cy="292327"/>
          </a:xfrm>
          <a:prstGeom prst="roundRect">
            <a:avLst>
              <a:gd name="adj" fmla="val 50000"/>
            </a:avLst>
          </a:prstGeom>
          <a:solidFill>
            <a:srgbClr val="8B5CF6">
              <a:alpha val="12000"/>
            </a:srgbClr>
          </a:solidFill>
          <a:ln w="6350">
            <a:solidFill>
              <a:srgbClr val="8B5CF6">
                <a:alpha val="50000"/>
              </a:srgbClr>
            </a:solidFill>
            <a:prstDash val="solid"/>
          </a:ln>
        </p:spPr>
        <p:txBody>
          <a:bodyPr/>
          <a:lstStyle/>
          <a:p>
            <a:endParaRPr lang="en-US"/>
          </a:p>
        </p:txBody>
      </p:sp>
      <p:sp>
        <p:nvSpPr>
          <p:cNvPr id="3" name="Shape 1"/>
          <p:cNvSpPr/>
          <p:nvPr/>
        </p:nvSpPr>
        <p:spPr>
          <a:xfrm>
            <a:off x="931679" y="771618"/>
            <a:ext cx="76155" cy="76155"/>
          </a:xfrm>
          <a:prstGeom prst="roundRect">
            <a:avLst>
              <a:gd name="adj" fmla="val 50000"/>
            </a:avLst>
          </a:prstGeom>
          <a:solidFill>
            <a:srgbClr val="8B5CF6"/>
          </a:solidFill>
          <a:ln/>
          <a:effectLst>
            <a:outerShdw blurRad="76200" dir="60000" algn="bl" rotWithShape="0">
              <a:srgbClr val="8B5CF6">
                <a:alpha val="90000"/>
              </a:srgbClr>
            </a:outerShdw>
          </a:effectLst>
        </p:spPr>
        <p:txBody>
          <a:bodyPr/>
          <a:lstStyle/>
          <a:p>
            <a:endParaRPr lang="en-US"/>
          </a:p>
        </p:txBody>
      </p:sp>
      <p:sp>
        <p:nvSpPr>
          <p:cNvPr id="4" name="Text 2"/>
          <p:cNvSpPr/>
          <p:nvPr/>
        </p:nvSpPr>
        <p:spPr>
          <a:xfrm>
            <a:off x="1083989" y="703070"/>
            <a:ext cx="2016129"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A78BFA"/>
                </a:solidFill>
                <a:latin typeface="JetBrains Mono" pitchFamily="49" charset="0"/>
                <a:ea typeface="JetBrains Mono" pitchFamily="49" charset="-122"/>
                <a:cs typeface="JetBrains Mono" pitchFamily="49" charset="-120"/>
              </a:rPr>
              <a:t>BACKUP · H3 FROTH</a:t>
            </a:r>
            <a:endParaRPr lang="en-US" sz="1200" dirty="0"/>
          </a:p>
        </p:txBody>
      </p:sp>
      <p:sp>
        <p:nvSpPr>
          <p:cNvPr id="5" name="Text 3"/>
          <p:cNvSpPr>
            <a:spLocks noGrp="1"/>
          </p:cNvSpPr>
          <p:nvPr>
            <p:ph type="title"/>
          </p:nvPr>
        </p:nvSpPr>
        <p:spPr>
          <a:xfrm>
            <a:off x="812774" y="1073336"/>
            <a:ext cx="10883418" cy="416534"/>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EEF2F8"/>
                </a:solidFill>
                <a:latin typeface="Unbounded" pitchFamily="34" charset="0"/>
                <a:ea typeface="Unbounded" pitchFamily="34" charset="-122"/>
                <a:cs typeface="Unbounded" pitchFamily="34" charset="-120"/>
              </a:rPr>
              <a:t>Froth barely predicts bitcoin</a:t>
            </a:r>
            <a:endParaRPr lang="en-US" sz="2800" dirty="0"/>
          </a:p>
        </p:txBody>
      </p:sp>
      <p:sp>
        <p:nvSpPr>
          <p:cNvPr id="6" name="Shape 4"/>
          <p:cNvSpPr/>
          <p:nvPr/>
        </p:nvSpPr>
        <p:spPr>
          <a:xfrm>
            <a:off x="815949" y="1670819"/>
            <a:ext cx="5327584" cy="3924558"/>
          </a:xfrm>
          <a:prstGeom prst="roundRect">
            <a:avLst>
              <a:gd name="adj" fmla="val 3155"/>
            </a:avLst>
          </a:prstGeom>
          <a:solidFill>
            <a:srgbClr val="101725"/>
          </a:solidFill>
          <a:ln w="6350">
            <a:solidFill>
              <a:srgbClr val="1F2A3D"/>
            </a:solidFill>
            <a:prstDash val="solid"/>
          </a:ln>
        </p:spPr>
        <p:txBody>
          <a:bodyPr/>
          <a:lstStyle/>
          <a:p>
            <a:endParaRPr lang="en-US"/>
          </a:p>
        </p:txBody>
      </p:sp>
      <p:sp>
        <p:nvSpPr>
          <p:cNvPr id="7" name="Text 5"/>
          <p:cNvSpPr/>
          <p:nvPr/>
        </p:nvSpPr>
        <p:spPr>
          <a:xfrm>
            <a:off x="969793" y="1824664"/>
            <a:ext cx="5170493"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BTC NEXT 4 WEEKS BY Κ QUINTILE</a:t>
            </a:r>
            <a:endParaRPr lang="en-US" sz="1200" dirty="0"/>
          </a:p>
        </p:txBody>
      </p:sp>
      <p:pic>
        <p:nvPicPr>
          <p:cNvPr id="8" name="Image 0" descr="Bitcoin's return over the next 4 weeks by quintile of Korea's bitcoin premium at formation, October 2021 to September 2026: +3.1%, +3.6%, +0.4%, +1.3% and −0.3% from the lowest to the highest premium quintile"/>
          <p:cNvPicPr>
            <a:picLocks noChangeAspect="1"/>
          </p:cNvPicPr>
          <p:nvPr/>
        </p:nvPicPr>
        <p:blipFill>
          <a:blip r:embed="rId3"/>
          <a:srcRect t="-3" b="-3"/>
          <a:stretch/>
        </p:blipFill>
        <p:spPr>
          <a:xfrm>
            <a:off x="969793" y="2114141"/>
            <a:ext cx="5016490" cy="3327396"/>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359158" y="1676919"/>
          <a:ext cx="5019897" cy="2304778"/>
        </p:xfrm>
        <a:graphic>
          <a:graphicData uri="http://schemas.openxmlformats.org/drawingml/2006/table">
            <a:tbl>
              <a:tblPr/>
              <a:tblGrid>
                <a:gridCol w="3212734">
                  <a:extLst>
                    <a:ext uri="{9D8B030D-6E8A-4147-A177-3AD203B41FA5}">
                      <a16:colId xmlns:a16="http://schemas.microsoft.com/office/drawing/2014/main" val="20000"/>
                    </a:ext>
                  </a:extLst>
                </a:gridCol>
                <a:gridCol w="1807163">
                  <a:extLst>
                    <a:ext uri="{9D8B030D-6E8A-4147-A177-3AD203B41FA5}">
                      <a16:colId xmlns:a16="http://schemas.microsoft.com/office/drawing/2014/main" val="20001"/>
                    </a:ext>
                  </a:extLst>
                </a:gridCol>
              </a:tblGrid>
              <a:tr h="329254">
                <a:tc>
                  <a:txBody>
                    <a:bodyPr/>
                    <a:lstStyle/>
                    <a:p>
                      <a:pPr marL="0" indent="0">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BTC 4-week return on κ</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gn="r">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Estimate</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extLst>
                  <a:ext uri="{0D108BD9-81ED-4DB2-BD59-A6C34878D82A}">
                    <a16:rowId xmlns:a16="http://schemas.microsoft.com/office/drawing/2014/main" val="10000"/>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Slope per point of κ</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−0.84%</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extLst>
                  <a:ext uri="{0D108BD9-81ED-4DB2-BD59-A6C34878D82A}">
                    <a16:rowId xmlns:a16="http://schemas.microsoft.com/office/drawing/2014/main" val="10001"/>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t-stat (Newey–West)</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−1.2</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extLst>
                  <a:ext uri="{0D108BD9-81ED-4DB2-BD59-A6C34878D82A}">
                    <a16:rowId xmlns:a16="http://schemas.microsoft.com/office/drawing/2014/main" val="10002"/>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R²</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1.1%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extLst>
                  <a:ext uri="{0D108BD9-81ED-4DB2-BD59-A6C34878D82A}">
                    <a16:rowId xmlns:a16="http://schemas.microsoft.com/office/drawing/2014/main" val="10003"/>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Brake weeks</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22 of 260</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extLst>
                  <a:ext uri="{0D108BD9-81ED-4DB2-BD59-A6C34878D82A}">
                    <a16:rowId xmlns:a16="http://schemas.microsoft.com/office/drawing/2014/main" val="10004"/>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BTC Sharpe, always long</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0.33</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extLst>
                  <a:ext uri="{0D108BD9-81ED-4DB2-BD59-A6C34878D82A}">
                    <a16:rowId xmlns:a16="http://schemas.microsoft.com/office/drawing/2014/main" val="10005"/>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BTC Sharpe, with brake</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0.22</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Text 6"/>
          <p:cNvSpPr/>
          <p:nvPr/>
        </p:nvSpPr>
        <p:spPr>
          <a:xfrm>
            <a:off x="6349883" y="4108648"/>
            <a:ext cx="5180195" cy="87867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The pre-set brake sits out a week when κ is above its trailing-year 90th percentile. Bitcoin happened to rally in those 22 weeks, so the brake cost money. 257 weekly observations; Newey–West with 8 lags for the overlapping returns.</a:t>
            </a:r>
            <a:endParaRPr lang="en-US" sz="1200" dirty="0"/>
          </a:p>
        </p:txBody>
      </p:sp>
      <p:sp>
        <p:nvSpPr>
          <p:cNvPr id="11" name="Shape 7"/>
          <p:cNvSpPr/>
          <p:nvPr/>
        </p:nvSpPr>
        <p:spPr>
          <a:xfrm>
            <a:off x="0" y="6248369"/>
            <a:ext cx="12191973" cy="609599"/>
          </a:xfrm>
          <a:prstGeom prst="rect">
            <a:avLst/>
          </a:prstGeom>
          <a:solidFill>
            <a:srgbClr val="060910"/>
          </a:solidFill>
          <a:ln/>
        </p:spPr>
        <p:txBody>
          <a:bodyPr/>
          <a:lstStyle/>
          <a:p>
            <a:endParaRPr lang="en-US"/>
          </a:p>
        </p:txBody>
      </p:sp>
      <p:sp>
        <p:nvSpPr>
          <p:cNvPr id="12" name="Shape 8"/>
          <p:cNvSpPr/>
          <p:nvPr/>
        </p:nvSpPr>
        <p:spPr>
          <a:xfrm>
            <a:off x="0" y="6251544"/>
            <a:ext cx="12191973" cy="0"/>
          </a:xfrm>
          <a:prstGeom prst="line">
            <a:avLst/>
          </a:prstGeom>
          <a:noFill/>
          <a:ln w="6350">
            <a:solidFill>
              <a:srgbClr val="1F2A3D"/>
            </a:solidFill>
            <a:prstDash val="solid"/>
          </a:ln>
        </p:spPr>
        <p:txBody>
          <a:bodyPr/>
          <a:lstStyle/>
          <a:p>
            <a:endParaRPr lang="en-US"/>
          </a:p>
        </p:txBody>
      </p:sp>
      <p:sp>
        <p:nvSpPr>
          <p:cNvPr id="19" name="Text 15"/>
          <p:cNvSpPr/>
          <p:nvPr/>
        </p:nvSpPr>
        <p:spPr>
          <a:xfrm>
            <a:off x="10739168" y="6448791"/>
            <a:ext cx="7680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B2 / B4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15949" y="663569"/>
            <a:ext cx="2618772" cy="292327"/>
          </a:xfrm>
          <a:prstGeom prst="roundRect">
            <a:avLst>
              <a:gd name="adj" fmla="val 50000"/>
            </a:avLst>
          </a:prstGeom>
          <a:solidFill>
            <a:srgbClr val="8B5CF6">
              <a:alpha val="12000"/>
            </a:srgbClr>
          </a:solidFill>
          <a:ln w="6350">
            <a:solidFill>
              <a:srgbClr val="8B5CF6">
                <a:alpha val="50000"/>
              </a:srgbClr>
            </a:solidFill>
            <a:prstDash val="solid"/>
          </a:ln>
        </p:spPr>
        <p:txBody>
          <a:bodyPr/>
          <a:lstStyle/>
          <a:p>
            <a:endParaRPr lang="en-US"/>
          </a:p>
        </p:txBody>
      </p:sp>
      <p:sp>
        <p:nvSpPr>
          <p:cNvPr id="3" name="Shape 1"/>
          <p:cNvSpPr/>
          <p:nvPr/>
        </p:nvSpPr>
        <p:spPr>
          <a:xfrm>
            <a:off x="931679" y="771618"/>
            <a:ext cx="76155" cy="76155"/>
          </a:xfrm>
          <a:prstGeom prst="roundRect">
            <a:avLst>
              <a:gd name="adj" fmla="val 50000"/>
            </a:avLst>
          </a:prstGeom>
          <a:solidFill>
            <a:srgbClr val="8B5CF6"/>
          </a:solidFill>
          <a:ln/>
          <a:effectLst>
            <a:outerShdw blurRad="76200" dir="60000" algn="bl" rotWithShape="0">
              <a:srgbClr val="8B5CF6">
                <a:alpha val="90000"/>
              </a:srgbClr>
            </a:outerShdw>
          </a:effectLst>
        </p:spPr>
        <p:txBody>
          <a:bodyPr/>
          <a:lstStyle/>
          <a:p>
            <a:endParaRPr lang="en-US"/>
          </a:p>
        </p:txBody>
      </p:sp>
      <p:sp>
        <p:nvSpPr>
          <p:cNvPr id="4" name="Text 2"/>
          <p:cNvSpPr/>
          <p:nvPr/>
        </p:nvSpPr>
        <p:spPr>
          <a:xfrm>
            <a:off x="1083989" y="703070"/>
            <a:ext cx="2347557"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A78BFA"/>
                </a:solidFill>
                <a:latin typeface="JetBrains Mono" pitchFamily="49" charset="0"/>
                <a:ea typeface="JetBrains Mono" pitchFamily="49" charset="-122"/>
                <a:cs typeface="JetBrains Mono" pitchFamily="49" charset="-120"/>
              </a:rPr>
              <a:t>BACKUP · RISK DETAIL</a:t>
            </a:r>
            <a:endParaRPr lang="en-US" sz="1200" dirty="0"/>
          </a:p>
        </p:txBody>
      </p:sp>
      <p:sp>
        <p:nvSpPr>
          <p:cNvPr id="5" name="Text 3"/>
          <p:cNvSpPr>
            <a:spLocks noGrp="1"/>
          </p:cNvSpPr>
          <p:nvPr>
            <p:ph type="title"/>
          </p:nvPr>
        </p:nvSpPr>
        <p:spPr>
          <a:xfrm>
            <a:off x="812774" y="1073336"/>
            <a:ext cx="10883418" cy="416534"/>
          </a:xfrm>
          <a:prstGeom prst="rect">
            <a:avLst/>
          </a:prstGeom>
          <a:noFill/>
          <a:ln/>
        </p:spPr>
        <p:txBody>
          <a:bodyPr wrap="square" lIns="0" tIns="0" rIns="0" bIns="0" rtlCol="0" anchor="t">
            <a:normAutofit/>
          </a:bodyPr>
          <a:lstStyle/>
          <a:p>
            <a:pPr marL="0" indent="0" algn="l">
              <a:lnSpc>
                <a:spcPts val="3080"/>
              </a:lnSpc>
              <a:buNone/>
            </a:pPr>
            <a:r>
              <a:rPr lang="en-US" sz="2800" b="1" i="0" kern="0" spc="-50" dirty="0">
                <a:solidFill>
                  <a:srgbClr val="EEF2F8"/>
                </a:solidFill>
                <a:latin typeface="Unbounded" pitchFamily="34" charset="0"/>
                <a:ea typeface="Unbounded" pitchFamily="34" charset="-122"/>
                <a:cs typeface="Unbounded" pitchFamily="34" charset="-120"/>
              </a:rPr>
              <a:t>Regimes, stress weeks and exposures</a:t>
            </a:r>
            <a:endParaRPr lang="en-US" sz="2800" dirty="0"/>
          </a:p>
        </p:txBody>
      </p:sp>
      <p:sp>
        <p:nvSpPr>
          <p:cNvPr id="6" name="Shape 4"/>
          <p:cNvSpPr/>
          <p:nvPr/>
        </p:nvSpPr>
        <p:spPr>
          <a:xfrm>
            <a:off x="815949" y="1670825"/>
            <a:ext cx="4565603" cy="3676893"/>
          </a:xfrm>
          <a:prstGeom prst="roundRect">
            <a:avLst>
              <a:gd name="adj" fmla="val 3368"/>
            </a:avLst>
          </a:prstGeom>
          <a:solidFill>
            <a:srgbClr val="101725"/>
          </a:solidFill>
          <a:ln w="6350">
            <a:solidFill>
              <a:srgbClr val="1F2A3D"/>
            </a:solidFill>
            <a:prstDash val="solid"/>
          </a:ln>
        </p:spPr>
        <p:txBody>
          <a:bodyPr/>
          <a:lstStyle/>
          <a:p>
            <a:endParaRPr lang="en-US"/>
          </a:p>
        </p:txBody>
      </p:sp>
      <p:sp>
        <p:nvSpPr>
          <p:cNvPr id="7" name="Text 5"/>
          <p:cNvSpPr/>
          <p:nvPr/>
        </p:nvSpPr>
        <p:spPr>
          <a:xfrm>
            <a:off x="969793" y="1824670"/>
            <a:ext cx="4385653" cy="238720"/>
          </a:xfrm>
          <a:prstGeom prst="rect">
            <a:avLst/>
          </a:prstGeom>
          <a:noFill/>
          <a:ln/>
        </p:spPr>
        <p:txBody>
          <a:bodyPr wrap="square" lIns="0" tIns="0" rIns="0" bIns="0" rtlCol="0" anchor="t">
            <a:normAutofit/>
          </a:bodyPr>
          <a:lstStyle/>
          <a:p>
            <a:pPr marL="0" indent="0" algn="l">
              <a:lnSpc>
                <a:spcPts val="1680"/>
              </a:lnSpc>
              <a:buNone/>
            </a:pPr>
            <a:r>
              <a:rPr lang="en-US" sz="1200" kern="0" spc="100" dirty="0">
                <a:solidFill>
                  <a:srgbClr val="8391A7"/>
                </a:solidFill>
                <a:latin typeface="JetBrains Mono" pitchFamily="49" charset="0"/>
                <a:ea typeface="JetBrains Mono" pitchFamily="49" charset="-122"/>
                <a:cs typeface="JetBrains Mono" pitchFamily="49" charset="-120"/>
              </a:rPr>
              <a:t>NET RETURN BY KOREA'S PREMIUM</a:t>
            </a:r>
            <a:endParaRPr lang="en-US" sz="1200" dirty="0"/>
          </a:p>
        </p:txBody>
      </p:sp>
      <p:pic>
        <p:nvPicPr>
          <p:cNvPr id="8" name="Image 0" descr="Average weekly net return by Korea's bitcoin premium at formation: discount +1.41% (37 weeks), 0–2% −0.02% (132 weeks), 2–5% +0.16% (76 weeks), above 5% +0.83% (15 weeks)"/>
          <p:cNvPicPr>
            <a:picLocks noChangeAspect="1"/>
          </p:cNvPicPr>
          <p:nvPr/>
        </p:nvPicPr>
        <p:blipFill>
          <a:blip r:embed="rId3"/>
          <a:srcRect l="-19" r="-19"/>
          <a:stretch/>
        </p:blipFill>
        <p:spPr>
          <a:xfrm>
            <a:off x="969793" y="2114141"/>
            <a:ext cx="4254438" cy="3079730"/>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597178" y="1676925"/>
          <a:ext cx="5781874" cy="1975524"/>
        </p:xfrm>
        <a:graphic>
          <a:graphicData uri="http://schemas.openxmlformats.org/drawingml/2006/table">
            <a:tbl>
              <a:tblPr/>
              <a:tblGrid>
                <a:gridCol w="2312750">
                  <a:extLst>
                    <a:ext uri="{9D8B030D-6E8A-4147-A177-3AD203B41FA5}">
                      <a16:colId xmlns:a16="http://schemas.microsoft.com/office/drawing/2014/main" val="20000"/>
                    </a:ext>
                  </a:extLst>
                </a:gridCol>
                <a:gridCol w="867281">
                  <a:extLst>
                    <a:ext uri="{9D8B030D-6E8A-4147-A177-3AD203B41FA5}">
                      <a16:colId xmlns:a16="http://schemas.microsoft.com/office/drawing/2014/main" val="20001"/>
                    </a:ext>
                  </a:extLst>
                </a:gridCol>
                <a:gridCol w="867281">
                  <a:extLst>
                    <a:ext uri="{9D8B030D-6E8A-4147-A177-3AD203B41FA5}">
                      <a16:colId xmlns:a16="http://schemas.microsoft.com/office/drawing/2014/main" val="20002"/>
                    </a:ext>
                  </a:extLst>
                </a:gridCol>
                <a:gridCol w="867281">
                  <a:extLst>
                    <a:ext uri="{9D8B030D-6E8A-4147-A177-3AD203B41FA5}">
                      <a16:colId xmlns:a16="http://schemas.microsoft.com/office/drawing/2014/main" val="20003"/>
                    </a:ext>
                  </a:extLst>
                </a:gridCol>
                <a:gridCol w="867281">
                  <a:extLst>
                    <a:ext uri="{9D8B030D-6E8A-4147-A177-3AD203B41FA5}">
                      <a16:colId xmlns:a16="http://schemas.microsoft.com/office/drawing/2014/main" val="20004"/>
                    </a:ext>
                  </a:extLst>
                </a:gridCol>
              </a:tblGrid>
              <a:tr h="329254">
                <a:tc>
                  <a:txBody>
                    <a:bodyPr/>
                    <a:lstStyle/>
                    <a:p>
                      <a:pPr marL="0" indent="0">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Week of</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gn="r">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Book</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gn="r">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Longs</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gn="r">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Shorts</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tc>
                  <a:txBody>
                    <a:bodyPr/>
                    <a:lstStyle/>
                    <a:p>
                      <a:pPr marL="0" indent="0" algn="r">
                        <a:lnSpc>
                          <a:spcPts val="1680"/>
                        </a:lnSpc>
                        <a:buNone/>
                      </a:pPr>
                      <a:r>
                        <a:rPr lang="en-US" sz="1200" b="1" dirty="0">
                          <a:solidFill>
                            <a:srgbClr val="8391A7"/>
                          </a:solidFill>
                          <a:latin typeface="JetBrains Mono" pitchFamily="49" charset="0"/>
                          <a:ea typeface="JetBrains Mono" pitchFamily="49" charset="-122"/>
                          <a:cs typeface="JetBrains Mono" pitchFamily="49" charset="-120"/>
                        </a:rPr>
                        <a:t>BTC</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34953"/>
                      </a:solidFill>
                      <a:prstDash val="solid"/>
                      <a:round/>
                      <a:headEnd type="none" w="med" len="med"/>
                      <a:tailEnd type="none" w="med" len="med"/>
                    </a:lnL>
                    <a:lnR w="12700" cap="flat" cmpd="sng" algn="ctr">
                      <a:solidFill>
                        <a:srgbClr val="434953"/>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34953"/>
                      </a:solidFill>
                      <a:prstDash val="solid"/>
                      <a:round/>
                      <a:headEnd type="none" w="med" len="med"/>
                      <a:tailEnd type="none" w="med" len="med"/>
                    </a:lnB>
                    <a:solidFill>
                      <a:srgbClr val="101725"/>
                    </a:solidFill>
                  </a:tcPr>
                </a:tc>
                <a:extLst>
                  <a:ext uri="{0D108BD9-81ED-4DB2-BD59-A6C34878D82A}">
                    <a16:rowId xmlns:a16="http://schemas.microsoft.com/office/drawing/2014/main" val="10000"/>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LUNA, May 2022</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22C55E"/>
                          </a:solidFill>
                          <a:latin typeface="JetBrains Mono" pitchFamily="49" charset="0"/>
                          <a:ea typeface="JetBrains Mono" pitchFamily="49" charset="-122"/>
                          <a:cs typeface="JetBrains Mono" pitchFamily="49" charset="-120"/>
                        </a:rPr>
                        <a:t>+3.9%</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−21.1%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+25.3%</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−8.0%</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34953"/>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extLst>
                  <a:ext uri="{0D108BD9-81ED-4DB2-BD59-A6C34878D82A}">
                    <a16:rowId xmlns:a16="http://schemas.microsoft.com/office/drawing/2014/main" val="10001"/>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FTX, Nov 2022</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22C55E"/>
                          </a:solidFill>
                          <a:latin typeface="JetBrains Mono" pitchFamily="49" charset="0"/>
                          <a:ea typeface="JetBrains Mono" pitchFamily="49" charset="-122"/>
                          <a:cs typeface="JetBrains Mono" pitchFamily="49" charset="-120"/>
                        </a:rPr>
                        <a:t>+2.5%</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−25.7%</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+28.5%</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−21.6%</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extLst>
                  <a:ext uri="{0D108BD9-81ED-4DB2-BD59-A6C34878D82A}">
                    <a16:rowId xmlns:a16="http://schemas.microsoft.com/office/drawing/2014/main" val="10002"/>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Yen unwind, Aug 2024</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F87171"/>
                          </a:solidFill>
                          <a:latin typeface="JetBrains Mono" pitchFamily="49" charset="0"/>
                          <a:ea typeface="JetBrains Mono" pitchFamily="49" charset="-122"/>
                          <a:cs typeface="JetBrains Mono" pitchFamily="49" charset="-120"/>
                        </a:rPr>
                        <a:t>−8.2%</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−1.6%</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−6.4%</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+0.9%</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extLst>
                  <a:ext uri="{0D108BD9-81ED-4DB2-BD59-A6C34878D82A}">
                    <a16:rowId xmlns:a16="http://schemas.microsoft.com/office/drawing/2014/main" val="10003"/>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Martial law, Dec 2024</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22C55E"/>
                          </a:solidFill>
                          <a:latin typeface="JetBrains Mono" pitchFamily="49" charset="0"/>
                          <a:ea typeface="JetBrains Mono" pitchFamily="49" charset="-122"/>
                          <a:cs typeface="JetBrains Mono" pitchFamily="49" charset="-120"/>
                        </a:rPr>
                        <a:t>+3.1%</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+11.9%</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−8.5%</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+3.6%</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extLst>
                  <a:ext uri="{0D108BD9-81ED-4DB2-BD59-A6C34878D82A}">
                    <a16:rowId xmlns:a16="http://schemas.microsoft.com/office/drawing/2014/main" val="10004"/>
                  </a:ext>
                </a:extLst>
              </a:tr>
              <a:tr h="329254">
                <a:tc>
                  <a:txBody>
                    <a:bodyPr/>
                    <a:lstStyle/>
                    <a:p>
                      <a:pPr marL="0" indent="0">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10 Oct 2025 crash</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F87171"/>
                          </a:solidFill>
                          <a:latin typeface="JetBrains Mono" pitchFamily="49" charset="0"/>
                          <a:ea typeface="JetBrains Mono" pitchFamily="49" charset="-122"/>
                          <a:cs typeface="JetBrains Mono" pitchFamily="49" charset="-120"/>
                        </a:rPr>
                        <a:t>−5.6%</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−22.7%</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+17.4%</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tc>
                  <a:txBody>
                    <a:bodyPr/>
                    <a:lstStyle/>
                    <a:p>
                      <a:pPr marL="0" indent="0" algn="r">
                        <a:lnSpc>
                          <a:spcPts val="1680"/>
                        </a:lnSpc>
                        <a:buNone/>
                      </a:pPr>
                      <a:r>
                        <a:rPr lang="en-US" sz="1200" dirty="0">
                          <a:solidFill>
                            <a:srgbClr val="EEF2F8"/>
                          </a:solidFill>
                          <a:latin typeface="JetBrains Mono" pitchFamily="49" charset="0"/>
                          <a:ea typeface="JetBrains Mono" pitchFamily="49" charset="-122"/>
                          <a:cs typeface="JetBrains Mono" pitchFamily="49" charset="-120"/>
                        </a:rPr>
                        <a:t>−7.0%</a:t>
                      </a:r>
                      <a:endParaRPr lang="en-US" sz="1200" dirty="0">
                        <a:latin typeface="JetBrains Mono" charset="0"/>
                        <a:ea typeface="JetBrains Mono" charset="0"/>
                        <a:cs typeface="JetBrains Mono" charset="0"/>
                      </a:endParaRPr>
                    </a:p>
                  </a:txBody>
                  <a:tcPr marL="53340" marR="53340" marT="53340" marB="53340">
                    <a:lnL w="12700" cap="flat" cmpd="sng" algn="ctr">
                      <a:solidFill>
                        <a:srgbClr val="41454F"/>
                      </a:solidFill>
                      <a:prstDash val="solid"/>
                      <a:round/>
                      <a:headEnd type="none" w="med" len="med"/>
                      <a:tailEnd type="none" w="med" len="med"/>
                    </a:lnL>
                    <a:lnR w="12700" cap="flat" cmpd="sng" algn="ctr">
                      <a:solidFill>
                        <a:srgbClr val="41454F"/>
                      </a:solidFill>
                      <a:prstDash val="solid"/>
                      <a:round/>
                      <a:headEnd type="none" w="med" len="med"/>
                      <a:tailEnd type="none" w="med" len="med"/>
                    </a:lnR>
                    <a:lnT w="12700" cap="flat" cmpd="sng" algn="ctr">
                      <a:solidFill>
                        <a:srgbClr val="41454F"/>
                      </a:solidFill>
                      <a:prstDash val="solid"/>
                      <a:round/>
                      <a:headEnd type="none" w="med" len="med"/>
                      <a:tailEnd type="none" w="med" len="med"/>
                    </a:lnT>
                    <a:lnB w="12700" cap="flat" cmpd="sng" algn="ctr">
                      <a:solidFill>
                        <a:srgbClr val="41454F"/>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Text 6"/>
          <p:cNvSpPr/>
          <p:nvPr/>
        </p:nvSpPr>
        <p:spPr>
          <a:xfrm>
            <a:off x="5587903" y="3779397"/>
            <a:ext cx="5965035" cy="665359"/>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4C0D3"/>
                </a:solidFill>
                <a:latin typeface="Manrope" pitchFamily="34" charset="0"/>
                <a:ea typeface="Manrope" pitchFamily="34" charset="-122"/>
                <a:cs typeface="Manrope" pitchFamily="34" charset="-120"/>
              </a:rPr>
              <a:t>Longs and shorts are each leg's P&amp;L that week. Weekly exposures: BTC up 0.03, BTC down −0.01, altcoins minus BTC −0.09 (t = −1.9), momentum +0.13 (t = 2.2); changes in VIX, the won and κ insignificant.</a:t>
            </a:r>
            <a:endParaRPr lang="en-US" sz="1200" dirty="0"/>
          </a:p>
        </p:txBody>
      </p:sp>
      <p:sp>
        <p:nvSpPr>
          <p:cNvPr id="11" name="Shape 7"/>
          <p:cNvSpPr/>
          <p:nvPr/>
        </p:nvSpPr>
        <p:spPr>
          <a:xfrm>
            <a:off x="0" y="6248369"/>
            <a:ext cx="12191973" cy="609599"/>
          </a:xfrm>
          <a:prstGeom prst="rect">
            <a:avLst/>
          </a:prstGeom>
          <a:solidFill>
            <a:srgbClr val="060910"/>
          </a:solidFill>
          <a:ln/>
        </p:spPr>
        <p:txBody>
          <a:bodyPr/>
          <a:lstStyle/>
          <a:p>
            <a:endParaRPr lang="en-US"/>
          </a:p>
        </p:txBody>
      </p:sp>
      <p:sp>
        <p:nvSpPr>
          <p:cNvPr id="12" name="Shape 8"/>
          <p:cNvSpPr/>
          <p:nvPr/>
        </p:nvSpPr>
        <p:spPr>
          <a:xfrm>
            <a:off x="0" y="6251544"/>
            <a:ext cx="12191973" cy="0"/>
          </a:xfrm>
          <a:prstGeom prst="line">
            <a:avLst/>
          </a:prstGeom>
          <a:noFill/>
          <a:ln w="6350">
            <a:solidFill>
              <a:srgbClr val="1F2A3D"/>
            </a:solidFill>
            <a:prstDash val="solid"/>
          </a:ln>
        </p:spPr>
        <p:txBody>
          <a:bodyPr/>
          <a:lstStyle/>
          <a:p>
            <a:endParaRPr lang="en-US"/>
          </a:p>
        </p:txBody>
      </p:sp>
      <p:sp>
        <p:nvSpPr>
          <p:cNvPr id="19" name="Text 15"/>
          <p:cNvSpPr/>
          <p:nvPr/>
        </p:nvSpPr>
        <p:spPr>
          <a:xfrm>
            <a:off x="10739168" y="6448791"/>
            <a:ext cx="76803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391A7"/>
                </a:solidFill>
                <a:latin typeface="JetBrains Mono" pitchFamily="49" charset="0"/>
                <a:ea typeface="JetBrains Mono" pitchFamily="49" charset="-122"/>
                <a:cs typeface="JetBrains Mono" pitchFamily="49" charset="-120"/>
              </a:rPr>
              <a:t>B3 / B4</a:t>
            </a:r>
            <a:endParaRPr lang="en-US" sz="1200" dirty="0"/>
          </a:p>
        </p:txBody>
      </p:sp>
    </p:spTree>
  </p:cSld>
  <p:clrMapOvr>
    <a:masterClrMapping/>
  </p:clrMapOvr>
</p:sld>
</file>

<file path=ppt/theme/theme1.xml><?xml version="1.0" encoding="utf-8"?>
<a:theme xmlns:a="http://schemas.openxmlformats.org/drawingml/2006/main" name="Kimchi Premium — MFE 230GB Strategy 2">
  <a:themeElements>
    <a:clrScheme name="Kimchi Premium — MFE 230GB Strategy 2">
      <a:dk1>
        <a:srgbClr val="0A0E17"/>
      </a:dk1>
      <a:lt1>
        <a:srgbClr val="EEF2F8"/>
      </a:lt1>
      <a:dk2>
        <a:srgbClr val="21252E"/>
      </a:dk2>
      <a:lt2>
        <a:srgbClr val="B5B9C0"/>
      </a:lt2>
      <a:accent1>
        <a:srgbClr val="F08A2C"/>
      </a:accent1>
      <a:accent2>
        <a:srgbClr val="DF7410"/>
      </a:accent2>
      <a:accent3>
        <a:srgbClr val="8B5CF6"/>
      </a:accent3>
      <a:accent4>
        <a:srgbClr val="A78BFA"/>
      </a:accent4>
      <a:accent5>
        <a:srgbClr val="38A9E0"/>
      </a:accent5>
      <a:accent6>
        <a:srgbClr val="22C55E"/>
      </a:accent6>
      <a:hlink>
        <a:srgbClr val="0563C1"/>
      </a:hlink>
      <a:folHlink>
        <a:srgbClr val="954F72"/>
      </a:folHlink>
    </a:clrScheme>
    <a:fontScheme name="Kimchi Premium — MFE 230GB Strategy 2">
      <a:majorFont>
        <a:latin typeface="Unbound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3248</Words>
  <Application>Microsoft Office PowerPoint</Application>
  <PresentationFormat>Widescreen</PresentationFormat>
  <Paragraphs>292</Paragraphs>
  <Slides>11</Slides>
  <Notes>11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JetBrains Mono</vt:lpstr>
      <vt:lpstr>Manrope</vt:lpstr>
      <vt:lpstr>Unbounded</vt:lpstr>
      <vt:lpstr>Aptos</vt:lpstr>
      <vt:lpstr>Arial</vt:lpstr>
      <vt:lpstr>Kimchi Premium — MFE 230GB Strategy 2</vt:lpstr>
      <vt:lpstr>KIMCHI PREMIUM</vt:lpstr>
      <vt:lpstr>One coin, two prices</vt:lpstr>
      <vt:lpstr>Coins flow in. Won can't flow out.</vt:lpstr>
      <vt:lpstr>Short the coins Seoul overpays for</vt:lpstr>
      <vt:lpstr>Hot coins fall back the next week</vt:lpstr>
      <vt:lpstr>+14.8% a year after funding and costs</vt:lpstr>
      <vt:lpstr>Squeezes and funding: where it loses</vt:lpstr>
      <vt:lpstr>No capital controls, no edge</vt:lpstr>
      <vt:lpstr>The kimchi-premium long-short</vt:lpstr>
      <vt:lpstr>Froth barely predicts bitcoin</vt:lpstr>
      <vt:lpstr>Regimes, stress weeks and exposures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Kimchi Premium — MFE 230GB Strategy 2</dc:title>
  <dc:subject/>
  <dc:creator/>
  <cp:lastModifiedBy>Tsz Hin Chung</cp:lastModifiedBy>
  <cp:revision>4</cp:revision>
  <dcterms:created xsi:type="dcterms:W3CDTF">2026-10-07T14:36:34Z</dcterms:created>
  <dcterms:modified xsi:type="dcterms:W3CDTF">2026-10-09T00:24:54Z</dcterms:modified>
</cp:coreProperties>
</file>