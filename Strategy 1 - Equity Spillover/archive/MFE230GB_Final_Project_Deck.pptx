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4665023-368f-b119-f1e1-9edd7b959dff}">
          <p14:sldIdLst>
            <p14:sldId id="256"/>
            <p14:sldId id="257"/>
            <p14:sldId id="258"/>
            <p14:sldId id="259"/>
          </p14:sldIdLst>
        </p14:section>
        <p14:section name="Strategy 1" id="{945c11c8-25c8-5fe2-a3b7-5799c705a55a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Strategy 2" id="{e904ebc4-f9c1-b78d-7bbf-5862c84ed47c}">
          <p14:sldIdLst>
            <p14:sldId id="267"/>
            <p14:sldId id="268"/>
            <p14:sldId id="269"/>
            <p14:sldId id="270"/>
            <p14:sldId id="271"/>
          </p14:sldIdLst>
        </p14:section>
        <p14:section name="Evaluation" id="{88281d50-0844-1145-d087-a6537fdcd1e9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assignment, not the Sharpe. The project grades economic mechanism first. State that we built two distinct strategies that share a theme — prices move when information and demand move, not when the announcement prints — then name them: Policy Path in OECD markets, Terms of Trade in 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 on this slide. Emphasize they are not the same trade in two listings: OECD uses policy-path prediction markets into G10 FX and bonds; EM uses commodity ToT and geopolitical contracts into NDFs. Shared theme, different universes, different crashes.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how we show we used the course. Do not skip it. The 5% / 64% / 82% numbers are from Topics 4 and 5 and they are the reason Strategy 1 is not another Taylor-rule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Kermani’s brief says complexity is not rewarded. Say that out loud. A simple, identified rule with honest crash analysis beats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we now specify Strategy 1 at the level the brief asks — theory, signal, positions, horizon, and the risk that would falsify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Evans-Lyons 2002, Evans-Rime, and Koijen-Yogo JPE 2026. If asked why prediction markets rather than fed-funds futures: futures are the price; prediction markets give event probabilities and cross-platform disagreement, which the brief explicitly encourages.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pset1 result put to work. Since-2010 failure is a feature of the mechanism: carry is compensation for crash risk. Strategy 1 harvests carry only when prediction-market recession odds are not rising and VIX is not in the top quintile.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we never fit a kitchen-sink regression of next-week FX on twenty contracts. Three objects only. A is the cross-section, B is the overlay, C is the risk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Holding period is one week; no intraweek unless a contract moves more than 10 pp in a day (event rule). Leverage is explicit. Transaction costs: 2 bp round-trip G10 spot/forward, 1 bp on futures, 4 bp on cash bonds. Report 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this is not yet the prediction-market overlay. It is the course-consistent reason the overlay should exist. Full PM history (Kalshi from 2021, Polymarket from ~2022) is the live test; fed-funds futures surprises are the long-sample proxy for robustness.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asks for economically meaningful risk, not just max DD. Name carry crashes, fiscal episodes, and liquidity. Concentration: no single pair &gt; 30% of gross; no single week &gt; 25% of yearly P&amp;L without a comment.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application of the same ‘shocks that reprice demand’ idea. Here the shock is a commodity / geopolitical ToT move, not a Fed-path 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the 2026 lecture charts: Iran-war oil spike, rial/Treasury comovement, and Brooks on EM carry restarting after the outflow. We are not rediscovering EM carry; we are trading the ToT impulse.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KRW is OECD so it can appear only as a robustness pair, not in the EM book. Strategy 2 longs BRL/CLP/COP/ZAR and shorts INR/THB/CNY. MXN is the OECD commodity analogue inside Strategy 1 if we want a G10 ToT overlay — we do not mix it into Strategy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FRED sample, long BRL+THB vs short ZAR+INR based on 2010-19 betas, timed on lagged oil sign. Costs not yet deducted — EM NDF 10-20 bp will eat a lot of the 0.17. That is a feature we will show, not hide. Prediction-market overlay is the incremental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March 2020 is the exhibit they will ask for. Have the week-by-week oil and BRL/ZAR numbers ready: 13 Mar oil -35%, BRL -2.6%; 20 Mar oil -23%, BRL -4.9%, ZAR -7.0%.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‘meaningfully different applications’ slide. If a questioner says they look similar, point at instruments, the crash that kills each, and the falsifier.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falsifiers if time is short. Faculty will care more about the placebo and the lead/lag than about a 0.1 difference in Sharpe.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of AI is allowed but must be documented. Say we will ship prompts with the replication package. The HTML is the take-home artifact; this deck is the 10-minute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here. If there is time, take questions on prediction-market depth, NDF costs, and why we refused raw carry. Do not volunteer a Sharpe we have not earned on the PM overlay.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65960"/>
            <a:ext cx="108813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Section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 title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Title</a:t>
            </a: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56539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</a:rPr>
              <a:t>MFE 230GB  ·  Currency Markets  ·  Final Project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Close</a:t>
            </a: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pill"/>
          <p:cNvSpPr/>
          <p:nvPr/>
        </p:nvSpPr>
        <p:spPr>
          <a:xfrm>
            <a:off x="640080" y="1325880"/>
            <a:ext cx="2606040" cy="347472"/>
          </a:xfrm>
          <a:prstGeom prst="roundRect">
            <a:avLst>
              <a:gd name="adj" fmla="val 15789"/>
            </a:avLst>
          </a:prstGeom>
          <a:solidFill>
            <a:srgbClr val="C4A35A"/>
          </a:solidFill>
          <a:ln/>
        </p:spPr>
      </p:sp>
      <p:sp>
        <p:nvSpPr>
          <p:cNvPr id="3" name="kicker-text"/>
          <p:cNvSpPr txBox="1"/>
          <p:nvPr/>
        </p:nvSpPr>
        <p:spPr>
          <a:xfrm>
            <a:off x="640080" y="13258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MFE 230GB  ·  OCTOBER 8, 2026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96596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Designing and Testing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Global Trading Strategies</a:t>
            </a:r>
            <a:endParaRPr lang="en-US" sz="4000" dirty="0"/>
          </a:p>
        </p:txBody>
      </p:sp>
      <p:sp>
        <p:nvSpPr>
          <p:cNvPr id="5" name="subtitle"/>
          <p:cNvSpPr txBox="1"/>
          <p:nvPr/>
        </p:nvSpPr>
        <p:spPr>
          <a:xfrm>
            <a:off x="640080" y="37033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EE8"/>
                </a:solidFill>
              </a:rPr>
              <a:t>Two economically identified strategies — one in G10 rates and FX, one in emerging-market terms of trade — both using prediction markets as the alternative data the course asked for.</a:t>
            </a:r>
            <a:endParaRPr lang="en-US" sz="1600" dirty="0"/>
          </a:p>
        </p:txBody>
      </p:sp>
      <p:sp>
        <p:nvSpPr>
          <p:cNvPr id="6" name="footer-line"/>
          <p:cNvSpPr txBox="1"/>
          <p:nvPr/>
        </p:nvSpPr>
        <p:spPr>
          <a:xfrm>
            <a:off x="640080" y="6263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</a:rPr>
              <a:t>Short class presentation  ·  Fall 2026  ·  Haas School of Business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One theme, two distinct books</a:t>
            </a:r>
            <a:endParaRPr lang="en-US" sz="2600" dirty="0"/>
          </a:p>
        </p:txBody>
      </p:sp>
      <p:sp>
        <p:nvSpPr>
          <p:cNvPr id="3" name="lede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</a:rPr>
              <a:t>Prices at horizons under a year are mostly demand and information flow, not scheduled macro. We trade that idea in two universes that cannot be copies of each other.</a:t>
            </a:r>
            <a:endParaRPr lang="en-US" sz="1400" dirty="0"/>
          </a:p>
        </p:txBody>
      </p:sp>
      <p:sp>
        <p:nvSpPr>
          <p:cNvPr id="4" name="card-s1"/>
          <p:cNvSpPr/>
          <p:nvPr/>
        </p:nvSpPr>
        <p:spPr>
          <a:xfrm>
            <a:off x="457200" y="1417320"/>
            <a:ext cx="5486400" cy="4892040"/>
          </a:xfrm>
          <a:prstGeom prst="roundRect">
            <a:avLst>
              <a:gd name="adj" fmla="val 1869"/>
            </a:avLst>
          </a:prstGeom>
          <a:solidFill>
            <a:srgbClr val="EEF3F8"/>
          </a:solidFill>
          <a:ln/>
        </p:spPr>
      </p:sp>
      <p:sp>
        <p:nvSpPr>
          <p:cNvPr id="5" name="pill-s1"/>
          <p:cNvSpPr/>
          <p:nvPr/>
        </p:nvSpPr>
        <p:spPr>
          <a:xfrm>
            <a:off x="658368" y="1627632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B1F3A"/>
          </a:solidFill>
          <a:ln/>
        </p:spPr>
      </p:sp>
      <p:sp>
        <p:nvSpPr>
          <p:cNvPr id="6" name="pill-s1-t"/>
          <p:cNvSpPr txBox="1"/>
          <p:nvPr/>
        </p:nvSpPr>
        <p:spPr>
          <a:xfrm>
            <a:off x="658368" y="1627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STRATEGY 1  ·  OECD</a:t>
            </a:r>
            <a:endParaRPr lang="en-US" sz="1000" dirty="0"/>
          </a:p>
        </p:txBody>
      </p:sp>
      <p:sp>
        <p:nvSpPr>
          <p:cNvPr id="7" name="s1-name"/>
          <p:cNvSpPr txBox="1"/>
          <p:nvPr/>
        </p:nvSpPr>
        <p:spPr>
          <a:xfrm>
            <a:off x="658368" y="202996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Policy Path</a:t>
            </a:r>
            <a:endParaRPr lang="en-US" sz="2600" dirty="0"/>
          </a:p>
        </p:txBody>
      </p:sp>
      <p:sp>
        <p:nvSpPr>
          <p:cNvPr id="8" name="s1-body"/>
          <p:cNvSpPr txBox="1"/>
          <p:nvPr/>
        </p:nvSpPr>
        <p:spPr>
          <a:xfrm>
            <a:off x="658368" y="2487168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G10 FX forwards plus G7 duration. Prediction-market changes in the Fed path, recession odds, and elections are treated as demand shifters — the Topic 4 / Topic 5 object — not as a second macro forecast.</a:t>
            </a:r>
            <a:endParaRPr lang="en-US" sz="1400" dirty="0"/>
          </a:p>
        </p:txBody>
      </p:sp>
      <p:sp>
        <p:nvSpPr>
          <p:cNvPr id="9" name="s1-spec"/>
          <p:cNvSpPr txBox="1"/>
          <p:nvPr/>
        </p:nvSpPr>
        <p:spPr>
          <a:xfrm>
            <a:off x="658368" y="36576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</a:rPr>
              <a:t>Universe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  AUD, CAD, CHF, EUR, GBP, JPY, NOK, NZD, SEK; US/DE/JP 10-year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</a:rPr>
              <a:t>Horizon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  Weekly rebalance, 10% vol target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</a:rPr>
              <a:t>Alt data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  Kalshi + Polymarket ΔP and cross-platform disagreement</a:t>
            </a:r>
            <a:endParaRPr lang="en-US" sz="1300" dirty="0"/>
          </a:p>
        </p:txBody>
      </p:sp>
      <p:sp>
        <p:nvSpPr>
          <p:cNvPr id="10" name="s1-hook"/>
          <p:cNvSpPr txBox="1"/>
          <p:nvPr/>
        </p:nvSpPr>
        <p:spPr>
          <a:xfrm>
            <a:off x="658368" y="502920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6A6A"/>
                </a:solidFill>
              </a:rPr>
              <a:t>Condition G10 carry on global risk. Do not run it raw — it has not paid since 2010.</a:t>
            </a:r>
            <a:endParaRPr lang="en-US" sz="1400" dirty="0"/>
          </a:p>
        </p:txBody>
      </p:sp>
      <p:sp>
        <p:nvSpPr>
          <p:cNvPr id="11" name="card-s2"/>
          <p:cNvSpPr/>
          <p:nvPr/>
        </p:nvSpPr>
        <p:spPr>
          <a:xfrm>
            <a:off x="6172200" y="141732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EEF3F8"/>
          </a:solidFill>
          <a:ln/>
        </p:spPr>
      </p:sp>
      <p:sp>
        <p:nvSpPr>
          <p:cNvPr id="12" name="pill-s2"/>
          <p:cNvSpPr/>
          <p:nvPr/>
        </p:nvSpPr>
        <p:spPr>
          <a:xfrm>
            <a:off x="6373368" y="1627632"/>
            <a:ext cx="1691640" cy="292608"/>
          </a:xfrm>
          <a:prstGeom prst="roundRect">
            <a:avLst>
              <a:gd name="adj" fmla="val 15625"/>
            </a:avLst>
          </a:prstGeom>
          <a:solidFill>
            <a:srgbClr val="1D6A6A"/>
          </a:solidFill>
          <a:ln/>
        </p:spPr>
      </p:sp>
      <p:sp>
        <p:nvSpPr>
          <p:cNvPr id="13" name="pill-s2-t"/>
          <p:cNvSpPr txBox="1"/>
          <p:nvPr/>
        </p:nvSpPr>
        <p:spPr>
          <a:xfrm>
            <a:off x="6373368" y="16276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STRATEGY 2  ·  EM / NDF</a:t>
            </a:r>
            <a:endParaRPr lang="en-US" sz="1000" dirty="0"/>
          </a:p>
        </p:txBody>
      </p:sp>
      <p:sp>
        <p:nvSpPr>
          <p:cNvPr id="14" name="s2-name"/>
          <p:cNvSpPr txBox="1"/>
          <p:nvPr/>
        </p:nvSpPr>
        <p:spPr>
          <a:xfrm>
            <a:off x="6373368" y="20299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Terms of Trade</a:t>
            </a:r>
            <a:endParaRPr lang="en-US" sz="2600" dirty="0"/>
          </a:p>
        </p:txBody>
      </p:sp>
      <p:sp>
        <p:nvSpPr>
          <p:cNvPr id="15" name="s2-body"/>
          <p:cNvSpPr txBox="1"/>
          <p:nvPr/>
        </p:nvSpPr>
        <p:spPr>
          <a:xfrm>
            <a:off x="6373368" y="2487168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Long oil-exporter EM FX versus oil-importer EM FX, but only when the terms-of-trade shock is on — Brent moves, or prediction-market odds of a supply disruption jump. Same mechanism as Topic 3; different assets, NDFs, and crash risks.</a:t>
            </a:r>
            <a:endParaRPr lang="en-US" sz="1400" dirty="0"/>
          </a:p>
        </p:txBody>
      </p:sp>
      <p:sp>
        <p:nvSpPr>
          <p:cNvPr id="16" name="s2-spec"/>
          <p:cNvSpPr txBox="1"/>
          <p:nvPr/>
        </p:nvSpPr>
        <p:spPr>
          <a:xfrm>
            <a:off x="6373368" y="365760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</a:rPr>
              <a:t>Universe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  BRL, CLP, COP, ZAR vs INR, THB, CNY via NDF/spot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</a:rPr>
              <a:t>Horizon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  Weekly, dollar-neutral, 12% vol target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</a:rPr>
              <a:t>Alt data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  Geopolitical / OPEC contracts + Brent; not just the oil print</a:t>
            </a:r>
            <a:endParaRPr lang="en-US" sz="1300" dirty="0"/>
          </a:p>
        </p:txBody>
      </p:sp>
      <p:sp>
        <p:nvSpPr>
          <p:cNvPr id="17" name="s2-hook"/>
          <p:cNvSpPr txBox="1"/>
          <p:nvPr/>
        </p:nvSpPr>
        <p:spPr>
          <a:xfrm>
            <a:off x="6373368" y="50292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6A6A"/>
                </a:solidFill>
              </a:rPr>
              <a:t>A static exporter–importer book does not pay. Timing the ToT shock does.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we take from each topic</a:t>
            </a:r>
            <a:endParaRPr lang="en-US" sz="2600" dirty="0"/>
          </a:p>
        </p:txBody>
      </p:sp>
      <p:sp>
        <p:nvSpPr>
          <p:cNvPr id="3" name="topic-row-0"/>
          <p:cNvSpPr/>
          <p:nvPr/>
        </p:nvSpPr>
        <p:spPr>
          <a:xfrm>
            <a:off x="457200" y="932688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4" name="topic-n-0"/>
          <p:cNvSpPr txBox="1"/>
          <p:nvPr/>
        </p:nvSpPr>
        <p:spPr>
          <a:xfrm>
            <a:off x="640080" y="93268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A35A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opic-t-0"/>
          <p:cNvSpPr txBox="1"/>
          <p:nvPr/>
        </p:nvSpPr>
        <p:spPr>
          <a:xfrm>
            <a:off x="1371600" y="104241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Instruments</a:t>
            </a:r>
            <a:endParaRPr lang="en-US" sz="1600" dirty="0"/>
          </a:p>
        </p:txBody>
      </p:sp>
      <p:sp>
        <p:nvSpPr>
          <p:cNvPr id="6" name="topic-d-0"/>
          <p:cNvSpPr txBox="1"/>
          <p:nvPr/>
        </p:nvSpPr>
        <p:spPr>
          <a:xfrm>
            <a:off x="3703320" y="1060704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Spot, forwards, NDFs, and the spread/liquidity gap between G10 and EM. Strategy 2 is an NDF book on purpose.</a:t>
            </a:r>
            <a:endParaRPr lang="en-US" sz="1400" dirty="0"/>
          </a:p>
        </p:txBody>
      </p:sp>
      <p:sp>
        <p:nvSpPr>
          <p:cNvPr id="7" name="topic-row-1"/>
          <p:cNvSpPr/>
          <p:nvPr/>
        </p:nvSpPr>
        <p:spPr>
          <a:xfrm>
            <a:off x="457200" y="1984248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8" name="topic-n-1"/>
          <p:cNvSpPr txBox="1"/>
          <p:nvPr/>
        </p:nvSpPr>
        <p:spPr>
          <a:xfrm>
            <a:off x="640080" y="198424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A35A"/>
                </a:solidFill>
              </a:rPr>
              <a:t>02</a:t>
            </a:r>
            <a:endParaRPr lang="en-US" sz="2000" dirty="0"/>
          </a:p>
        </p:txBody>
      </p:sp>
      <p:sp>
        <p:nvSpPr>
          <p:cNvPr id="9" name="topic-t-1"/>
          <p:cNvSpPr txBox="1"/>
          <p:nvPr/>
        </p:nvSpPr>
        <p:spPr>
          <a:xfrm>
            <a:off x="1371600" y="209397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Regimes</a:t>
            </a:r>
            <a:endParaRPr lang="en-US" sz="1600" dirty="0"/>
          </a:p>
        </p:txBody>
      </p:sp>
      <p:sp>
        <p:nvSpPr>
          <p:cNvPr id="10" name="topic-d-1"/>
          <p:cNvSpPr txBox="1"/>
          <p:nvPr/>
        </p:nvSpPr>
        <p:spPr>
          <a:xfrm>
            <a:off x="3703320" y="2112264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EM is not a dirty float of G10. Reserves, the trilemma, and convertibility change both the signal and the crash.</a:t>
            </a:r>
            <a:endParaRPr lang="en-US" sz="1400" dirty="0"/>
          </a:p>
        </p:txBody>
      </p:sp>
      <p:sp>
        <p:nvSpPr>
          <p:cNvPr id="11" name="topic-row-2"/>
          <p:cNvSpPr/>
          <p:nvPr/>
        </p:nvSpPr>
        <p:spPr>
          <a:xfrm>
            <a:off x="457200" y="3035808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12" name="topic-n-2"/>
          <p:cNvSpPr txBox="1"/>
          <p:nvPr/>
        </p:nvSpPr>
        <p:spPr>
          <a:xfrm>
            <a:off x="640080" y="303580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A35A"/>
                </a:solidFill>
              </a:rPr>
              <a:t>03</a:t>
            </a:r>
            <a:endParaRPr lang="en-US" sz="2000" dirty="0"/>
          </a:p>
        </p:txBody>
      </p:sp>
      <p:sp>
        <p:nvSpPr>
          <p:cNvPr id="13" name="topic-t-2"/>
          <p:cNvSpPr txBox="1"/>
          <p:nvPr/>
        </p:nvSpPr>
        <p:spPr>
          <a:xfrm>
            <a:off x="1371600" y="314553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Parities</a:t>
            </a:r>
            <a:endParaRPr lang="en-US" sz="1600" dirty="0"/>
          </a:p>
        </p:txBody>
      </p:sp>
      <p:sp>
        <p:nvSpPr>
          <p:cNvPr id="14" name="topic-d-2"/>
          <p:cNvSpPr txBox="1"/>
          <p:nvPr/>
        </p:nvSpPr>
        <p:spPr>
          <a:xfrm>
            <a:off x="3703320" y="3163824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CIP holds; UIP and short-run PPP do not. Carry is a downside-risk premium. Fiscal news can flip the yield–FX sign. A 10% ToT shock appreciates the real exchange rate.</a:t>
            </a:r>
            <a:endParaRPr lang="en-US" sz="1400" dirty="0"/>
          </a:p>
        </p:txBody>
      </p:sp>
      <p:sp>
        <p:nvSpPr>
          <p:cNvPr id="15" name="topic-row-3"/>
          <p:cNvSpPr/>
          <p:nvPr/>
        </p:nvSpPr>
        <p:spPr>
          <a:xfrm>
            <a:off x="457200" y="4087368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16" name="topic-n-3"/>
          <p:cNvSpPr txBox="1"/>
          <p:nvPr/>
        </p:nvSpPr>
        <p:spPr>
          <a:xfrm>
            <a:off x="640080" y="408736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A35A"/>
                </a:solidFill>
              </a:rPr>
              <a:t>04</a:t>
            </a:r>
            <a:endParaRPr lang="en-US" sz="2000" dirty="0"/>
          </a:p>
        </p:txBody>
      </p:sp>
      <p:sp>
        <p:nvSpPr>
          <p:cNvPr id="17" name="topic-t-3"/>
          <p:cNvSpPr txBox="1"/>
          <p:nvPr/>
        </p:nvSpPr>
        <p:spPr>
          <a:xfrm>
            <a:off x="1371600" y="4197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Order flow</a:t>
            </a:r>
            <a:endParaRPr lang="en-US" sz="1600" dirty="0"/>
          </a:p>
        </p:txBody>
      </p:sp>
      <p:sp>
        <p:nvSpPr>
          <p:cNvPr id="18" name="topic-d-3"/>
          <p:cNvSpPr txBox="1"/>
          <p:nvPr/>
        </p:nvSpPr>
        <p:spPr>
          <a:xfrm>
            <a:off x="3703320" y="4215384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Macro explains ≤5% of monthly FX variance; one order-flow series explained 64% of daily DM/USD. News is priced in the trade, not the release window.</a:t>
            </a:r>
            <a:endParaRPr lang="en-US" sz="1400" dirty="0"/>
          </a:p>
        </p:txBody>
      </p:sp>
      <p:sp>
        <p:nvSpPr>
          <p:cNvPr id="19" name="topic-row-4"/>
          <p:cNvSpPr/>
          <p:nvPr/>
        </p:nvSpPr>
        <p:spPr>
          <a:xfrm>
            <a:off x="457200" y="5138928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20" name="topic-n-4"/>
          <p:cNvSpPr txBox="1"/>
          <p:nvPr/>
        </p:nvSpPr>
        <p:spPr>
          <a:xfrm>
            <a:off x="640080" y="51389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A35A"/>
                </a:solidFill>
              </a:rPr>
              <a:t>05</a:t>
            </a:r>
            <a:endParaRPr lang="en-US" sz="2000" dirty="0"/>
          </a:p>
        </p:txBody>
      </p:sp>
      <p:sp>
        <p:nvSpPr>
          <p:cNvPr id="21" name="topic-t-4"/>
          <p:cNvSpPr txBox="1"/>
          <p:nvPr/>
        </p:nvSpPr>
        <p:spPr>
          <a:xfrm>
            <a:off x="1371600" y="524865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Demand</a:t>
            </a:r>
            <a:endParaRPr lang="en-US" sz="1600" dirty="0"/>
          </a:p>
        </p:txBody>
      </p:sp>
      <p:sp>
        <p:nvSpPr>
          <p:cNvPr id="22" name="topic-d-4"/>
          <p:cNvSpPr txBox="1"/>
          <p:nvPr/>
        </p:nvSpPr>
        <p:spPr>
          <a:xfrm>
            <a:off x="3703320" y="5266944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Latent demand accounts for 82% of exchange-rate variation. Elasticities are 1–30, not thousands. The dollar’s specialness is ~1.4% a year.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we read the assignment</a:t>
            </a:r>
            <a:endParaRPr lang="en-US" sz="2600" dirty="0"/>
          </a:p>
        </p:txBody>
      </p:sp>
      <p:sp>
        <p:nvSpPr>
          <p:cNvPr id="3" name="rule-0"/>
          <p:cNvSpPr/>
          <p:nvPr/>
        </p:nvSpPr>
        <p:spPr>
          <a:xfrm>
            <a:off x="457200" y="100584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4" name="rule-n-0"/>
          <p:cNvSpPr txBox="1"/>
          <p:nvPr/>
        </p:nvSpPr>
        <p:spPr>
          <a:xfrm>
            <a:off x="713232" y="1261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rule-t-0"/>
          <p:cNvSpPr txBox="1"/>
          <p:nvPr/>
        </p:nvSpPr>
        <p:spPr>
          <a:xfrm>
            <a:off x="1417320" y="12618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Mechanism first</a:t>
            </a:r>
            <a:endParaRPr lang="en-US" sz="1800" dirty="0"/>
          </a:p>
        </p:txBody>
      </p:sp>
      <p:sp>
        <p:nvSpPr>
          <p:cNvPr id="6" name="rule-d-0"/>
          <p:cNvSpPr txBox="1"/>
          <p:nvPr/>
        </p:nvSpPr>
        <p:spPr>
          <a:xfrm>
            <a:off x="713232" y="178308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A signal enters the book only if we can say who is trading and why the price must move. Backtests come after that sentence, not before.</a:t>
            </a:r>
            <a:endParaRPr lang="en-US" sz="1500" dirty="0"/>
          </a:p>
        </p:txBody>
      </p:sp>
      <p:sp>
        <p:nvSpPr>
          <p:cNvPr id="7" name="rule-1"/>
          <p:cNvSpPr/>
          <p:nvPr/>
        </p:nvSpPr>
        <p:spPr>
          <a:xfrm>
            <a:off x="6172200" y="100584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8" name="rule-n-1"/>
          <p:cNvSpPr txBox="1"/>
          <p:nvPr/>
        </p:nvSpPr>
        <p:spPr>
          <a:xfrm>
            <a:off x="6428232" y="1261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</a:rPr>
              <a:t>02</a:t>
            </a:r>
            <a:endParaRPr lang="en-US" sz="1600" dirty="0"/>
          </a:p>
        </p:txBody>
      </p:sp>
      <p:sp>
        <p:nvSpPr>
          <p:cNvPr id="9" name="rule-t-1"/>
          <p:cNvSpPr txBox="1"/>
          <p:nvPr/>
        </p:nvSpPr>
        <p:spPr>
          <a:xfrm>
            <a:off x="7132320" y="12618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Two real universes</a:t>
            </a:r>
            <a:endParaRPr lang="en-US" sz="1800" dirty="0"/>
          </a:p>
        </p:txBody>
      </p:sp>
      <p:sp>
        <p:nvSpPr>
          <p:cNvPr id="10" name="rule-d-1"/>
          <p:cNvSpPr txBox="1"/>
          <p:nvPr/>
        </p:nvSpPr>
        <p:spPr>
          <a:xfrm>
            <a:off x="6428232" y="178308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G10 can use spot, forwards, and cash bonds. EM uses NDFs and lives with convertibility and 10–20 bp costs. They are not the same strategy with a different ticker.</a:t>
            </a:r>
            <a:endParaRPr lang="en-US" sz="1500" dirty="0"/>
          </a:p>
        </p:txBody>
      </p:sp>
      <p:sp>
        <p:nvSpPr>
          <p:cNvPr id="11" name="rule-2"/>
          <p:cNvSpPr/>
          <p:nvPr/>
        </p:nvSpPr>
        <p:spPr>
          <a:xfrm>
            <a:off x="457200" y="361188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12" name="rule-n-2"/>
          <p:cNvSpPr txBox="1"/>
          <p:nvPr/>
        </p:nvSpPr>
        <p:spPr>
          <a:xfrm>
            <a:off x="713232" y="3867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rule-t-2"/>
          <p:cNvSpPr txBox="1"/>
          <p:nvPr/>
        </p:nvSpPr>
        <p:spPr>
          <a:xfrm>
            <a:off x="1417320" y="386791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Alternative data that is a shifter</a:t>
            </a:r>
            <a:endParaRPr lang="en-US" sz="1800" dirty="0"/>
          </a:p>
        </p:txBody>
      </p:sp>
      <p:sp>
        <p:nvSpPr>
          <p:cNvPr id="14" name="rule-d-2"/>
          <p:cNvSpPr txBox="1"/>
          <p:nvPr/>
        </p:nvSpPr>
        <p:spPr>
          <a:xfrm>
            <a:off x="713232" y="4389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Prediction-market ΔP is the demand/information shock. Disagreement across Kalshi and Polymarket is a risk-off switch, not another forecast.</a:t>
            </a:r>
            <a:endParaRPr lang="en-US" sz="1500" dirty="0"/>
          </a:p>
        </p:txBody>
      </p:sp>
      <p:sp>
        <p:nvSpPr>
          <p:cNvPr id="15" name="rule-3"/>
          <p:cNvSpPr/>
          <p:nvPr/>
        </p:nvSpPr>
        <p:spPr>
          <a:xfrm>
            <a:off x="6172200" y="361188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16" name="rule-n-3"/>
          <p:cNvSpPr txBox="1"/>
          <p:nvPr/>
        </p:nvSpPr>
        <p:spPr>
          <a:xfrm>
            <a:off x="6428232" y="3867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</a:rPr>
              <a:t>04</a:t>
            </a:r>
            <a:endParaRPr lang="en-US" sz="1600" dirty="0"/>
          </a:p>
        </p:txBody>
      </p:sp>
      <p:sp>
        <p:nvSpPr>
          <p:cNvPr id="17" name="rule-t-3"/>
          <p:cNvSpPr txBox="1"/>
          <p:nvPr/>
        </p:nvSpPr>
        <p:spPr>
          <a:xfrm>
            <a:off x="7132320" y="386791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Risk that matches the story</a:t>
            </a:r>
            <a:endParaRPr lang="en-US" sz="1800" dirty="0"/>
          </a:p>
        </p:txBody>
      </p:sp>
      <p:sp>
        <p:nvSpPr>
          <p:cNvPr id="18" name="rule-d-3"/>
          <p:cNvSpPr txBox="1"/>
          <p:nvPr/>
        </p:nvSpPr>
        <p:spPr>
          <a:xfrm>
            <a:off x="6428232" y="4389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Strategy 1 dies in a carry crash and a fiscal-dominance week. Strategy 2 dies in an oil collapse and an EM liquidity squeeze. We measure those, not just max drawdown.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STRATEGY 1  ·  DEVELOPED MARKETS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Policy Path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hypothesis is about who is trading</a:t>
            </a:r>
            <a:endParaRPr lang="en-US" sz="2600" dirty="0"/>
          </a:p>
        </p:txBody>
      </p:sp>
      <p:sp>
        <p:nvSpPr>
          <p:cNvPr id="3" name="stat-0"/>
          <p:cNvSpPr/>
          <p:nvPr/>
        </p:nvSpPr>
        <p:spPr>
          <a:xfrm>
            <a:off x="457200" y="987552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EEF3F8"/>
          </a:solidFill>
          <a:ln/>
        </p:spPr>
      </p:sp>
      <p:sp>
        <p:nvSpPr>
          <p:cNvPr id="4" name="stat-v-0"/>
          <p:cNvSpPr txBox="1"/>
          <p:nvPr/>
        </p:nvSpPr>
        <p:spPr>
          <a:xfrm>
            <a:off x="457200" y="11155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F3A"/>
                </a:solidFill>
              </a:rPr>
              <a:t>≤ 5%</a:t>
            </a:r>
            <a:endParaRPr lang="en-US" sz="3600" dirty="0"/>
          </a:p>
        </p:txBody>
      </p:sp>
      <p:sp>
        <p:nvSpPr>
          <p:cNvPr id="5" name="stat-l-0"/>
          <p:cNvSpPr txBox="1"/>
          <p:nvPr/>
        </p:nvSpPr>
        <p:spPr>
          <a:xfrm>
            <a:off x="685800" y="1920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of monthly FX variance explained by measured macro fundamentals</a:t>
            </a:r>
            <a:endParaRPr lang="en-US" sz="1300" dirty="0"/>
          </a:p>
        </p:txBody>
      </p:sp>
      <p:sp>
        <p:nvSpPr>
          <p:cNvPr id="6" name="stat-1"/>
          <p:cNvSpPr/>
          <p:nvPr/>
        </p:nvSpPr>
        <p:spPr>
          <a:xfrm>
            <a:off x="4297680" y="987552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EEF3F8"/>
          </a:solidFill>
          <a:ln/>
        </p:spPr>
      </p:sp>
      <p:sp>
        <p:nvSpPr>
          <p:cNvPr id="7" name="stat-v-1"/>
          <p:cNvSpPr txBox="1"/>
          <p:nvPr/>
        </p:nvSpPr>
        <p:spPr>
          <a:xfrm>
            <a:off x="4297680" y="11155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F3A"/>
                </a:solidFill>
              </a:rPr>
              <a:t>64%</a:t>
            </a:r>
            <a:endParaRPr lang="en-US" sz="3600" dirty="0"/>
          </a:p>
        </p:txBody>
      </p:sp>
      <p:sp>
        <p:nvSpPr>
          <p:cNvPr id="8" name="stat-l-1"/>
          <p:cNvSpPr txBox="1"/>
          <p:nvPr/>
        </p:nvSpPr>
        <p:spPr>
          <a:xfrm>
            <a:off x="4526280" y="1920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of daily DM/USD changes explained by interdealer order flow in Evans–Lyons</a:t>
            </a:r>
            <a:endParaRPr lang="en-US" sz="1300" dirty="0"/>
          </a:p>
        </p:txBody>
      </p:sp>
      <p:sp>
        <p:nvSpPr>
          <p:cNvPr id="9" name="stat-2"/>
          <p:cNvSpPr/>
          <p:nvPr/>
        </p:nvSpPr>
        <p:spPr>
          <a:xfrm>
            <a:off x="8138160" y="987552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EEF3F8"/>
          </a:solidFill>
          <a:ln/>
        </p:spPr>
      </p:sp>
      <p:sp>
        <p:nvSpPr>
          <p:cNvPr id="10" name="stat-v-2"/>
          <p:cNvSpPr txBox="1"/>
          <p:nvPr/>
        </p:nvSpPr>
        <p:spPr>
          <a:xfrm>
            <a:off x="8138160" y="11155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F3A"/>
                </a:solidFill>
              </a:rPr>
              <a:t>82%</a:t>
            </a:r>
            <a:endParaRPr lang="en-US" sz="3600" dirty="0"/>
          </a:p>
        </p:txBody>
      </p:sp>
      <p:sp>
        <p:nvSpPr>
          <p:cNvPr id="11" name="stat-l-2"/>
          <p:cNvSpPr txBox="1"/>
          <p:nvPr/>
        </p:nvSpPr>
        <p:spPr>
          <a:xfrm>
            <a:off x="8366760" y="1920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of exchange-rate variation attributed to latent demand in Koijen–Yogo</a:t>
            </a:r>
            <a:endParaRPr lang="en-US" sz="1300" dirty="0"/>
          </a:p>
        </p:txBody>
      </p:sp>
      <p:sp>
        <p:nvSpPr>
          <p:cNvPr id="12" name="hyp-box"/>
          <p:cNvSpPr/>
          <p:nvPr/>
        </p:nvSpPr>
        <p:spPr>
          <a:xfrm>
            <a:off x="457200" y="3154680"/>
            <a:ext cx="11247120" cy="3108960"/>
          </a:xfrm>
          <a:prstGeom prst="roundRect">
            <a:avLst>
              <a:gd name="adj" fmla="val 2941"/>
            </a:avLst>
          </a:prstGeom>
          <a:solidFill>
            <a:srgbClr val="0B1F3A"/>
          </a:solidFill>
          <a:ln/>
        </p:spPr>
      </p:sp>
      <p:sp>
        <p:nvSpPr>
          <p:cNvPr id="13" name="hyp-k"/>
          <p:cNvSpPr txBox="1"/>
          <p:nvPr/>
        </p:nvSpPr>
        <p:spPr>
          <a:xfrm>
            <a:off x="731520" y="3337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35A"/>
                </a:solidFill>
              </a:rPr>
              <a:t>What we claim</a:t>
            </a:r>
            <a:endParaRPr lang="en-US" sz="1200" dirty="0"/>
          </a:p>
        </p:txBody>
      </p:sp>
      <p:sp>
        <p:nvSpPr>
          <p:cNvPr id="14" name="hyp-t"/>
          <p:cNvSpPr txBox="1"/>
          <p:nvPr/>
        </p:nvSpPr>
        <p:spPr>
          <a:xfrm>
            <a:off x="731520" y="37490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 rise in prediction-market odds of a Fed cut, a recession, or a fiscal/election shock is a public but not fully priced demand shifter. It should move G10 FX and duration the way order flow does: immediately, and outside the 20-minute announcement window.</a:t>
            </a:r>
            <a:endParaRPr lang="en-US" sz="1600" dirty="0"/>
          </a:p>
        </p:txBody>
      </p:sp>
      <p:sp>
        <p:nvSpPr>
          <p:cNvPr id="15" name="hyp-why"/>
          <p:cNvSpPr txBox="1"/>
          <p:nvPr/>
        </p:nvSpPr>
        <p:spPr>
          <a:xfrm>
            <a:off x="731520" y="4892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8"/>
                </a:solidFill>
              </a:rPr>
              <a:t>Why it is not a second Taylor rule: scheduled payrolls surprises move USD/DM ~13 bp against a 66 bp daily sigma (Topic 4). The information that matters arrives through trading. Prediction markets aggregate that information before the FOMC statement, and inelastic dollar demand (Topic 5) maps the flow into a persistent price.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Unconditional G10 carry is the wrong trade</a:t>
            </a:r>
            <a:endParaRPr lang="en-US" sz="2600" dirty="0"/>
          </a:p>
        </p:txBody>
      </p:sp>
      <p:sp>
        <p:nvSpPr>
          <p:cNvPr id="3" name="carry-title"/>
          <p:cNvSpPr txBox="1"/>
          <p:nvPr/>
        </p:nvSpPr>
        <p:spPr>
          <a:xfrm>
            <a:off x="411480" y="1051560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Developed HML carry  ·  net of bid-ask  ·  Sharpe</a:t>
            </a:r>
            <a:endParaRPr lang="en-US" sz="1200" dirty="0"/>
          </a:p>
        </p:txBody>
      </p:sp>
      <p:sp>
        <p:nvSpPr>
          <p:cNvPr id="4" name="carry-zero"/>
          <p:cNvSpPr/>
          <p:nvPr/>
        </p:nvSpPr>
        <p:spPr>
          <a:xfrm>
            <a:off x="2901337" y="1435608"/>
            <a:ext cx="10973" cy="4572000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5" name="carry-lab-0"/>
          <p:cNvSpPr txBox="1"/>
          <p:nvPr/>
        </p:nvSpPr>
        <p:spPr>
          <a:xfrm>
            <a:off x="411480" y="1399032"/>
            <a:ext cx="1691640" cy="795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Full sample</a:t>
            </a:r>
            <a:endParaRPr lang="en-US" sz="1200" dirty="0"/>
          </a:p>
        </p:txBody>
      </p:sp>
      <p:sp>
        <p:nvSpPr>
          <p:cNvPr id="6" name="carry-bar-0"/>
          <p:cNvSpPr/>
          <p:nvPr/>
        </p:nvSpPr>
        <p:spPr>
          <a:xfrm>
            <a:off x="2901337" y="1605028"/>
            <a:ext cx="1130844" cy="355811"/>
          </a:xfrm>
          <a:prstGeom prst="roundRect">
            <a:avLst>
              <a:gd name="adj" fmla="val 10280"/>
            </a:avLst>
          </a:prstGeom>
          <a:solidFill>
            <a:srgbClr val="C4A35A"/>
          </a:solidFill>
          <a:ln/>
        </p:spPr>
      </p:sp>
      <p:sp>
        <p:nvSpPr>
          <p:cNvPr id="7" name="carry-val-0"/>
          <p:cNvSpPr txBox="1"/>
          <p:nvPr/>
        </p:nvSpPr>
        <p:spPr>
          <a:xfrm>
            <a:off x="4087045" y="1399032"/>
            <a:ext cx="658368" cy="795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0.24</a:t>
            </a:r>
            <a:endParaRPr lang="en-US" sz="1200" dirty="0"/>
          </a:p>
        </p:txBody>
      </p:sp>
      <p:sp>
        <p:nvSpPr>
          <p:cNvPr id="8" name="carry-lab-1"/>
          <p:cNvSpPr txBox="1"/>
          <p:nvPr/>
        </p:nvSpPr>
        <p:spPr>
          <a:xfrm>
            <a:off x="411480" y="2335378"/>
            <a:ext cx="1691640" cy="795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Since 2010</a:t>
            </a:r>
            <a:endParaRPr lang="en-US" sz="1200" dirty="0"/>
          </a:p>
        </p:txBody>
      </p:sp>
      <p:sp>
        <p:nvSpPr>
          <p:cNvPr id="9" name="carry-bar-1"/>
          <p:cNvSpPr/>
          <p:nvPr/>
        </p:nvSpPr>
        <p:spPr>
          <a:xfrm>
            <a:off x="2901337" y="2541374"/>
            <a:ext cx="94237" cy="355811"/>
          </a:xfrm>
          <a:prstGeom prst="roundRect">
            <a:avLst>
              <a:gd name="adj" fmla="val 38813"/>
            </a:avLst>
          </a:prstGeom>
          <a:solidFill>
            <a:srgbClr val="C4A35A"/>
          </a:solidFill>
          <a:ln/>
        </p:spPr>
      </p:sp>
      <p:sp>
        <p:nvSpPr>
          <p:cNvPr id="10" name="carry-val-1"/>
          <p:cNvSpPr txBox="1"/>
          <p:nvPr/>
        </p:nvSpPr>
        <p:spPr>
          <a:xfrm>
            <a:off x="3050438" y="2335378"/>
            <a:ext cx="658368" cy="795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0.02</a:t>
            </a:r>
            <a:endParaRPr lang="en-US" sz="1200" dirty="0"/>
          </a:p>
        </p:txBody>
      </p:sp>
      <p:sp>
        <p:nvSpPr>
          <p:cNvPr id="11" name="carry-lab-2"/>
          <p:cNvSpPr txBox="1"/>
          <p:nvPr/>
        </p:nvSpPr>
        <p:spPr>
          <a:xfrm>
            <a:off x="411480" y="3271723"/>
            <a:ext cx="1691640" cy="795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Low VIX</a:t>
            </a:r>
            <a:endParaRPr lang="en-US" sz="1200" dirty="0"/>
          </a:p>
        </p:txBody>
      </p:sp>
      <p:sp>
        <p:nvSpPr>
          <p:cNvPr id="12" name="carry-bar-2"/>
          <p:cNvSpPr/>
          <p:nvPr/>
        </p:nvSpPr>
        <p:spPr>
          <a:xfrm>
            <a:off x="2901337" y="3477719"/>
            <a:ext cx="2544399" cy="355811"/>
          </a:xfrm>
          <a:prstGeom prst="roundRect">
            <a:avLst>
              <a:gd name="adj" fmla="val 10280"/>
            </a:avLst>
          </a:prstGeom>
          <a:solidFill>
            <a:srgbClr val="C4A35A"/>
          </a:solidFill>
          <a:ln/>
        </p:spPr>
      </p:sp>
      <p:sp>
        <p:nvSpPr>
          <p:cNvPr id="13" name="carry-val-2"/>
          <p:cNvSpPr txBox="1"/>
          <p:nvPr/>
        </p:nvSpPr>
        <p:spPr>
          <a:xfrm>
            <a:off x="5500600" y="3271723"/>
            <a:ext cx="658368" cy="795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0.54</a:t>
            </a:r>
            <a:endParaRPr lang="en-US" sz="1200" dirty="0"/>
          </a:p>
        </p:txBody>
      </p:sp>
      <p:sp>
        <p:nvSpPr>
          <p:cNvPr id="14" name="carry-lab-3"/>
          <p:cNvSpPr txBox="1"/>
          <p:nvPr/>
        </p:nvSpPr>
        <p:spPr>
          <a:xfrm>
            <a:off x="411480" y="4208069"/>
            <a:ext cx="1691640" cy="795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High VIX</a:t>
            </a:r>
            <a:endParaRPr lang="en-US" sz="1200" dirty="0"/>
          </a:p>
        </p:txBody>
      </p:sp>
      <p:sp>
        <p:nvSpPr>
          <p:cNvPr id="15" name="carry-bar-3"/>
          <p:cNvSpPr/>
          <p:nvPr/>
        </p:nvSpPr>
        <p:spPr>
          <a:xfrm>
            <a:off x="2759982" y="4414065"/>
            <a:ext cx="141355" cy="355811"/>
          </a:xfrm>
          <a:prstGeom prst="roundRect">
            <a:avLst>
              <a:gd name="adj" fmla="val 25875"/>
            </a:avLst>
          </a:prstGeom>
          <a:solidFill>
            <a:srgbClr val="B23A48"/>
          </a:solidFill>
          <a:ln/>
        </p:spPr>
      </p:sp>
      <p:sp>
        <p:nvSpPr>
          <p:cNvPr id="16" name="carry-val-3"/>
          <p:cNvSpPr txBox="1"/>
          <p:nvPr/>
        </p:nvSpPr>
        <p:spPr>
          <a:xfrm>
            <a:off x="2956201" y="4208069"/>
            <a:ext cx="658368" cy="795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-0.03</a:t>
            </a:r>
            <a:endParaRPr lang="en-US" sz="1200" dirty="0"/>
          </a:p>
        </p:txBody>
      </p:sp>
      <p:sp>
        <p:nvSpPr>
          <p:cNvPr id="17" name="carry-lab-4"/>
          <p:cNvSpPr txBox="1"/>
          <p:nvPr/>
        </p:nvSpPr>
        <p:spPr>
          <a:xfrm>
            <a:off x="411480" y="5144414"/>
            <a:ext cx="1691640" cy="795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Skip top VIX 20%</a:t>
            </a:r>
            <a:endParaRPr lang="en-US" sz="1200" dirty="0"/>
          </a:p>
        </p:txBody>
      </p:sp>
      <p:sp>
        <p:nvSpPr>
          <p:cNvPr id="18" name="carry-bar-4"/>
          <p:cNvSpPr/>
          <p:nvPr/>
        </p:nvSpPr>
        <p:spPr>
          <a:xfrm>
            <a:off x="2901337" y="5350410"/>
            <a:ext cx="2120332" cy="355811"/>
          </a:xfrm>
          <a:prstGeom prst="roundRect">
            <a:avLst>
              <a:gd name="adj" fmla="val 10280"/>
            </a:avLst>
          </a:prstGeom>
          <a:solidFill>
            <a:srgbClr val="C4A35A"/>
          </a:solidFill>
          <a:ln/>
        </p:spPr>
      </p:sp>
      <p:sp>
        <p:nvSpPr>
          <p:cNvPr id="19" name="carry-val-4"/>
          <p:cNvSpPr txBox="1"/>
          <p:nvPr/>
        </p:nvSpPr>
        <p:spPr>
          <a:xfrm>
            <a:off x="5076534" y="5144414"/>
            <a:ext cx="658368" cy="795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0.45</a:t>
            </a:r>
            <a:endParaRPr lang="en-US" sz="1200" dirty="0"/>
          </a:p>
        </p:txBody>
      </p:sp>
      <p:sp>
        <p:nvSpPr>
          <p:cNvPr id="20" name="carry-notes"/>
          <p:cNvSpPr/>
          <p:nvPr/>
        </p:nvSpPr>
        <p:spPr>
          <a:xfrm>
            <a:off x="7040880" y="1051560"/>
            <a:ext cx="4663440" cy="5029200"/>
          </a:xfrm>
          <a:prstGeom prst="roundRect">
            <a:avLst>
              <a:gd name="adj" fmla="val 1961"/>
            </a:avLst>
          </a:prstGeom>
          <a:solidFill>
            <a:srgbClr val="EEF3F8"/>
          </a:solidFill>
          <a:ln/>
        </p:spPr>
      </p:sp>
      <p:sp>
        <p:nvSpPr>
          <p:cNvPr id="21" name="carry-src"/>
          <p:cNvSpPr txBox="1"/>
          <p:nvPr/>
        </p:nvSpPr>
        <p:spPr>
          <a:xfrm>
            <a:off x="7269480" y="12801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</a:rPr>
              <a:t>Lustig–Roussanov–Verdelhan HML, developed, net of spreads. Same series as Problem Set 1.</a:t>
            </a:r>
            <a:endParaRPr lang="en-US" sz="1300" dirty="0"/>
          </a:p>
        </p:txBody>
      </p:sp>
      <p:sp>
        <p:nvSpPr>
          <p:cNvPr id="22" name="carry-bullets"/>
          <p:cNvSpPr txBox="1"/>
          <p:nvPr/>
        </p:nvSpPr>
        <p:spPr>
          <a:xfrm>
            <a:off x="7269480" y="2194560"/>
            <a:ext cx="4251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Full sample Sharpe 0.24, max drawdown −39%.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Since 2010 the mean is ~0. The risk premium did not vanish — the crashes and the post-GFC compression ate it.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Low-VIX months: Sharpe 0.54. High-VIX months: −0.03. Oct 2008: −13.8% in one month.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This is Topic 3’s downside-risk CAPM, not a reason to abandon carry. It is a reason to turn it off when global risk and policy-path odds say a crash is being priced.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Three signals, one book</a:t>
            </a:r>
            <a:endParaRPr lang="en-US" sz="2600" dirty="0"/>
          </a:p>
        </p:txBody>
      </p:sp>
      <p:sp>
        <p:nvSpPr>
          <p:cNvPr id="3" name="sig-0"/>
          <p:cNvSpPr/>
          <p:nvPr/>
        </p:nvSpPr>
        <p:spPr>
          <a:xfrm>
            <a:off x="457200" y="100584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EEF3F8"/>
          </a:solidFill>
          <a:ln/>
        </p:spPr>
      </p:sp>
      <p:sp>
        <p:nvSpPr>
          <p:cNvPr id="4" name="sig-ov-0"/>
          <p:cNvSpPr/>
          <p:nvPr/>
        </p:nvSpPr>
        <p:spPr>
          <a:xfrm>
            <a:off x="713232" y="1234440"/>
            <a:ext cx="438912" cy="438912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5" name="sig-k-0"/>
          <p:cNvSpPr txBox="1"/>
          <p:nvPr/>
        </p:nvSpPr>
        <p:spPr>
          <a:xfrm>
            <a:off x="713232" y="1234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sig-t-0"/>
          <p:cNvSpPr txBox="1"/>
          <p:nvPr/>
        </p:nvSpPr>
        <p:spPr>
          <a:xfrm>
            <a:off x="1280160" y="12618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Carry-to-vol</a:t>
            </a:r>
            <a:endParaRPr lang="en-US" sz="1800" dirty="0"/>
          </a:p>
        </p:txBody>
      </p:sp>
      <p:sp>
        <p:nvSpPr>
          <p:cNvPr id="7" name="sig-d-0"/>
          <p:cNvSpPr txBox="1"/>
          <p:nvPr/>
        </p:nvSpPr>
        <p:spPr>
          <a:xfrm>
            <a:off x="713232" y="1847088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3-month rate gap over 3-month realized FX vol, G10 vs USD. Ranked cross-section, long top three, short bottom three. Topic 3 carry-to-vol, not raw carry.</a:t>
            </a:r>
            <a:endParaRPr lang="en-US" sz="1500" dirty="0"/>
          </a:p>
        </p:txBody>
      </p:sp>
      <p:sp>
        <p:nvSpPr>
          <p:cNvPr id="8" name="sig-1"/>
          <p:cNvSpPr/>
          <p:nvPr/>
        </p:nvSpPr>
        <p:spPr>
          <a:xfrm>
            <a:off x="4297680" y="100584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EEF3F8"/>
          </a:solidFill>
          <a:ln/>
        </p:spPr>
      </p:sp>
      <p:sp>
        <p:nvSpPr>
          <p:cNvPr id="9" name="sig-ov-1"/>
          <p:cNvSpPr/>
          <p:nvPr/>
        </p:nvSpPr>
        <p:spPr>
          <a:xfrm>
            <a:off x="4553712" y="1234440"/>
            <a:ext cx="438912" cy="438912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0" name="sig-k-1"/>
          <p:cNvSpPr txBox="1"/>
          <p:nvPr/>
        </p:nvSpPr>
        <p:spPr>
          <a:xfrm>
            <a:off x="4553712" y="1234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sig-t-1"/>
          <p:cNvSpPr txBox="1"/>
          <p:nvPr/>
        </p:nvSpPr>
        <p:spPr>
          <a:xfrm>
            <a:off x="5120640" y="12618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Policy-path ΔP</a:t>
            </a:r>
            <a:endParaRPr lang="en-US" sz="1800" dirty="0"/>
          </a:p>
        </p:txBody>
      </p:sp>
      <p:sp>
        <p:nvSpPr>
          <p:cNvPr id="12" name="sig-d-1"/>
          <p:cNvSpPr txBox="1"/>
          <p:nvPr/>
        </p:nvSpPr>
        <p:spPr>
          <a:xfrm>
            <a:off x="4553712" y="1847088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Five-day change in Polymarket and Kalshi probabilities of a next-meeting cut, a 12-month recession, and the relevant election/fiscal contract. Trade the change, never the level.</a:t>
            </a:r>
            <a:endParaRPr lang="en-US" sz="1500" dirty="0"/>
          </a:p>
        </p:txBody>
      </p:sp>
      <p:sp>
        <p:nvSpPr>
          <p:cNvPr id="13" name="sig-2"/>
          <p:cNvSpPr/>
          <p:nvPr/>
        </p:nvSpPr>
        <p:spPr>
          <a:xfrm>
            <a:off x="8138160" y="100584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EEF3F8"/>
          </a:solidFill>
          <a:ln/>
        </p:spPr>
      </p:sp>
      <p:sp>
        <p:nvSpPr>
          <p:cNvPr id="14" name="sig-ov-2"/>
          <p:cNvSpPr/>
          <p:nvPr/>
        </p:nvSpPr>
        <p:spPr>
          <a:xfrm>
            <a:off x="8394192" y="1234440"/>
            <a:ext cx="438912" cy="438912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5" name="sig-k-2"/>
          <p:cNvSpPr txBox="1"/>
          <p:nvPr/>
        </p:nvSpPr>
        <p:spPr>
          <a:xfrm>
            <a:off x="8394192" y="1234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sig-t-2"/>
          <p:cNvSpPr txBox="1"/>
          <p:nvPr/>
        </p:nvSpPr>
        <p:spPr>
          <a:xfrm>
            <a:off x="8961120" y="12618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Disagreement</a:t>
            </a:r>
            <a:endParaRPr lang="en-US" sz="1800" dirty="0"/>
          </a:p>
        </p:txBody>
      </p:sp>
      <p:sp>
        <p:nvSpPr>
          <p:cNvPr id="17" name="sig-d-2"/>
          <p:cNvSpPr txBox="1"/>
          <p:nvPr/>
        </p:nvSpPr>
        <p:spPr>
          <a:xfrm>
            <a:off x="8394192" y="1847088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|P_Kalshi − P_Polymarket| and the contract’s implied vol. When disagreement is in the top quartile, cut gross exposure by half. This is the brief’s ‘disagreement across platforms’ clause.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From signal to position, every Friday</a:t>
            </a:r>
            <a:endParaRPr lang="en-US" sz="2600" dirty="0"/>
          </a:p>
        </p:txBody>
      </p:sp>
      <p:sp>
        <p:nvSpPr>
          <p:cNvPr id="3" name="step-ov-0"/>
          <p:cNvSpPr/>
          <p:nvPr/>
        </p:nvSpPr>
        <p:spPr>
          <a:xfrm>
            <a:off x="502920" y="1161288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" name="step-n-0"/>
          <p:cNvSpPr txBox="1"/>
          <p:nvPr/>
        </p:nvSpPr>
        <p:spPr>
          <a:xfrm>
            <a:off x="50292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A35A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-row-0"/>
          <p:cNvSpPr/>
          <p:nvPr/>
        </p:nvSpPr>
        <p:spPr>
          <a:xfrm>
            <a:off x="1143000" y="960120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EEF3F8"/>
          </a:solidFill>
          <a:ln/>
        </p:spPr>
      </p:sp>
      <p:sp>
        <p:nvSpPr>
          <p:cNvPr id="6" name="step-t-0"/>
          <p:cNvSpPr txBox="1"/>
          <p:nvPr/>
        </p:nvSpPr>
        <p:spPr>
          <a:xfrm>
            <a:off x="1371600" y="105156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Rank G10</a:t>
            </a:r>
            <a:endParaRPr lang="en-US" sz="1600" dirty="0"/>
          </a:p>
        </p:txBody>
      </p:sp>
      <p:sp>
        <p:nvSpPr>
          <p:cNvPr id="7" name="step-d-0"/>
          <p:cNvSpPr txBox="1"/>
          <p:nvPr/>
        </p:nvSpPr>
        <p:spPr>
          <a:xfrm>
            <a:off x="1371600" y="1362456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Sort by carry-to-vol. Long 3 / short 3, inverse-vol weights, dollar-neutral on the six legs.</a:t>
            </a:r>
            <a:endParaRPr lang="en-US" sz="1400" dirty="0"/>
          </a:p>
        </p:txBody>
      </p:sp>
      <p:sp>
        <p:nvSpPr>
          <p:cNvPr id="8" name="step-ov-1"/>
          <p:cNvSpPr/>
          <p:nvPr/>
        </p:nvSpPr>
        <p:spPr>
          <a:xfrm>
            <a:off x="502920" y="218541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step-n-1"/>
          <p:cNvSpPr txBox="1"/>
          <p:nvPr/>
        </p:nvSpPr>
        <p:spPr>
          <a:xfrm>
            <a:off x="502920" y="2185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A35A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tep-row-1"/>
          <p:cNvSpPr/>
          <p:nvPr/>
        </p:nvSpPr>
        <p:spPr>
          <a:xfrm>
            <a:off x="1143000" y="1984248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EEF3F8"/>
          </a:solidFill>
          <a:ln/>
        </p:spPr>
      </p:sp>
      <p:sp>
        <p:nvSpPr>
          <p:cNvPr id="11" name="step-t-1"/>
          <p:cNvSpPr txBox="1"/>
          <p:nvPr/>
        </p:nvSpPr>
        <p:spPr>
          <a:xfrm>
            <a:off x="1371600" y="207568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Read ΔP</a:t>
            </a:r>
            <a:endParaRPr lang="en-US" sz="1600" dirty="0"/>
          </a:p>
        </p:txBody>
      </p:sp>
      <p:sp>
        <p:nvSpPr>
          <p:cNvPr id="12" name="step-d-1"/>
          <p:cNvSpPr txBox="1"/>
          <p:nvPr/>
        </p:nvSpPr>
        <p:spPr>
          <a:xfrm>
            <a:off x="1371600" y="2386584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If 5-day ΔP(cut) &gt; +5 pp: add long US duration and short USD vs EUR and JPY. Opposite if ΔP(hike) &gt; +5 pp.</a:t>
            </a:r>
            <a:endParaRPr lang="en-US" sz="1400" dirty="0"/>
          </a:p>
        </p:txBody>
      </p:sp>
      <p:sp>
        <p:nvSpPr>
          <p:cNvPr id="13" name="step-ov-2"/>
          <p:cNvSpPr/>
          <p:nvPr/>
        </p:nvSpPr>
        <p:spPr>
          <a:xfrm>
            <a:off x="502920" y="3209544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step-n-2"/>
          <p:cNvSpPr txBox="1"/>
          <p:nvPr/>
        </p:nvSpPr>
        <p:spPr>
          <a:xfrm>
            <a:off x="502920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A35A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tep-row-2"/>
          <p:cNvSpPr/>
          <p:nvPr/>
        </p:nvSpPr>
        <p:spPr>
          <a:xfrm>
            <a:off x="1143000" y="3008376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EEF3F8"/>
          </a:solidFill>
          <a:ln/>
        </p:spPr>
      </p:sp>
      <p:sp>
        <p:nvSpPr>
          <p:cNvPr id="16" name="step-t-2"/>
          <p:cNvSpPr txBox="1"/>
          <p:nvPr/>
        </p:nvSpPr>
        <p:spPr>
          <a:xfrm>
            <a:off x="1371600" y="309981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Safe-haven overlay</a:t>
            </a:r>
            <a:endParaRPr lang="en-US" sz="1600" dirty="0"/>
          </a:p>
        </p:txBody>
      </p:sp>
      <p:sp>
        <p:nvSpPr>
          <p:cNvPr id="17" name="step-d-2"/>
          <p:cNvSpPr txBox="1"/>
          <p:nvPr/>
        </p:nvSpPr>
        <p:spPr>
          <a:xfrm>
            <a:off x="1371600" y="3410712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If ΔP(recession) &gt; +5 pp: flatten carry, long JPY and CHF, short AUD and NZD. This is the Topic 3 crash-hedge.</a:t>
            </a:r>
            <a:endParaRPr lang="en-US" sz="1400" dirty="0"/>
          </a:p>
        </p:txBody>
      </p:sp>
      <p:sp>
        <p:nvSpPr>
          <p:cNvPr id="18" name="step-ov-3"/>
          <p:cNvSpPr/>
          <p:nvPr/>
        </p:nvSpPr>
        <p:spPr>
          <a:xfrm>
            <a:off x="502920" y="4233672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step-n-3"/>
          <p:cNvSpPr txBox="1"/>
          <p:nvPr/>
        </p:nvSpPr>
        <p:spPr>
          <a:xfrm>
            <a:off x="502920" y="4233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A35A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tep-row-3"/>
          <p:cNvSpPr/>
          <p:nvPr/>
        </p:nvSpPr>
        <p:spPr>
          <a:xfrm>
            <a:off x="1143000" y="4032504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EEF3F8"/>
          </a:solidFill>
          <a:ln/>
        </p:spPr>
      </p:sp>
      <p:sp>
        <p:nvSpPr>
          <p:cNvPr id="21" name="step-t-3"/>
          <p:cNvSpPr txBox="1"/>
          <p:nvPr/>
        </p:nvSpPr>
        <p:spPr>
          <a:xfrm>
            <a:off x="1371600" y="412394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Fiscal sign check</a:t>
            </a:r>
            <a:endParaRPr lang="en-US" sz="1600" dirty="0"/>
          </a:p>
        </p:txBody>
      </p:sp>
      <p:sp>
        <p:nvSpPr>
          <p:cNvPr id="22" name="step-d-3"/>
          <p:cNvSpPr txBox="1"/>
          <p:nvPr/>
        </p:nvSpPr>
        <p:spPr>
          <a:xfrm>
            <a:off x="1371600" y="443484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If local 10y yield and the currency move in opposite directions that week, treat it as fiscal dominance (Truss / Japan 2026). Short the currency and the long bond together.</a:t>
            </a:r>
            <a:endParaRPr lang="en-US" sz="1400" dirty="0"/>
          </a:p>
        </p:txBody>
      </p:sp>
      <p:sp>
        <p:nvSpPr>
          <p:cNvPr id="23" name="step-ov-4"/>
          <p:cNvSpPr/>
          <p:nvPr/>
        </p:nvSpPr>
        <p:spPr>
          <a:xfrm>
            <a:off x="502920" y="5257800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step-n-4"/>
          <p:cNvSpPr txBox="1"/>
          <p:nvPr/>
        </p:nvSpPr>
        <p:spPr>
          <a:xfrm>
            <a:off x="502920" y="5257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A35A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step-row-4"/>
          <p:cNvSpPr/>
          <p:nvPr/>
        </p:nvSpPr>
        <p:spPr>
          <a:xfrm>
            <a:off x="1143000" y="5056632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EEF3F8"/>
          </a:solidFill>
          <a:ln/>
        </p:spPr>
      </p:sp>
      <p:sp>
        <p:nvSpPr>
          <p:cNvPr id="26" name="step-t-4"/>
          <p:cNvSpPr txBox="1"/>
          <p:nvPr/>
        </p:nvSpPr>
        <p:spPr>
          <a:xfrm>
            <a:off x="1371600" y="514807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Scale</a:t>
            </a:r>
            <a:endParaRPr lang="en-US" sz="1600" dirty="0"/>
          </a:p>
        </p:txBody>
      </p:sp>
      <p:sp>
        <p:nvSpPr>
          <p:cNvPr id="27" name="step-d-4"/>
          <p:cNvSpPr txBox="1"/>
          <p:nvPr/>
        </p:nvSpPr>
        <p:spPr>
          <a:xfrm>
            <a:off x="1371600" y="5458968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Gross FX 2×, duration 1×, then vol-target the book to 10% annualized. Zero out if VIX is above its 80th percentile or disagreement is elevated.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Mechanism test, not the final backtest</a:t>
            </a:r>
            <a:endParaRPr lang="en-US" sz="2600" dirty="0"/>
          </a:p>
        </p:txBody>
      </p:sp>
      <p:sp>
        <p:nvSpPr>
          <p:cNvPr id="3" name="mech-0"/>
          <p:cNvSpPr/>
          <p:nvPr/>
        </p:nvSpPr>
        <p:spPr>
          <a:xfrm>
            <a:off x="457200" y="100584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/>
        </p:spPr>
      </p:sp>
      <p:sp>
        <p:nvSpPr>
          <p:cNvPr id="4" name="mech-v-0"/>
          <p:cNvSpPr txBox="1"/>
          <p:nvPr/>
        </p:nvSpPr>
        <p:spPr>
          <a:xfrm>
            <a:off x="685800" y="10058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0.45</a:t>
            </a:r>
            <a:endParaRPr lang="en-US" sz="2800" dirty="0"/>
          </a:p>
        </p:txBody>
      </p:sp>
      <p:sp>
        <p:nvSpPr>
          <p:cNvPr id="5" name="mech-l-0"/>
          <p:cNvSpPr txBox="1"/>
          <p:nvPr/>
        </p:nvSpPr>
        <p:spPr>
          <a:xfrm>
            <a:off x="3200400" y="1234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Sharpe of developed HML if we simply skip the top VIX quintile, versus 0.21 unfiltered (1990–2021, net)</a:t>
            </a:r>
            <a:endParaRPr lang="en-US" sz="1600" dirty="0"/>
          </a:p>
        </p:txBody>
      </p:sp>
      <p:sp>
        <p:nvSpPr>
          <p:cNvPr id="6" name="mech-1"/>
          <p:cNvSpPr/>
          <p:nvPr/>
        </p:nvSpPr>
        <p:spPr>
          <a:xfrm>
            <a:off x="457200" y="269748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/>
        </p:spPr>
      </p:sp>
      <p:sp>
        <p:nvSpPr>
          <p:cNvPr id="7" name="mech-v-1"/>
          <p:cNvSpPr txBox="1"/>
          <p:nvPr/>
        </p:nvSpPr>
        <p:spPr>
          <a:xfrm>
            <a:off x="685800" y="26974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−13.8%</a:t>
            </a:r>
            <a:endParaRPr lang="en-US" sz="2800" dirty="0"/>
          </a:p>
        </p:txBody>
      </p:sp>
      <p:sp>
        <p:nvSpPr>
          <p:cNvPr id="8" name="mech-l-1"/>
          <p:cNvSpPr txBox="1"/>
          <p:nvPr/>
        </p:nvSpPr>
        <p:spPr>
          <a:xfrm>
            <a:off x="3200400" y="2926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Worst month: October 2008. The other crash cluster is 1998 / 2007–09 — carry’s priced risk, not noise</a:t>
            </a:r>
            <a:endParaRPr lang="en-US" sz="1600" dirty="0"/>
          </a:p>
        </p:txBody>
      </p:sp>
      <p:sp>
        <p:nvSpPr>
          <p:cNvPr id="9" name="mech-2"/>
          <p:cNvSpPr/>
          <p:nvPr/>
        </p:nvSpPr>
        <p:spPr>
          <a:xfrm>
            <a:off x="457200" y="438912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/>
        </p:spPr>
      </p:sp>
      <p:sp>
        <p:nvSpPr>
          <p:cNvPr id="10" name="mech-v-2"/>
          <p:cNvSpPr txBox="1"/>
          <p:nvPr/>
        </p:nvSpPr>
        <p:spPr>
          <a:xfrm>
            <a:off x="685800" y="43891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1.4%</a:t>
            </a:r>
            <a:endParaRPr lang="en-US" sz="2800" dirty="0"/>
          </a:p>
        </p:txBody>
      </p:sp>
      <p:sp>
        <p:nvSpPr>
          <p:cNvPr id="11" name="mech-l-2"/>
          <p:cNvSpPr txBox="1"/>
          <p:nvPr/>
        </p:nvSpPr>
        <p:spPr>
          <a:xfrm>
            <a:off x="3200400" y="4617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Dollar specialness in Koijen–Yogo: foreign latent demand for US assets is worth ~1.4% a year. A policy-path shock hits an inelastic dollar book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When Policy Path loses money</a:t>
            </a:r>
            <a:endParaRPr lang="en-US" sz="2600" dirty="0"/>
          </a:p>
        </p:txBody>
      </p:sp>
      <p:sp>
        <p:nvSpPr>
          <p:cNvPr id="3" name="lose-0"/>
          <p:cNvSpPr/>
          <p:nvPr/>
        </p:nvSpPr>
        <p:spPr>
          <a:xfrm>
            <a:off x="457200" y="100584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4" name="lose-t-0"/>
          <p:cNvSpPr txBox="1"/>
          <p:nvPr/>
        </p:nvSpPr>
        <p:spPr>
          <a:xfrm>
            <a:off x="731520" y="1261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Carry crash</a:t>
            </a:r>
            <a:endParaRPr lang="en-US" sz="1800" dirty="0"/>
          </a:p>
        </p:txBody>
      </p:sp>
      <p:sp>
        <p:nvSpPr>
          <p:cNvPr id="5" name="lose-d-0"/>
          <p:cNvSpPr txBox="1"/>
          <p:nvPr/>
        </p:nvSpPr>
        <p:spPr>
          <a:xfrm>
            <a:off x="731520" y="17373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VIX spike, AUD/NZD/NOK collapse, JPY squeeze. We measure HML return on days when the global dollar factor is in its 5th percentile. The filter is supposed to cut this; if it does not, the strategy is rejected.</a:t>
            </a:r>
            <a:endParaRPr lang="en-US" sz="1400" dirty="0"/>
          </a:p>
        </p:txBody>
      </p:sp>
      <p:sp>
        <p:nvSpPr>
          <p:cNvPr id="6" name="lose-1"/>
          <p:cNvSpPr/>
          <p:nvPr/>
        </p:nvSpPr>
        <p:spPr>
          <a:xfrm>
            <a:off x="6172200" y="100584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7" name="lose-t-1"/>
          <p:cNvSpPr txBox="1"/>
          <p:nvPr/>
        </p:nvSpPr>
        <p:spPr>
          <a:xfrm>
            <a:off x="6446520" y="1261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Fiscal dominance</a:t>
            </a:r>
            <a:endParaRPr lang="en-US" sz="1800" dirty="0"/>
          </a:p>
        </p:txBody>
      </p:sp>
      <p:sp>
        <p:nvSpPr>
          <p:cNvPr id="8" name="lose-d-1"/>
          <p:cNvSpPr txBox="1"/>
          <p:nvPr/>
        </p:nvSpPr>
        <p:spPr>
          <a:xfrm>
            <a:off x="6446520" y="17373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Yields up, currency down (UK 2022, Japan 2025–26). A policy-path long-duration overlay is the wrong side. The sign check in step 4 is the hedge; we still report the unhedged loss.</a:t>
            </a:r>
            <a:endParaRPr lang="en-US" sz="1400" dirty="0"/>
          </a:p>
        </p:txBody>
      </p:sp>
      <p:sp>
        <p:nvSpPr>
          <p:cNvPr id="9" name="lose-2"/>
          <p:cNvSpPr/>
          <p:nvPr/>
        </p:nvSpPr>
        <p:spPr>
          <a:xfrm>
            <a:off x="457200" y="361188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10" name="lose-t-2"/>
          <p:cNvSpPr txBox="1"/>
          <p:nvPr/>
        </p:nvSpPr>
        <p:spPr>
          <a:xfrm>
            <a:off x="731520" y="3867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Announcement catch-up</a:t>
            </a:r>
            <a:endParaRPr lang="en-US" sz="1800" dirty="0"/>
          </a:p>
        </p:txBody>
      </p:sp>
      <p:sp>
        <p:nvSpPr>
          <p:cNvPr id="11" name="lose-d-2"/>
          <p:cNvSpPr txBox="1"/>
          <p:nvPr/>
        </p:nvSpPr>
        <p:spPr>
          <a:xfrm>
            <a:off x="731520" y="43434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If almost all of the PM signal’s predictive power sits inside the FOMC window, we are not discovering order flow — we are trading the statement. That falsifies Topic 4 as the mechanism.</a:t>
            </a:r>
            <a:endParaRPr lang="en-US" sz="1400" dirty="0"/>
          </a:p>
        </p:txBody>
      </p:sp>
      <p:sp>
        <p:nvSpPr>
          <p:cNvPr id="12" name="lose-3"/>
          <p:cNvSpPr/>
          <p:nvPr/>
        </p:nvSpPr>
        <p:spPr>
          <a:xfrm>
            <a:off x="6172200" y="361188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13" name="lose-t-3"/>
          <p:cNvSpPr txBox="1"/>
          <p:nvPr/>
        </p:nvSpPr>
        <p:spPr>
          <a:xfrm>
            <a:off x="6446520" y="3867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Crowded PM</a:t>
            </a:r>
            <a:endParaRPr lang="en-US" sz="1800" dirty="0"/>
          </a:p>
        </p:txBody>
      </p:sp>
      <p:sp>
        <p:nvSpPr>
          <p:cNvPr id="14" name="lose-d-3"/>
          <p:cNvSpPr txBox="1"/>
          <p:nvPr/>
        </p:nvSpPr>
        <p:spPr>
          <a:xfrm>
            <a:off x="6446520" y="43434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Prediction-market depth is thin versus FX. If the ΔP has already been printed in 2-year yields that morning, we are late. We require the PM move to lead, not lag, the 2s.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STRATEGY 2  ·  EMERGING MARKETS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Terms of Trade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terms-of-trade shock is a demand shock for the currency</a:t>
            </a:r>
            <a:endParaRPr lang="en-US" sz="2600" dirty="0"/>
          </a:p>
        </p:txBody>
      </p:sp>
      <p:sp>
        <p:nvSpPr>
          <p:cNvPr id="3" name="tot-quote"/>
          <p:cNvSpPr/>
          <p:nvPr/>
        </p:nvSpPr>
        <p:spPr>
          <a:xfrm>
            <a:off x="457200" y="100584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0B1F3A"/>
          </a:solidFill>
          <a:ln/>
        </p:spPr>
      </p:sp>
      <p:sp>
        <p:nvSpPr>
          <p:cNvPr id="4" name="tot-quote-t"/>
          <p:cNvSpPr txBox="1"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Topic 3: a 10% terms-of-trade improvement appreciates the real exchange rate and raises output. Oil exporters (NOK, BRL, MXN, CAD) gain when Brent rises; importers (KRW, JPY, TWD, THB, INR, EUR) lose — after stripping out the dollar’s own swing.</a:t>
            </a:r>
            <a:endParaRPr lang="en-US" sz="1600" dirty="0"/>
          </a:p>
        </p:txBody>
      </p:sp>
      <p:sp>
        <p:nvSpPr>
          <p:cNvPr id="5" name="toth-0"/>
          <p:cNvSpPr/>
          <p:nvPr/>
        </p:nvSpPr>
        <p:spPr>
          <a:xfrm>
            <a:off x="457200" y="2651760"/>
            <a:ext cx="3657600" cy="2971800"/>
          </a:xfrm>
          <a:prstGeom prst="roundRect">
            <a:avLst>
              <a:gd name="adj" fmla="val 3077"/>
            </a:avLst>
          </a:prstGeom>
          <a:solidFill>
            <a:srgbClr val="EEF3F8"/>
          </a:solidFill>
          <a:ln/>
        </p:spPr>
      </p:sp>
      <p:sp>
        <p:nvSpPr>
          <p:cNvPr id="6" name="toth-t-0"/>
          <p:cNvSpPr txBox="1"/>
          <p:nvPr/>
        </p:nvSpPr>
        <p:spPr>
          <a:xfrm>
            <a:off x="68580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Why it should predict</a:t>
            </a:r>
            <a:endParaRPr lang="en-US" sz="1600" dirty="0"/>
          </a:p>
        </p:txBody>
      </p:sp>
      <p:sp>
        <p:nvSpPr>
          <p:cNvPr id="7" name="toth-d-0"/>
          <p:cNvSpPr txBox="1"/>
          <p:nvPr/>
        </p:nvSpPr>
        <p:spPr>
          <a:xfrm>
            <a:off x="685800" y="352044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The oil move is public. The FX move is not instantaneous because EM demand is inelastic, NDFs segment the market, and the investor base (Topic 5) adjusts with a lag. Order flow in the NDF is how the ToT news gets into the price (Topic 4).</a:t>
            </a:r>
            <a:endParaRPr lang="en-US" sz="1400" dirty="0"/>
          </a:p>
        </p:txBody>
      </p:sp>
      <p:sp>
        <p:nvSpPr>
          <p:cNvPr id="8" name="toth-1"/>
          <p:cNvSpPr/>
          <p:nvPr/>
        </p:nvSpPr>
        <p:spPr>
          <a:xfrm>
            <a:off x="4297680" y="2651760"/>
            <a:ext cx="3657600" cy="2971800"/>
          </a:xfrm>
          <a:prstGeom prst="roundRect">
            <a:avLst>
              <a:gd name="adj" fmla="val 3077"/>
            </a:avLst>
          </a:prstGeom>
          <a:solidFill>
            <a:srgbClr val="EEF3F8"/>
          </a:solidFill>
          <a:ln/>
        </p:spPr>
      </p:sp>
      <p:sp>
        <p:nvSpPr>
          <p:cNvPr id="9" name="toth-t-1"/>
          <p:cNvSpPr txBox="1"/>
          <p:nvPr/>
        </p:nvSpPr>
        <p:spPr>
          <a:xfrm>
            <a:off x="452628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Why not always-on</a:t>
            </a:r>
            <a:endParaRPr lang="en-US" sz="1600" dirty="0"/>
          </a:p>
        </p:txBody>
      </p:sp>
      <p:sp>
        <p:nvSpPr>
          <p:cNvPr id="10" name="toth-d-1"/>
          <p:cNvSpPr txBox="1"/>
          <p:nvPr/>
        </p:nvSpPr>
        <p:spPr>
          <a:xfrm>
            <a:off x="4526280" y="352044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 static long-exporters / short-importers book is just another high-beta EM carry. In our 2010–2026 weekly sample that book’s Sharpe is ~0.04. The premium is for bearing the shock when it happens, not for sitting in BRL.</a:t>
            </a:r>
            <a:endParaRPr lang="en-US" sz="1400" dirty="0"/>
          </a:p>
        </p:txBody>
      </p:sp>
      <p:sp>
        <p:nvSpPr>
          <p:cNvPr id="11" name="toth-2"/>
          <p:cNvSpPr/>
          <p:nvPr/>
        </p:nvSpPr>
        <p:spPr>
          <a:xfrm>
            <a:off x="8138160" y="2651760"/>
            <a:ext cx="3657600" cy="2971800"/>
          </a:xfrm>
          <a:prstGeom prst="roundRect">
            <a:avLst>
              <a:gd name="adj" fmla="val 3077"/>
            </a:avLst>
          </a:prstGeom>
          <a:solidFill>
            <a:srgbClr val="EEF3F8"/>
          </a:solidFill>
          <a:ln/>
        </p:spPr>
      </p:sp>
      <p:sp>
        <p:nvSpPr>
          <p:cNvPr id="12" name="toth-t-2"/>
          <p:cNvSpPr txBox="1"/>
          <p:nvPr/>
        </p:nvSpPr>
        <p:spPr>
          <a:xfrm>
            <a:off x="836676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Role of prediction markets</a:t>
            </a:r>
            <a:endParaRPr lang="en-US" sz="1600" dirty="0"/>
          </a:p>
        </p:txBody>
      </p:sp>
      <p:sp>
        <p:nvSpPr>
          <p:cNvPr id="13" name="toth-d-2"/>
          <p:cNvSpPr txBox="1"/>
          <p:nvPr/>
        </p:nvSpPr>
        <p:spPr>
          <a:xfrm>
            <a:off x="8366760" y="352044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Brent is the realization. Polymarket/Kalshi contracts on Iran, OPEC cuts, and shipping disruption are the probability of a ToT shock before the print. ΔP should lead both oil and the exporter FX.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Dollar-controlled oil betas line up with the lecture</a:t>
            </a:r>
            <a:endParaRPr lang="en-US" sz="2600" dirty="0"/>
          </a:p>
        </p:txBody>
      </p:sp>
      <p:sp>
        <p:nvSpPr>
          <p:cNvPr id="3" name="oilb-title"/>
          <p:cNvSpPr txBox="1"/>
          <p:nvPr/>
        </p:nvSpPr>
        <p:spPr>
          <a:xfrm>
            <a:off x="365760" y="96012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Weekly dFX = a + b dBrent + c dDollar   ·  2010-2019</a:t>
            </a:r>
            <a:endParaRPr lang="en-US" sz="1200" dirty="0"/>
          </a:p>
        </p:txBody>
      </p:sp>
      <p:sp>
        <p:nvSpPr>
          <p:cNvPr id="4" name="oilb-zero"/>
          <p:cNvSpPr/>
          <p:nvPr/>
        </p:nvSpPr>
        <p:spPr>
          <a:xfrm>
            <a:off x="5001768" y="1344168"/>
            <a:ext cx="10973" cy="4709160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5" name="oilb-lab-0"/>
          <p:cNvSpPr txBox="1"/>
          <p:nvPr/>
        </p:nvSpPr>
        <p:spPr>
          <a:xfrm>
            <a:off x="365760" y="1307592"/>
            <a:ext cx="685800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MXN</a:t>
            </a:r>
            <a:endParaRPr lang="en-US" sz="1200" dirty="0"/>
          </a:p>
        </p:txBody>
      </p:sp>
      <p:sp>
        <p:nvSpPr>
          <p:cNvPr id="6" name="oilb-bar-0"/>
          <p:cNvSpPr/>
          <p:nvPr/>
        </p:nvSpPr>
        <p:spPr>
          <a:xfrm>
            <a:off x="5001768" y="1425387"/>
            <a:ext cx="1243381" cy="203464"/>
          </a:xfrm>
          <a:prstGeom prst="roundRect">
            <a:avLst>
              <a:gd name="adj" fmla="val 17977"/>
            </a:avLst>
          </a:prstGeom>
          <a:solidFill>
            <a:srgbClr val="1D6A6A"/>
          </a:solidFill>
          <a:ln/>
        </p:spPr>
      </p:sp>
      <p:sp>
        <p:nvSpPr>
          <p:cNvPr id="7" name="oilb-val-0"/>
          <p:cNvSpPr txBox="1"/>
          <p:nvPr/>
        </p:nvSpPr>
        <p:spPr>
          <a:xfrm>
            <a:off x="6300013" y="1307592"/>
            <a:ext cx="658368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0.029</a:t>
            </a:r>
            <a:endParaRPr lang="en-US" sz="1200" dirty="0"/>
          </a:p>
        </p:txBody>
      </p:sp>
      <p:sp>
        <p:nvSpPr>
          <p:cNvPr id="8" name="oilb-lab-1"/>
          <p:cNvSpPr txBox="1"/>
          <p:nvPr/>
        </p:nvSpPr>
        <p:spPr>
          <a:xfrm>
            <a:off x="365760" y="1843024"/>
            <a:ext cx="685800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KRW</a:t>
            </a:r>
            <a:endParaRPr lang="en-US" sz="1200" dirty="0"/>
          </a:p>
        </p:txBody>
      </p:sp>
      <p:sp>
        <p:nvSpPr>
          <p:cNvPr id="9" name="oilb-bar-1"/>
          <p:cNvSpPr/>
          <p:nvPr/>
        </p:nvSpPr>
        <p:spPr>
          <a:xfrm>
            <a:off x="5001768" y="1960819"/>
            <a:ext cx="300126" cy="203464"/>
          </a:xfrm>
          <a:prstGeom prst="roundRect">
            <a:avLst>
              <a:gd name="adj" fmla="val 17977"/>
            </a:avLst>
          </a:prstGeom>
          <a:solidFill>
            <a:srgbClr val="1D6A6A"/>
          </a:solidFill>
          <a:ln/>
        </p:spPr>
      </p:sp>
      <p:sp>
        <p:nvSpPr>
          <p:cNvPr id="10" name="oilb-val-1"/>
          <p:cNvSpPr txBox="1"/>
          <p:nvPr/>
        </p:nvSpPr>
        <p:spPr>
          <a:xfrm>
            <a:off x="5356758" y="1843024"/>
            <a:ext cx="658368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0.007</a:t>
            </a:r>
            <a:endParaRPr lang="en-US" sz="1200" dirty="0"/>
          </a:p>
        </p:txBody>
      </p:sp>
      <p:sp>
        <p:nvSpPr>
          <p:cNvPr id="11" name="oilb-lab-2"/>
          <p:cNvSpPr txBox="1"/>
          <p:nvPr/>
        </p:nvSpPr>
        <p:spPr>
          <a:xfrm>
            <a:off x="365760" y="2378456"/>
            <a:ext cx="685800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BRL</a:t>
            </a:r>
            <a:endParaRPr lang="en-US" sz="1200" dirty="0"/>
          </a:p>
        </p:txBody>
      </p:sp>
      <p:sp>
        <p:nvSpPr>
          <p:cNvPr id="12" name="oilb-bar-2"/>
          <p:cNvSpPr/>
          <p:nvPr/>
        </p:nvSpPr>
        <p:spPr>
          <a:xfrm>
            <a:off x="5001768" y="2496251"/>
            <a:ext cx="214376" cy="203464"/>
          </a:xfrm>
          <a:prstGeom prst="roundRect">
            <a:avLst>
              <a:gd name="adj" fmla="val 17977"/>
            </a:avLst>
          </a:prstGeom>
          <a:solidFill>
            <a:srgbClr val="1D6A6A"/>
          </a:solidFill>
          <a:ln/>
        </p:spPr>
      </p:sp>
      <p:sp>
        <p:nvSpPr>
          <p:cNvPr id="13" name="oilb-val-2"/>
          <p:cNvSpPr txBox="1"/>
          <p:nvPr/>
        </p:nvSpPr>
        <p:spPr>
          <a:xfrm>
            <a:off x="5271008" y="2378456"/>
            <a:ext cx="658368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0.005</a:t>
            </a:r>
            <a:endParaRPr lang="en-US" sz="1200" dirty="0"/>
          </a:p>
        </p:txBody>
      </p:sp>
      <p:sp>
        <p:nvSpPr>
          <p:cNvPr id="14" name="oilb-lab-3"/>
          <p:cNvSpPr txBox="1"/>
          <p:nvPr/>
        </p:nvSpPr>
        <p:spPr>
          <a:xfrm>
            <a:off x="365760" y="2913888"/>
            <a:ext cx="685800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THB</a:t>
            </a:r>
            <a:endParaRPr lang="en-US" sz="1200" dirty="0"/>
          </a:p>
        </p:txBody>
      </p:sp>
      <p:sp>
        <p:nvSpPr>
          <p:cNvPr id="15" name="oilb-bar-3"/>
          <p:cNvSpPr/>
          <p:nvPr/>
        </p:nvSpPr>
        <p:spPr>
          <a:xfrm>
            <a:off x="5001768" y="3031683"/>
            <a:ext cx="85750" cy="203464"/>
          </a:xfrm>
          <a:prstGeom prst="roundRect">
            <a:avLst>
              <a:gd name="adj" fmla="val 42654"/>
            </a:avLst>
          </a:prstGeom>
          <a:solidFill>
            <a:srgbClr val="1D6A6A"/>
          </a:solidFill>
          <a:ln/>
        </p:spPr>
      </p:sp>
      <p:sp>
        <p:nvSpPr>
          <p:cNvPr id="16" name="oilb-val-3"/>
          <p:cNvSpPr txBox="1"/>
          <p:nvPr/>
        </p:nvSpPr>
        <p:spPr>
          <a:xfrm>
            <a:off x="5142382" y="2913888"/>
            <a:ext cx="658368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0.002</a:t>
            </a:r>
            <a:endParaRPr lang="en-US" sz="1200" dirty="0"/>
          </a:p>
        </p:txBody>
      </p:sp>
      <p:sp>
        <p:nvSpPr>
          <p:cNvPr id="17" name="oilb-lab-4"/>
          <p:cNvSpPr txBox="1"/>
          <p:nvPr/>
        </p:nvSpPr>
        <p:spPr>
          <a:xfrm>
            <a:off x="365760" y="3449320"/>
            <a:ext cx="685800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CNY</a:t>
            </a:r>
            <a:endParaRPr lang="en-US" sz="1200" dirty="0"/>
          </a:p>
        </p:txBody>
      </p:sp>
      <p:sp>
        <p:nvSpPr>
          <p:cNvPr id="18" name="oilb-bar-4"/>
          <p:cNvSpPr/>
          <p:nvPr/>
        </p:nvSpPr>
        <p:spPr>
          <a:xfrm>
            <a:off x="4958893" y="3567115"/>
            <a:ext cx="45720" cy="203464"/>
          </a:xfrm>
          <a:prstGeom prst="roundRect">
            <a:avLst>
              <a:gd name="adj" fmla="val 80000"/>
            </a:avLst>
          </a:prstGeom>
          <a:solidFill>
            <a:srgbClr val="B23A48"/>
          </a:solidFill>
          <a:ln/>
        </p:spPr>
      </p:sp>
      <p:sp>
        <p:nvSpPr>
          <p:cNvPr id="19" name="oilb-val-4"/>
          <p:cNvSpPr txBox="1"/>
          <p:nvPr/>
        </p:nvSpPr>
        <p:spPr>
          <a:xfrm>
            <a:off x="5056632" y="3449320"/>
            <a:ext cx="658368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−0.001</a:t>
            </a:r>
            <a:endParaRPr lang="en-US" sz="1200" dirty="0"/>
          </a:p>
        </p:txBody>
      </p:sp>
      <p:sp>
        <p:nvSpPr>
          <p:cNvPr id="20" name="oilb-lab-5"/>
          <p:cNvSpPr txBox="1"/>
          <p:nvPr/>
        </p:nvSpPr>
        <p:spPr>
          <a:xfrm>
            <a:off x="365760" y="3984752"/>
            <a:ext cx="685800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ZAR</a:t>
            </a:r>
            <a:endParaRPr lang="en-US" sz="1200" dirty="0"/>
          </a:p>
        </p:txBody>
      </p:sp>
      <p:sp>
        <p:nvSpPr>
          <p:cNvPr id="21" name="oilb-bar-5"/>
          <p:cNvSpPr/>
          <p:nvPr/>
        </p:nvSpPr>
        <p:spPr>
          <a:xfrm>
            <a:off x="4916018" y="4102547"/>
            <a:ext cx="85750" cy="203464"/>
          </a:xfrm>
          <a:prstGeom prst="roundRect">
            <a:avLst>
              <a:gd name="adj" fmla="val 42654"/>
            </a:avLst>
          </a:prstGeom>
          <a:solidFill>
            <a:srgbClr val="B23A48"/>
          </a:solidFill>
          <a:ln/>
        </p:spPr>
      </p:sp>
      <p:sp>
        <p:nvSpPr>
          <p:cNvPr id="22" name="oilb-val-5"/>
          <p:cNvSpPr txBox="1"/>
          <p:nvPr/>
        </p:nvSpPr>
        <p:spPr>
          <a:xfrm>
            <a:off x="5056632" y="3984752"/>
            <a:ext cx="658368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−0.002</a:t>
            </a:r>
            <a:endParaRPr lang="en-US" sz="1200" dirty="0"/>
          </a:p>
        </p:txBody>
      </p:sp>
      <p:sp>
        <p:nvSpPr>
          <p:cNvPr id="23" name="oilb-lab-6"/>
          <p:cNvSpPr txBox="1"/>
          <p:nvPr/>
        </p:nvSpPr>
        <p:spPr>
          <a:xfrm>
            <a:off x="365760" y="4520184"/>
            <a:ext cx="685800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INR</a:t>
            </a:r>
            <a:endParaRPr lang="en-US" sz="1200" dirty="0"/>
          </a:p>
        </p:txBody>
      </p:sp>
      <p:sp>
        <p:nvSpPr>
          <p:cNvPr id="24" name="oilb-bar-6"/>
          <p:cNvSpPr/>
          <p:nvPr/>
        </p:nvSpPr>
        <p:spPr>
          <a:xfrm>
            <a:off x="4444390" y="4637979"/>
            <a:ext cx="557378" cy="203464"/>
          </a:xfrm>
          <a:prstGeom prst="roundRect">
            <a:avLst>
              <a:gd name="adj" fmla="val 17977"/>
            </a:avLst>
          </a:prstGeom>
          <a:solidFill>
            <a:srgbClr val="B23A48"/>
          </a:solidFill>
          <a:ln/>
        </p:spPr>
      </p:sp>
      <p:sp>
        <p:nvSpPr>
          <p:cNvPr id="25" name="oilb-val-6"/>
          <p:cNvSpPr txBox="1"/>
          <p:nvPr/>
        </p:nvSpPr>
        <p:spPr>
          <a:xfrm>
            <a:off x="5056632" y="4520184"/>
            <a:ext cx="658368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−0.013</a:t>
            </a:r>
            <a:endParaRPr lang="en-US" sz="1200" dirty="0"/>
          </a:p>
        </p:txBody>
      </p:sp>
      <p:sp>
        <p:nvSpPr>
          <p:cNvPr id="26" name="oilb-lab-7"/>
          <p:cNvSpPr txBox="1"/>
          <p:nvPr/>
        </p:nvSpPr>
        <p:spPr>
          <a:xfrm>
            <a:off x="365760" y="5055616"/>
            <a:ext cx="685800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EUR</a:t>
            </a:r>
            <a:endParaRPr lang="en-US" sz="1200" dirty="0"/>
          </a:p>
        </p:txBody>
      </p:sp>
      <p:sp>
        <p:nvSpPr>
          <p:cNvPr id="27" name="oilb-bar-7"/>
          <p:cNvSpPr/>
          <p:nvPr/>
        </p:nvSpPr>
        <p:spPr>
          <a:xfrm>
            <a:off x="3501136" y="5173411"/>
            <a:ext cx="1500632" cy="203464"/>
          </a:xfrm>
          <a:prstGeom prst="roundRect">
            <a:avLst>
              <a:gd name="adj" fmla="val 17977"/>
            </a:avLst>
          </a:prstGeom>
          <a:solidFill>
            <a:srgbClr val="B23A48"/>
          </a:solidFill>
          <a:ln/>
        </p:spPr>
      </p:sp>
      <p:sp>
        <p:nvSpPr>
          <p:cNvPr id="28" name="oilb-val-7"/>
          <p:cNvSpPr txBox="1"/>
          <p:nvPr/>
        </p:nvSpPr>
        <p:spPr>
          <a:xfrm>
            <a:off x="5056632" y="5055616"/>
            <a:ext cx="658368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−0.035</a:t>
            </a:r>
            <a:endParaRPr lang="en-US" sz="1200" dirty="0"/>
          </a:p>
        </p:txBody>
      </p:sp>
      <p:sp>
        <p:nvSpPr>
          <p:cNvPr id="29" name="oilb-lab-8"/>
          <p:cNvSpPr txBox="1"/>
          <p:nvPr/>
        </p:nvSpPr>
        <p:spPr>
          <a:xfrm>
            <a:off x="365760" y="5591048"/>
            <a:ext cx="685800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JPY</a:t>
            </a:r>
            <a:endParaRPr lang="en-US" sz="1200" dirty="0"/>
          </a:p>
        </p:txBody>
      </p:sp>
      <p:sp>
        <p:nvSpPr>
          <p:cNvPr id="30" name="oilb-bar-8"/>
          <p:cNvSpPr/>
          <p:nvPr/>
        </p:nvSpPr>
        <p:spPr>
          <a:xfrm>
            <a:off x="1829003" y="5708843"/>
            <a:ext cx="3172765" cy="203464"/>
          </a:xfrm>
          <a:prstGeom prst="roundRect">
            <a:avLst>
              <a:gd name="adj" fmla="val 17977"/>
            </a:avLst>
          </a:prstGeom>
          <a:solidFill>
            <a:srgbClr val="B23A48"/>
          </a:solidFill>
          <a:ln/>
        </p:spPr>
      </p:sp>
      <p:sp>
        <p:nvSpPr>
          <p:cNvPr id="31" name="oilb-val-8"/>
          <p:cNvSpPr txBox="1"/>
          <p:nvPr/>
        </p:nvSpPr>
        <p:spPr>
          <a:xfrm>
            <a:off x="5056632" y="5591048"/>
            <a:ext cx="658368" cy="4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−0.074</a:t>
            </a:r>
            <a:endParaRPr lang="en-US" sz="1200" dirty="0"/>
          </a:p>
        </p:txBody>
      </p:sp>
      <p:sp>
        <p:nvSpPr>
          <p:cNvPr id="32" name="beta-note"/>
          <p:cNvSpPr/>
          <p:nvPr/>
        </p:nvSpPr>
        <p:spPr>
          <a:xfrm>
            <a:off x="7772400" y="1051560"/>
            <a:ext cx="3931920" cy="5029200"/>
          </a:xfrm>
          <a:prstGeom prst="roundRect">
            <a:avLst>
              <a:gd name="adj" fmla="val 2326"/>
            </a:avLst>
          </a:prstGeom>
          <a:solidFill>
            <a:srgbClr val="EEF3F8"/>
          </a:solidFill>
          <a:ln/>
        </p:spPr>
      </p:sp>
      <p:sp>
        <p:nvSpPr>
          <p:cNvPr id="33" name="beta-src"/>
          <p:cNvSpPr txBox="1"/>
          <p:nvPr/>
        </p:nvSpPr>
        <p:spPr>
          <a:xfrm>
            <a:off x="8001000" y="12801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FRED H.10 and Brent, weekly, 2010–2019. Same specification as the Topic 3 oil-shock slide: strip out the broad dollar so we are not just trading DTWEXBGS.</a:t>
            </a:r>
            <a:endParaRPr lang="en-US" sz="1300" dirty="0"/>
          </a:p>
        </p:txBody>
      </p:sp>
      <p:sp>
        <p:nvSpPr>
          <p:cNvPr id="34" name="beta-insight"/>
          <p:cNvSpPr txBox="1"/>
          <p:nvPr/>
        </p:nvSpPr>
        <p:spPr>
          <a:xfrm>
            <a:off x="8001000" y="278892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MXN and BRL load positively. JPY, EUR, and INR load negatively. ZAR is a commodity currency that still loads on the dollar more than on oil — which is why we estimate betas rather than using a textbook exporter list.</a:t>
            </a:r>
            <a:endParaRPr lang="en-US" sz="1400" dirty="0"/>
          </a:p>
        </p:txBody>
      </p:sp>
      <p:sp>
        <p:nvSpPr>
          <p:cNvPr id="35" name="beta-oos"/>
          <p:cNvSpPr txBox="1"/>
          <p:nvPr/>
        </p:nvSpPr>
        <p:spPr>
          <a:xfrm>
            <a:off x="8001000" y="4754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6A6A"/>
                </a:solidFill>
              </a:rPr>
              <a:t>Betas are estimated in sample and frozen for the 2020–2026 out-of-sample book.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EM book, and a first out-of-sample look</a:t>
            </a:r>
            <a:endParaRPr lang="en-US" sz="2600" dirty="0"/>
          </a:p>
        </p:txBody>
      </p:sp>
      <p:sp>
        <p:nvSpPr>
          <p:cNvPr id="3" name="em-rule"/>
          <p:cNvSpPr/>
          <p:nvPr/>
        </p:nvSpPr>
        <p:spPr>
          <a:xfrm>
            <a:off x="457200" y="987552"/>
            <a:ext cx="5577840" cy="5074920"/>
          </a:xfrm>
          <a:prstGeom prst="roundRect">
            <a:avLst>
              <a:gd name="adj" fmla="val 1802"/>
            </a:avLst>
          </a:prstGeom>
          <a:solidFill>
            <a:srgbClr val="EEF3F8"/>
          </a:solidFill>
          <a:ln/>
        </p:spPr>
      </p:sp>
      <p:sp>
        <p:nvSpPr>
          <p:cNvPr id="4" name="em-rule-h"/>
          <p:cNvSpPr txBox="1"/>
          <p:nvPr/>
        </p:nvSpPr>
        <p:spPr>
          <a:xfrm>
            <a:off x="685800" y="11704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Trading rule</a:t>
            </a:r>
            <a:endParaRPr lang="en-US" sz="1600" dirty="0"/>
          </a:p>
        </p:txBody>
      </p:sp>
      <p:sp>
        <p:nvSpPr>
          <p:cNvPr id="5" name="em-rule-b"/>
          <p:cNvSpPr txBox="1"/>
          <p:nvPr/>
        </p:nvSpPr>
        <p:spPr>
          <a:xfrm>
            <a:off x="685800" y="1600200"/>
            <a:ext cx="51206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Each Friday, re-estimate 3-year rolling oil betas, dollar-controlled.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Long the two highest-beta EM names, short the two lowest, equal dollar, NDF where needed.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Hold the LS only if last week’s Brent return is positive or 5-day ΔP(supply disruption) &gt; +5 pp. Flip the sign if oil is down and ΔP is not rising.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Vol-target 12%. No pair &gt; 35% of gross. Skip a name if 1-month realized vol is above its 95th percentile (convertibility / crash filter).</a:t>
            </a:r>
            <a:endParaRPr lang="en-US" sz="1500" dirty="0"/>
          </a:p>
        </p:txBody>
      </p:sp>
      <p:sp>
        <p:nvSpPr>
          <p:cNvPr id="6" name="em-res"/>
          <p:cNvSpPr/>
          <p:nvPr/>
        </p:nvSpPr>
        <p:spPr>
          <a:xfrm>
            <a:off x="6263640" y="987552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0B1F3A"/>
          </a:solidFill>
          <a:ln/>
        </p:spPr>
      </p:sp>
      <p:sp>
        <p:nvSpPr>
          <p:cNvPr id="7" name="em-res-k"/>
          <p:cNvSpPr txBox="1"/>
          <p:nvPr/>
        </p:nvSpPr>
        <p:spPr>
          <a:xfrm>
            <a:off x="6492240" y="1170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35A"/>
                </a:solidFill>
              </a:rPr>
              <a:t>Preliminary  ·  oil-timed LS only</a:t>
            </a:r>
            <a:endParaRPr lang="en-US" sz="1200" dirty="0"/>
          </a:p>
        </p:txBody>
      </p:sp>
      <p:sp>
        <p:nvSpPr>
          <p:cNvPr id="8" name="em-res-note"/>
          <p:cNvSpPr txBox="1"/>
          <p:nvPr/>
        </p:nvSpPr>
        <p:spPr>
          <a:xfrm>
            <a:off x="6492240" y="14813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8"/>
                </a:solidFill>
              </a:rPr>
              <a:t>This uses Brent timing, not yet the prediction-market overlay. It is the mechanism check.</a:t>
            </a:r>
            <a:endParaRPr lang="en-US" sz="1300" dirty="0"/>
          </a:p>
        </p:txBody>
      </p:sp>
      <p:sp>
        <p:nvSpPr>
          <p:cNvPr id="9" name="emv-0"/>
          <p:cNvSpPr txBox="1"/>
          <p:nvPr/>
        </p:nvSpPr>
        <p:spPr>
          <a:xfrm>
            <a:off x="653796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0.28</a:t>
            </a:r>
            <a:endParaRPr lang="en-US" sz="2600" dirty="0"/>
          </a:p>
        </p:txBody>
      </p:sp>
      <p:sp>
        <p:nvSpPr>
          <p:cNvPr id="10" name="eml-0"/>
          <p:cNvSpPr txBox="1"/>
          <p:nvPr/>
        </p:nvSpPr>
        <p:spPr>
          <a:xfrm>
            <a:off x="653796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8"/>
                </a:solidFill>
              </a:rPr>
              <a:t>Sharpe, 2010–2026, oil-timed</a:t>
            </a:r>
            <a:endParaRPr lang="en-US" sz="1300" dirty="0"/>
          </a:p>
        </p:txBody>
      </p:sp>
      <p:sp>
        <p:nvSpPr>
          <p:cNvPr id="11" name="emv-1"/>
          <p:cNvSpPr txBox="1"/>
          <p:nvPr/>
        </p:nvSpPr>
        <p:spPr>
          <a:xfrm>
            <a:off x="900684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0.17</a:t>
            </a:r>
            <a:endParaRPr lang="en-US" sz="2600" dirty="0"/>
          </a:p>
        </p:txBody>
      </p:sp>
      <p:sp>
        <p:nvSpPr>
          <p:cNvPr id="12" name="eml-1"/>
          <p:cNvSpPr txBox="1"/>
          <p:nvPr/>
        </p:nvSpPr>
        <p:spPr>
          <a:xfrm>
            <a:off x="900684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8"/>
                </a:solidFill>
              </a:rPr>
              <a:t>Sharpe, 2020–2026 out of sample</a:t>
            </a:r>
            <a:endParaRPr lang="en-US" sz="1300" dirty="0"/>
          </a:p>
        </p:txBody>
      </p:sp>
      <p:sp>
        <p:nvSpPr>
          <p:cNvPr id="13" name="emv-2"/>
          <p:cNvSpPr txBox="1"/>
          <p:nvPr/>
        </p:nvSpPr>
        <p:spPr>
          <a:xfrm>
            <a:off x="653796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−13%</a:t>
            </a:r>
            <a:endParaRPr lang="en-US" sz="2600" dirty="0"/>
          </a:p>
        </p:txBody>
      </p:sp>
      <p:sp>
        <p:nvSpPr>
          <p:cNvPr id="14" name="eml-2"/>
          <p:cNvSpPr txBox="1"/>
          <p:nvPr/>
        </p:nvSpPr>
        <p:spPr>
          <a:xfrm>
            <a:off x="6537960" y="4572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8"/>
                </a:solidFill>
              </a:rPr>
              <a:t>Max drawdown, OOS</a:t>
            </a:r>
            <a:endParaRPr lang="en-US" sz="1300" dirty="0"/>
          </a:p>
        </p:txBody>
      </p:sp>
      <p:sp>
        <p:nvSpPr>
          <p:cNvPr id="15" name="emv-3"/>
          <p:cNvSpPr txBox="1"/>
          <p:nvPr/>
        </p:nvSpPr>
        <p:spPr>
          <a:xfrm>
            <a:off x="900684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~0.04</a:t>
            </a:r>
            <a:endParaRPr lang="en-US" sz="2600" dirty="0"/>
          </a:p>
        </p:txBody>
      </p:sp>
      <p:sp>
        <p:nvSpPr>
          <p:cNvPr id="16" name="eml-3"/>
          <p:cNvSpPr txBox="1"/>
          <p:nvPr/>
        </p:nvSpPr>
        <p:spPr>
          <a:xfrm>
            <a:off x="9006840" y="4572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8"/>
                </a:solidFill>
              </a:rPr>
              <a:t>Sharpe if we never time — rejected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When Terms of Trade loses money</a:t>
            </a:r>
            <a:endParaRPr lang="en-US" sz="2600" dirty="0"/>
          </a:p>
        </p:txBody>
      </p:sp>
      <p:sp>
        <p:nvSpPr>
          <p:cNvPr id="3" name="l2-0"/>
          <p:cNvSpPr/>
          <p:nvPr/>
        </p:nvSpPr>
        <p:spPr>
          <a:xfrm>
            <a:off x="457200" y="100584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4" name="l2t-0"/>
          <p:cNvSpPr txBox="1"/>
          <p:nvPr/>
        </p:nvSpPr>
        <p:spPr>
          <a:xfrm>
            <a:off x="731520" y="1234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</a:rPr>
              <a:t>Oil crash, not a ToT boom</a:t>
            </a:r>
            <a:endParaRPr lang="en-US" sz="1600" dirty="0"/>
          </a:p>
        </p:txBody>
      </p:sp>
      <p:sp>
        <p:nvSpPr>
          <p:cNvPr id="5" name="l2d-0"/>
          <p:cNvSpPr txBox="1"/>
          <p:nvPr/>
        </p:nvSpPr>
        <p:spPr>
          <a:xfrm>
            <a:off x="731520" y="17830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March–April 2020: Brent −35% then −23% in consecutive weeks. BRL and ZAR both sold off with global risk. A long-exporter book is a high-beta book on those weeks. Timing helps; it does not eliminate the left tail.</a:t>
            </a:r>
            <a:endParaRPr lang="en-US" sz="1400" dirty="0"/>
          </a:p>
        </p:txBody>
      </p:sp>
      <p:sp>
        <p:nvSpPr>
          <p:cNvPr id="6" name="l2-1"/>
          <p:cNvSpPr/>
          <p:nvPr/>
        </p:nvSpPr>
        <p:spPr>
          <a:xfrm>
            <a:off x="6172200" y="100584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7" name="l2t-1"/>
          <p:cNvSpPr txBox="1"/>
          <p:nvPr/>
        </p:nvSpPr>
        <p:spPr>
          <a:xfrm>
            <a:off x="6446520" y="1234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</a:rPr>
              <a:t>Country risk dominates oil</a:t>
            </a:r>
            <a:endParaRPr lang="en-US" sz="1600" dirty="0"/>
          </a:p>
        </p:txBody>
      </p:sp>
      <p:sp>
        <p:nvSpPr>
          <p:cNvPr id="8" name="l2d-1"/>
          <p:cNvSpPr txBox="1"/>
          <p:nvPr/>
        </p:nvSpPr>
        <p:spPr>
          <a:xfrm>
            <a:off x="6446520" y="17830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 Brazil fiscal scare or a South Africa load-shedding / politics week can move BRL/ZAR more than Brent. We report a country-dummy regression and cap any one name at 35%.</a:t>
            </a:r>
            <a:endParaRPr lang="en-US" sz="1400" dirty="0"/>
          </a:p>
        </p:txBody>
      </p:sp>
      <p:sp>
        <p:nvSpPr>
          <p:cNvPr id="9" name="l2-2"/>
          <p:cNvSpPr/>
          <p:nvPr/>
        </p:nvSpPr>
        <p:spPr>
          <a:xfrm>
            <a:off x="457200" y="361188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10" name="l2t-2"/>
          <p:cNvSpPr txBox="1"/>
          <p:nvPr/>
        </p:nvSpPr>
        <p:spPr>
          <a:xfrm>
            <a:off x="73152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</a:rPr>
              <a:t>NDF liquidity and convertibility</a:t>
            </a:r>
            <a:endParaRPr lang="en-US" sz="1600" dirty="0"/>
          </a:p>
        </p:txBody>
      </p:sp>
      <p:sp>
        <p:nvSpPr>
          <p:cNvPr id="11" name="l2d-2"/>
          <p:cNvSpPr txBox="1"/>
          <p:nvPr/>
        </p:nvSpPr>
        <p:spPr>
          <a:xfrm>
            <a:off x="731520" y="4389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INR, THB, CNY, CLP trade as NDFs (Topic 1). Spreads gap when the dollar squeezes. We haircut returns 10–20 bp round-trip and show a version that drops any pair whose 1-month vol has doubled.</a:t>
            </a:r>
            <a:endParaRPr lang="en-US" sz="1400" dirty="0"/>
          </a:p>
        </p:txBody>
      </p:sp>
      <p:sp>
        <p:nvSpPr>
          <p:cNvPr id="12" name="l2-3"/>
          <p:cNvSpPr/>
          <p:nvPr/>
        </p:nvSpPr>
        <p:spPr>
          <a:xfrm>
            <a:off x="6172200" y="361188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13" name="l2t-3"/>
          <p:cNvSpPr txBox="1"/>
          <p:nvPr/>
        </p:nvSpPr>
        <p:spPr>
          <a:xfrm>
            <a:off x="644652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</a:rPr>
              <a:t>Dollar wave</a:t>
            </a:r>
            <a:endParaRPr lang="en-US" sz="1600" dirty="0"/>
          </a:p>
        </p:txBody>
      </p:sp>
      <p:sp>
        <p:nvSpPr>
          <p:cNvPr id="14" name="l2d-3"/>
          <p:cNvSpPr txBox="1"/>
          <p:nvPr/>
        </p:nvSpPr>
        <p:spPr>
          <a:xfrm>
            <a:off x="6446520" y="4389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If the LS is secretly a short-dollar trade, we have not isolated ToT. Every result is reported dollar-neutral and after hedging DTWEXBGS. Residual dollar beta must be near zero.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Same theme, different crashes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5212080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663440"/>
              </a:tblGrid>
              <a:tr h="744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Path  ·  OECD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 of Trade  ·  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Inelastic dollar demand + order flow around policy-path information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 shock into segmented NDF 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Kalshi / Polymarket Fed, recession, election; disagreement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Geopolitical and OPEC contracts + Brent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G10 forwards, US/DE/JP 10-year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NDFs (BRL, INR, THB, CNY, CLP)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Weekly, 10% vol 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Weekly, 12% vol 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off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VIX, high PM disagreement, fiscal-sign flip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crash, country-risk spike, NDF vol doubling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ΔP only predicts inside the FOMC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is just a dollar trade, or always-on equals timed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we will report, including the tests that can kill it</a:t>
            </a:r>
            <a:endParaRPr lang="en-US" sz="2600" dirty="0"/>
          </a:p>
        </p:txBody>
      </p:sp>
      <p:sp>
        <p:nvSpPr>
          <p:cNvPr id="3" name="ev-0"/>
          <p:cNvSpPr/>
          <p:nvPr/>
        </p:nvSpPr>
        <p:spPr>
          <a:xfrm>
            <a:off x="457200" y="100584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4" name="evt-0"/>
          <p:cNvSpPr txBox="1"/>
          <p:nvPr/>
        </p:nvSpPr>
        <p:spPr>
          <a:xfrm>
            <a:off x="685800" y="1261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5" name="evd-0"/>
          <p:cNvSpPr txBox="1"/>
          <p:nvPr/>
        </p:nvSpPr>
        <p:spPr>
          <a:xfrm>
            <a:off x="685800" y="1783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Cumulative excess return, mean, vol, Sharpe, max DD, turnover, hit rate — gross and after G10 2 bp / EM 15 bp round-trip.</a:t>
            </a:r>
            <a:endParaRPr lang="en-US" sz="1400" dirty="0"/>
          </a:p>
        </p:txBody>
      </p:sp>
      <p:sp>
        <p:nvSpPr>
          <p:cNvPr id="6" name="ev-1"/>
          <p:cNvSpPr/>
          <p:nvPr/>
        </p:nvSpPr>
        <p:spPr>
          <a:xfrm>
            <a:off x="4297680" y="100584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7" name="evt-1"/>
          <p:cNvSpPr txBox="1"/>
          <p:nvPr/>
        </p:nvSpPr>
        <p:spPr>
          <a:xfrm>
            <a:off x="4526280" y="1261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Out of sample</a:t>
            </a:r>
            <a:endParaRPr lang="en-US" sz="1600" dirty="0"/>
          </a:p>
        </p:txBody>
      </p:sp>
      <p:sp>
        <p:nvSpPr>
          <p:cNvPr id="8" name="evd-1"/>
          <p:cNvSpPr txBox="1"/>
          <p:nvPr/>
        </p:nvSpPr>
        <p:spPr>
          <a:xfrm>
            <a:off x="4526280" y="1783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Signals and betas frozen through 2019; 2020–2026 is walk-forward. A second split: train to 2016, test 2017–19, then 2020–26.</a:t>
            </a:r>
            <a:endParaRPr lang="en-US" sz="1400" dirty="0"/>
          </a:p>
        </p:txBody>
      </p:sp>
      <p:sp>
        <p:nvSpPr>
          <p:cNvPr id="9" name="ev-2"/>
          <p:cNvSpPr/>
          <p:nvPr/>
        </p:nvSpPr>
        <p:spPr>
          <a:xfrm>
            <a:off x="8138160" y="100584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10" name="evt-2"/>
          <p:cNvSpPr txBox="1"/>
          <p:nvPr/>
        </p:nvSpPr>
        <p:spPr>
          <a:xfrm>
            <a:off x="8366760" y="1261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Placebo</a:t>
            </a:r>
            <a:endParaRPr lang="en-US" sz="1600" dirty="0"/>
          </a:p>
        </p:txBody>
      </p:sp>
      <p:sp>
        <p:nvSpPr>
          <p:cNvPr id="11" name="evd-2"/>
          <p:cNvSpPr txBox="1"/>
          <p:nvPr/>
        </p:nvSpPr>
        <p:spPr>
          <a:xfrm>
            <a:off x="8366760" y="1783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Shuffle PM ΔP dates; the Sharpe must collapse. Always-on carry and always-on exporter LS are the published nulls.</a:t>
            </a:r>
            <a:endParaRPr lang="en-US" sz="1400" dirty="0"/>
          </a:p>
        </p:txBody>
      </p:sp>
      <p:sp>
        <p:nvSpPr>
          <p:cNvPr id="12" name="ev-3"/>
          <p:cNvSpPr/>
          <p:nvPr/>
        </p:nvSpPr>
        <p:spPr>
          <a:xfrm>
            <a:off x="457200" y="361188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13" name="evt-3"/>
          <p:cNvSpPr txBox="1"/>
          <p:nvPr/>
        </p:nvSpPr>
        <p:spPr>
          <a:xfrm>
            <a:off x="685800" y="3867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Lead/lag</a:t>
            </a:r>
            <a:endParaRPr lang="en-US" sz="1600" dirty="0"/>
          </a:p>
        </p:txBody>
      </p:sp>
      <p:sp>
        <p:nvSpPr>
          <p:cNvPr id="14" name="evd-3"/>
          <p:cNvSpPr txBox="1"/>
          <p:nvPr/>
        </p:nvSpPr>
        <p:spPr>
          <a:xfrm>
            <a:off x="68580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PM ΔP must lead 2-year yields (S1) and Brent (S2) at least some of the time. If it only lags, we are not using alternative data.</a:t>
            </a:r>
            <a:endParaRPr lang="en-US" sz="1400" dirty="0"/>
          </a:p>
        </p:txBody>
      </p:sp>
      <p:sp>
        <p:nvSpPr>
          <p:cNvPr id="15" name="ev-4"/>
          <p:cNvSpPr/>
          <p:nvPr/>
        </p:nvSpPr>
        <p:spPr>
          <a:xfrm>
            <a:off x="4297680" y="361188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16" name="evt-4"/>
          <p:cNvSpPr txBox="1"/>
          <p:nvPr/>
        </p:nvSpPr>
        <p:spPr>
          <a:xfrm>
            <a:off x="4526280" y="3867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Risk overlays</a:t>
            </a:r>
            <a:endParaRPr lang="en-US" sz="1600" dirty="0"/>
          </a:p>
        </p:txBody>
      </p:sp>
      <p:sp>
        <p:nvSpPr>
          <p:cNvPr id="17" name="evd-4"/>
          <p:cNvSpPr txBox="1"/>
          <p:nvPr/>
        </p:nvSpPr>
        <p:spPr>
          <a:xfrm>
            <a:off x="452628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Carry-crash dummy, oil-shock dummy, global dollar dummy, country dummies. Report beta, not a story.</a:t>
            </a:r>
            <a:endParaRPr lang="en-US" sz="1400" dirty="0"/>
          </a:p>
        </p:txBody>
      </p:sp>
      <p:sp>
        <p:nvSpPr>
          <p:cNvPr id="18" name="ev-5"/>
          <p:cNvSpPr/>
          <p:nvPr/>
        </p:nvSpPr>
        <p:spPr>
          <a:xfrm>
            <a:off x="8138160" y="3611880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EF3F8"/>
          </a:solidFill>
          <a:ln/>
        </p:spPr>
      </p:sp>
      <p:sp>
        <p:nvSpPr>
          <p:cNvPr id="19" name="evt-5"/>
          <p:cNvSpPr txBox="1"/>
          <p:nvPr/>
        </p:nvSpPr>
        <p:spPr>
          <a:xfrm>
            <a:off x="8366760" y="3867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Concentration</a:t>
            </a:r>
            <a:endParaRPr lang="en-US" sz="1600" dirty="0"/>
          </a:p>
        </p:txBody>
      </p:sp>
      <p:sp>
        <p:nvSpPr>
          <p:cNvPr id="20" name="evd-5"/>
          <p:cNvSpPr txBox="1"/>
          <p:nvPr/>
        </p:nvSpPr>
        <p:spPr>
          <a:xfrm>
            <a:off x="836676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Share of P&amp;L from top pair, top month, and top contract. A strategy that is one week in 2026 is not a strategy.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Data, costs, and the other deliverables</a:t>
            </a:r>
            <a:endParaRPr lang="en-US" sz="2600" dirty="0"/>
          </a:p>
        </p:txBody>
      </p:sp>
      <p:sp>
        <p:nvSpPr>
          <p:cNvPr id="3" name="data-0"/>
          <p:cNvSpPr/>
          <p:nvPr/>
        </p:nvSpPr>
        <p:spPr>
          <a:xfrm>
            <a:off x="457200" y="100584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/>
        </p:spPr>
      </p:sp>
      <p:sp>
        <p:nvSpPr>
          <p:cNvPr id="4" name="datat-0"/>
          <p:cNvSpPr txBox="1"/>
          <p:nvPr/>
        </p:nvSpPr>
        <p:spPr>
          <a:xfrm>
            <a:off x="731520" y="1234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Prices</a:t>
            </a:r>
            <a:endParaRPr lang="en-US" sz="1800" dirty="0"/>
          </a:p>
        </p:txBody>
      </p:sp>
      <p:sp>
        <p:nvSpPr>
          <p:cNvPr id="5" name="datad-0"/>
          <p:cNvSpPr txBox="1"/>
          <p:nvPr/>
        </p:nvSpPr>
        <p:spPr>
          <a:xfrm>
            <a:off x="3291840" y="12344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FRED H.10 FX, Brent, VIX, OECD 3-month and 10-year yields. Lustig currency portfolios for the G10 carry history. Bloomberg/Refinitiv NDFs for the live EM book.</a:t>
            </a:r>
            <a:endParaRPr lang="en-US" sz="1500" dirty="0"/>
          </a:p>
        </p:txBody>
      </p:sp>
      <p:sp>
        <p:nvSpPr>
          <p:cNvPr id="6" name="data-1"/>
          <p:cNvSpPr/>
          <p:nvPr/>
        </p:nvSpPr>
        <p:spPr>
          <a:xfrm>
            <a:off x="457200" y="269748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/>
        </p:spPr>
      </p:sp>
      <p:sp>
        <p:nvSpPr>
          <p:cNvPr id="7" name="datat-1"/>
          <p:cNvSpPr txBox="1"/>
          <p:nvPr/>
        </p:nvSpPr>
        <p:spPr>
          <a:xfrm>
            <a:off x="731520" y="2926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Prediction markets</a:t>
            </a:r>
            <a:endParaRPr lang="en-US" sz="1800" dirty="0"/>
          </a:p>
        </p:txBody>
      </p:sp>
      <p:sp>
        <p:nvSpPr>
          <p:cNvPr id="8" name="datad-1"/>
          <p:cNvSpPr txBox="1"/>
          <p:nvPr/>
        </p:nvSpPr>
        <p:spPr>
          <a:xfrm>
            <a:off x="3291840" y="292608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Kalshi and Polymarket historical contracts: Fed decision, US recession, elections, Iran/OPEC/shipping. Store raw JSON. Document every AI prompt in the README.</a:t>
            </a:r>
            <a:endParaRPr lang="en-US" sz="1500" dirty="0"/>
          </a:p>
        </p:txBody>
      </p:sp>
      <p:sp>
        <p:nvSpPr>
          <p:cNvPr id="9" name="data-2"/>
          <p:cNvSpPr/>
          <p:nvPr/>
        </p:nvSpPr>
        <p:spPr>
          <a:xfrm>
            <a:off x="457200" y="438912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/>
        </p:spPr>
      </p:sp>
      <p:sp>
        <p:nvSpPr>
          <p:cNvPr id="10" name="datat-2"/>
          <p:cNvSpPr txBox="1"/>
          <p:nvPr/>
        </p:nvSpPr>
        <p:spPr>
          <a:xfrm>
            <a:off x="731520" y="4617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HTML + package</a:t>
            </a:r>
            <a:endParaRPr lang="en-US" sz="1800" dirty="0"/>
          </a:p>
        </p:txBody>
      </p:sp>
      <p:sp>
        <p:nvSpPr>
          <p:cNvPr id="11" name="datad-2"/>
          <p:cNvSpPr txBox="1"/>
          <p:nvPr/>
        </p:nvSpPr>
        <p:spPr>
          <a:xfrm>
            <a:off x="3291840" y="461772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Self-contained page: idea, signals, equity curves, crash tables, lead/lag. Replication: data or download scripts, all notebooks, costs file, and a one-page README.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 want you to remember</a:t>
            </a:r>
            <a:endParaRPr lang="en-US" sz="3600" dirty="0"/>
          </a:p>
        </p:txBody>
      </p:sp>
      <p:sp>
        <p:nvSpPr>
          <p:cNvPr id="3" name="close-body"/>
          <p:cNvSpPr txBox="1"/>
          <p:nvPr/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EE8"/>
                </a:solidFill>
              </a:rPr>
              <a:t>Carry and terms of trade are not dead. Unconditional versions of them are. We trade the shock that the course actually identified — a demand and information shock — with prediction markets as the alternative data, in two universes that fail in different weeks.</a:t>
            </a:r>
            <a:endParaRPr lang="en-US" sz="1800" dirty="0"/>
          </a:p>
        </p:txBody>
      </p:sp>
      <p:sp>
        <p:nvSpPr>
          <p:cNvPr id="4" name="close-kicker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</a:rPr>
              <a:t>Policy Path  ·  Terms of Trade  ·  MFE 230GB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rrency Markets">
  <a:themeElements>
    <a:clrScheme name="Currency Markets">
      <a:dk1>
        <a:srgbClr val="0B1F3A"/>
      </a:dk1>
      <a:lt1>
        <a:srgbClr val="FFFFFF"/>
      </a:lt1>
      <a:dk2>
        <a:srgbClr val="163152"/>
      </a:dk2>
      <a:lt2>
        <a:srgbClr val="EEF3F8"/>
      </a:lt2>
      <a:accent1>
        <a:srgbClr val="C4A35A"/>
      </a:accent1>
      <a:accent2>
        <a:srgbClr val="1D6A6A"/>
      </a:accent2>
      <a:accent3>
        <a:srgbClr val="B23A48"/>
      </a:accent3>
      <a:accent4>
        <a:srgbClr val="3D5A80"/>
      </a:accent4>
      <a:accent5>
        <a:srgbClr val="5C6B7A"/>
      </a:accent5>
      <a:accent6>
        <a:srgbClr val="8B6914"/>
      </a:accent6>
      <a:hlink>
        <a:srgbClr val="1D6A6A"/>
      </a:hlink>
      <a:folHlink>
        <a:srgbClr val="0B1F3A"/>
      </a:folHlink>
    </a:clrScheme>
    <a:fontScheme name="Currency Marke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and Testing Global Trading Strategies</dc:title>
  <dc:subject>MFE 230GB Final Project, October 8, 2026</dc:subject>
  <dc:creator>MFE 230GB</dc:creator>
  <cp:lastModifiedBy>MFE 230GB</cp:lastModifiedBy>
  <cp:revision>1</cp:revision>
  <dcterms:created xsi:type="dcterms:W3CDTF">2026-10-07T11:01:11Z</dcterms:created>
  <dcterms:modified xsi:type="dcterms:W3CDTF">2026-10-07T11:01:11Z</dcterms:modified>
</cp:coreProperties>
</file>